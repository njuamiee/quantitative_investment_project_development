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4cbff7848042a2" /><Relationship Type="http://schemas.openxmlformats.org/officeDocument/2006/relationships/extended-properties" Target="/docProps/app.xml" Id="R69f036dcaf6a4240" /><Relationship Type="http://schemas.openxmlformats.org/officeDocument/2006/relationships/officeDocument" Target="/ppt/presentation.xml" Id="R2033493eaa2c4c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d3601c7ad54e47"/>
  </p:sldMasterIdLst>
  <p:notesMasterIdLst>
    <p:notesMasterId xmlns:r="http://schemas.openxmlformats.org/officeDocument/2006/relationships" r:id="R87e7be70a0a14763"/>
  </p:notesMasterIdLst>
  <p:sldIdLst>
    <p:sldId xmlns:r="http://schemas.openxmlformats.org/officeDocument/2006/relationships" id="256" r:id="Rce6fabd81c594e3f"/>
    <p:sldId xmlns:r="http://schemas.openxmlformats.org/officeDocument/2006/relationships" id="257" r:id="Re0ee6bf9de144943"/>
    <p:sldId xmlns:r="http://schemas.openxmlformats.org/officeDocument/2006/relationships" id="258" r:id="Raab84d394f75431d"/>
    <p:sldId xmlns:r="http://schemas.openxmlformats.org/officeDocument/2006/relationships" id="259" r:id="Rfbf2655d0a7d431d"/>
    <p:sldId xmlns:r="http://schemas.openxmlformats.org/officeDocument/2006/relationships" id="260" r:id="R9faf659285f24915"/>
    <p:sldId xmlns:r="http://schemas.openxmlformats.org/officeDocument/2006/relationships" id="261" r:id="R6f208c8d24ed4a4d"/>
    <p:sldId xmlns:r="http://schemas.openxmlformats.org/officeDocument/2006/relationships" id="262" r:id="Rf65056f896434744"/>
    <p:sldId xmlns:r="http://schemas.openxmlformats.org/officeDocument/2006/relationships" id="263" r:id="Rb8c53811492f4685"/>
    <p:sldId xmlns:r="http://schemas.openxmlformats.org/officeDocument/2006/relationships" id="264" r:id="R1758e43099f74c20"/>
    <p:sldId xmlns:r="http://schemas.openxmlformats.org/officeDocument/2006/relationships" id="265" r:id="R43b3d15a17c04c45"/>
    <p:sldId xmlns:r="http://schemas.openxmlformats.org/officeDocument/2006/relationships" id="266" r:id="R5fa5bb0aadcc4246"/>
    <p:sldId xmlns:r="http://schemas.openxmlformats.org/officeDocument/2006/relationships" id="267" r:id="Rec7de3afbbeb4b49"/>
    <p:sldId xmlns:r="http://schemas.openxmlformats.org/officeDocument/2006/relationships" id="268" r:id="R3092848447794cc5"/>
    <p:sldId xmlns:r="http://schemas.openxmlformats.org/officeDocument/2006/relationships" id="269" r:id="R07d247db155848f3"/>
    <p:sldId xmlns:r="http://schemas.openxmlformats.org/officeDocument/2006/relationships" id="270" r:id="Re5c2b1202e724833"/>
    <p:sldId xmlns:r="http://schemas.openxmlformats.org/officeDocument/2006/relationships" id="271" r:id="R54189f12f6024d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25cd51f2ae4231" /><Relationship Type="http://schemas.openxmlformats.org/officeDocument/2006/relationships/slideMaster" Target="/ppt/slideMasters/slideMaster1.xml" Id="Rc8d3601c7ad54e47" /><Relationship Type="http://schemas.openxmlformats.org/officeDocument/2006/relationships/notesMaster" Target="/ppt/notesMasters/notesMaster1.xml" Id="R87e7be70a0a14763" /><Relationship Type="http://schemas.openxmlformats.org/officeDocument/2006/relationships/presProps" Target="/ppt/presProps.xml" Id="Rc0ab3f7177524c1d" /><Relationship Type="http://schemas.openxmlformats.org/officeDocument/2006/relationships/tableStyles" Target="/ppt/tableStyles.xml" Id="R4130695a2eb44311" /><Relationship Type="http://schemas.openxmlformats.org/officeDocument/2006/relationships/slide" Target="/ppt/slides/slide1.xml" Id="Rce6fabd81c594e3f" /><Relationship Type="http://schemas.openxmlformats.org/officeDocument/2006/relationships/slide" Target="/ppt/slides/slide2.xml" Id="Re0ee6bf9de144943" /><Relationship Type="http://schemas.openxmlformats.org/officeDocument/2006/relationships/slide" Target="/ppt/slides/slide3.xml" Id="Raab84d394f75431d" /><Relationship Type="http://schemas.openxmlformats.org/officeDocument/2006/relationships/slide" Target="/ppt/slides/slide4.xml" Id="Rfbf2655d0a7d431d" /><Relationship Type="http://schemas.openxmlformats.org/officeDocument/2006/relationships/slide" Target="/ppt/slides/slide5.xml" Id="R9faf659285f24915" /><Relationship Type="http://schemas.openxmlformats.org/officeDocument/2006/relationships/slide" Target="/ppt/slides/slide6.xml" Id="R6f208c8d24ed4a4d" /><Relationship Type="http://schemas.openxmlformats.org/officeDocument/2006/relationships/slide" Target="/ppt/slides/slide7.xml" Id="Rf65056f896434744" /><Relationship Type="http://schemas.openxmlformats.org/officeDocument/2006/relationships/slide" Target="/ppt/slides/slide8.xml" Id="Rb8c53811492f4685" /><Relationship Type="http://schemas.openxmlformats.org/officeDocument/2006/relationships/slide" Target="/ppt/slides/slide9.xml" Id="R1758e43099f74c20" /><Relationship Type="http://schemas.openxmlformats.org/officeDocument/2006/relationships/slide" Target="/ppt/slides/slide10.xml" Id="R43b3d15a17c04c45" /><Relationship Type="http://schemas.openxmlformats.org/officeDocument/2006/relationships/slide" Target="/ppt/slides/slide11.xml" Id="R5fa5bb0aadcc4246" /><Relationship Type="http://schemas.openxmlformats.org/officeDocument/2006/relationships/slide" Target="/ppt/slides/slide12.xml" Id="Rec7de3afbbeb4b49" /><Relationship Type="http://schemas.openxmlformats.org/officeDocument/2006/relationships/slide" Target="/ppt/slides/slide13.xml" Id="R3092848447794cc5" /><Relationship Type="http://schemas.openxmlformats.org/officeDocument/2006/relationships/slide" Target="/ppt/slides/slide14.xml" Id="R07d247db155848f3" /><Relationship Type="http://schemas.openxmlformats.org/officeDocument/2006/relationships/slide" Target="/ppt/slides/slide15.xml" Id="Re5c2b1202e724833" /><Relationship Type="http://schemas.openxmlformats.org/officeDocument/2006/relationships/slide" Target="/ppt/slides/slide16.xml" Id="R54189f12f6024d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64094855dc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37cf194e264665" /><Relationship Type="http://schemas.openxmlformats.org/officeDocument/2006/relationships/notesMaster" Target="/ppt/notesMasters/notesMaster1.xml" Id="Rf80131a2fa6b4b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6396876da24f92" /><Relationship Type="http://schemas.openxmlformats.org/officeDocument/2006/relationships/notesMaster" Target="/ppt/notesMasters/notesMaster1.xml" Id="R7faf22e146b548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2e0daf91834425" /><Relationship Type="http://schemas.openxmlformats.org/officeDocument/2006/relationships/notesMaster" Target="/ppt/notesMasters/notesMaster1.xml" Id="Rd34bd83ff4ae43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f913e8f9d94dc0" /><Relationship Type="http://schemas.openxmlformats.org/officeDocument/2006/relationships/notesMaster" Target="/ppt/notesMasters/notesMaster1.xml" Id="Rfb03d574ac8a4c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3d36fce4b84a64" /><Relationship Type="http://schemas.openxmlformats.org/officeDocument/2006/relationships/notesMaster" Target="/ppt/notesMasters/notesMaster1.xml" Id="R8361d2ecaaae45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2bb639c7c54e37" /><Relationship Type="http://schemas.openxmlformats.org/officeDocument/2006/relationships/notesMaster" Target="/ppt/notesMasters/notesMaster1.xml" Id="R7fe74430835347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1212c1240434c" /><Relationship Type="http://schemas.openxmlformats.org/officeDocument/2006/relationships/notesMaster" Target="/ppt/notesMasters/notesMaster1.xml" Id="Re6b96b8c3a254d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fc2e4dbd814597" /><Relationship Type="http://schemas.openxmlformats.org/officeDocument/2006/relationships/notesMaster" Target="/ppt/notesMasters/notesMaster1.xml" Id="Rfc0d6c95d06549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fd4146ec914296" /><Relationship Type="http://schemas.openxmlformats.org/officeDocument/2006/relationships/notesMaster" Target="/ppt/notesMasters/notesMaster1.xml" Id="Rf721b99aaac948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0499928f1e4451" /><Relationship Type="http://schemas.openxmlformats.org/officeDocument/2006/relationships/notesMaster" Target="/ppt/notesMasters/notesMaster1.xml" Id="R93ac531fd3ae4d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a5b7a222d14fdb" /><Relationship Type="http://schemas.openxmlformats.org/officeDocument/2006/relationships/notesMaster" Target="/ppt/notesMasters/notesMaster1.xml" Id="Rb992cf0f88c244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270ab935304286" /><Relationship Type="http://schemas.openxmlformats.org/officeDocument/2006/relationships/notesMaster" Target="/ppt/notesMasters/notesMaster1.xml" Id="Rf46da9e379454f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57f44c86b64406" /><Relationship Type="http://schemas.openxmlformats.org/officeDocument/2006/relationships/notesMaster" Target="/ppt/notesMasters/notesMaster1.xml" Id="Re3dd1d2e391e41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9d37df24474862" /><Relationship Type="http://schemas.openxmlformats.org/officeDocument/2006/relationships/notesMaster" Target="/ppt/notesMasters/notesMaster1.xml" Id="R01ea7882aaa64c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e13eae3b204711" /><Relationship Type="http://schemas.openxmlformats.org/officeDocument/2006/relationships/notesMaster" Target="/ppt/notesMasters/notesMaster1.xml" Id="R87558afa77d344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a7e0841bdb4e88" /><Relationship Type="http://schemas.openxmlformats.org/officeDocument/2006/relationships/notesMaster" Target="/ppt/notesMasters/notesMaster1.xml" Id="Rb2ca0bd10fdc4e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汇报范围为本方对张子晨提出的横截面选股任务进行的修正复跑，以及原北交所策略的指定测试区间表现。未取得张方逐日结果，不能宣称双方模型谁优谁劣。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证2000零成本下，31叶和15叶迁移LightGBM分别收益1.78%和5.61%，ICIR与Ridge为负。加入每边5bp后，31叶变成-0.22%，15叶迁移为3.52%。原北交所主流程同期持有现金，收益0。注意15叶仅迁移参数风格，不是原北交所完整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两个市场不能直接按收益比较高低。中证2000使用Alpha101，252日训练、6日gap、63日验证、6日gap、21日预测，共22个滚动折，并额外检查标签实际终点。原北交所流程保留历史分数与原风险选择，仅延长到10月19日。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来源：结果数据/中证2000_全部汇总.csv；结果数据/原北交所_全部汇总.csv；复盘报告第5至7节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V为214个交易日，test为100个交易日，因此图上累计收益不能当作等时长收益比较。ICIR和Ridge测试期分别亏15.36%和18.66%，两种LightGBM仍为正。V已经用于研究，不能视为完全独立的最终测试。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展示100个交易日完整路径并加入5月21日基准点。测试期结束时，15叶迁移与31叶LightGBM净值分别为1.0561和1.0178。该图展示累计路径，不是统计显著性检验。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来源：结果数据/中证2000_测试期逐日净值.csv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最大回撤按测试区间内净值高点计算。31叶LightGBM回撤21.30%，15叶迁移为10.93%。正的期末收益不意味着持有过程风险很小。不同市场的夏普无风险利率及年化方式不同，不能不加区分直接比较。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来源：结果数据/中证2000_测试期逐日净值.csv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等权收益为-13.30%。31叶与15叶迁移相对成员等权分别高15.08和18.90个百分点。这里是累计收益差额，不是相对财富比收益，也不是风险调整后的Alpha。官方全收益指数同期收盘参考为-19.60%，但与策略成交时点不同，故不作同执行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月收益由完整逐日账户切片计算，包含每月第一天相对前一日的收益。5月从22日起，10月至19日止，均非完整月份。各月复利连乘与测试累计收益一致。该表用于展示时序稳定性，不能据此事后挑月份交易。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来源：结果数据/中证2000_逐月收益.csv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冻结模型在V和test期间保持参数不变。滚动模型使用逐步成熟的历史数据进行更新。两者差异包含训练样本更新、参数更新及选定轮数等影响，不可归因于单一因素。31叶从冻结的-16.60%变成滚动的+1.78%，15叶从+1.25%变成+5.61%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0、5、15bp均为每边统一摩擦成本。31叶分别为1.78%、-0.22%、-4.11%，15叶迁移分别为5.61%、3.52%、-0.54%。这是情景分析，没有把统一费率冒充真实税费及冲击。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此实验使用原信号延迟一个交易日成交，随后仍持有五个开盘间隔。31叶从1.78%降至-5.24%，15叶迁移从5.61%降至0.84%。它揭示对成交时点的敏感性，但没有模拟真实买入排队或逐笔成交。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直接回答原实验在2026年5月22日至10月19日怎样。原主流程沿用季度风控，Q2、Q3、Q4都选现金。取消门槛的原月度分数亏24.30%，原IC20亏26.98%。它们不是中证2000模型。收盘仓位在每批末日归零，不意味着该日整天没持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来源：结果数据/原北交所_全部汇总.csv；图表/07_原北交所净值与仓位.png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修正残留持仓锁住现金问题后的执行器，固定规则没有按月份强制空仓。原月度分数配合40只分散及连续趋势、波动仓位亏7.97%，最大回撤10.23%；扩因子版本亏7.98%，最大回撤11.86%。固定25%低仓位也减少亏损，因此不能单凭回撤下降证明复杂风控或新因子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来源：结果数据/北交所风险对照_全部汇总.csv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报告：修正后两种LightGBM在该段零成本下跑赢ICIR与Ridge，收益对费用和成交时点敏感。原北交所主流程靠现金回避亏损。不能报告：已严格复现张方完整模型、已经证明稳健Alpha、已经排除过拟合。下一步需要核对双方配置和逐日账户，再冻结少数方案前瞻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来源：复盘报告第1、6、7、10节；结果数据/中证2000_全部汇总.csv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htGBM两版本都训练最多300轮，早停30轮，按各自验证标签的回归误差停止。Ridge仅在内部验证比较alpha1和100。15叶迁移使用收益秩标签，31叶使用去均值收益标签，所以它们的差异不只是树叶数。ICIR权重来自训练内历史因子IC统计，并非没有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来源：tools/audit_rebuild_20261021/csi_rebuild.py；结果数据/中证2000_全部汇总.csv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集中列出费用和延迟对照的精确数值。费用与延迟分别变化。中证2000夏普rf0、年化252交易日；北交所原流程夏普rf1.5%、收益年化沿用日历年方式。所以跨市场不直接比较夏普与卡玛绝对数值。所有表格保留失败情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来源：结果数据/中证2000_全部汇总.csv</a:t>
            </a:r>
          </a:p>
          <a:p xmlns:a="http://schemas.openxmlformats.org/drawingml/2006/main">
            <a:r>
              <a:t>本方修正复跑，数据截至2026-10-19。汇报整理日期2026-10-23。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a32e9cc2643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9560a07a34a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a47eaf95146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1c3009c6d4f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287c6effa45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c8b62381f4f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967F18-B233-4832-9930-729E9F880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A817C9-B9F7-4598-8C9A-13221FECE9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39911F-C9DB-4437-8692-FF95D3E9F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64E7F8-82CE-41C0-9FBB-E01FF96E3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24E132-E1A5-4408-AEBF-BE43CDC132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D4ADEE-1881-43BC-8728-C8A18A934B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A48655-F49B-4FCE-8F6C-6D97FA711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7BDC64-85C4-4A4D-BBAC-13CBB4BE80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86802-9057-42B4-AF27-1A2D8F1AA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AE3494-88A5-453B-B5AD-26924596C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1ce4e3982e412b" /><Relationship Type="http://schemas.openxmlformats.org/officeDocument/2006/relationships/slideLayout" Target="/ppt/slideLayouts/slideLayout1.xml" Id="R3ddc76e13b4e4429" /><Relationship Type="http://schemas.openxmlformats.org/officeDocument/2006/relationships/slideLayout" Target="/ppt/slideLayouts/slideLayout2.xml" Id="R5414e292c1214f8d" /><Relationship Type="http://schemas.openxmlformats.org/officeDocument/2006/relationships/slideLayout" Target="/ppt/slideLayouts/slideLayout3.xml" Id="R1c68739acb574f88" /><Relationship Type="http://schemas.openxmlformats.org/officeDocument/2006/relationships/slideLayout" Target="/ppt/slideLayouts/slideLayout4.xml" Id="Rb9f93e5b03634778" /><Relationship Type="http://schemas.openxmlformats.org/officeDocument/2006/relationships/slideLayout" Target="/ppt/slideLayouts/slideLayout5.xml" Id="Redc46878bc3e4d7f" /><Relationship Type="http://schemas.openxmlformats.org/officeDocument/2006/relationships/slideLayout" Target="/ppt/slideLayouts/slideLayout6.xml" Id="R7e5f3de7178c45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dc76e13b4e4429"/>
    <p:sldLayoutId xmlns:r="http://schemas.openxmlformats.org/officeDocument/2006/relationships" id="2147483650" r:id="R5414e292c1214f8d"/>
    <p:sldLayoutId xmlns:r="http://schemas.openxmlformats.org/officeDocument/2006/relationships" id="2147483651" r:id="R1c68739acb574f88"/>
    <p:sldLayoutId xmlns:r="http://schemas.openxmlformats.org/officeDocument/2006/relationships" id="2147483652" r:id="Rb9f93e5b03634778"/>
    <p:sldLayoutId xmlns:r="http://schemas.openxmlformats.org/officeDocument/2006/relationships" id="2147483653" r:id="Redc46878bc3e4d7f"/>
    <p:sldLayoutId xmlns:r="http://schemas.openxmlformats.org/officeDocument/2006/relationships" id="2147483654" r:id="R7e5f3de7178c45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dda1373b84d0b" /><Relationship Type="http://schemas.openxmlformats.org/officeDocument/2006/relationships/notesSlide" Target="/ppt/notesSlides/notesSlide1.xml" Id="R0cfe2fda383c47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b491f33994d98" /><Relationship Type="http://schemas.openxmlformats.org/officeDocument/2006/relationships/notesSlide" Target="/ppt/notesSlides/notesSlide2.xml" Id="R31dd2d54c6e742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9fdf1a6f341ad" /><Relationship Type="http://schemas.openxmlformats.org/officeDocument/2006/relationships/notesSlide" Target="/ppt/notesSlides/notesSlide3.xml" Id="R040721482b7e43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0474235c64f8b" /><Relationship Type="http://schemas.openxmlformats.org/officeDocument/2006/relationships/chart" Target="/ppt/slides/charts/chart1.xml" Id="Rb3cee7889b3e4a3f" /><Relationship Type="http://schemas.openxmlformats.org/officeDocument/2006/relationships/notesSlide" Target="/ppt/notesSlides/notesSlide4.xml" Id="R889302f21c1c49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4fb4d62394543" /><Relationship Type="http://schemas.openxmlformats.org/officeDocument/2006/relationships/chart" Target="/ppt/slides/charts/chart2.xml" Id="R6bdda25e72324666" /><Relationship Type="http://schemas.openxmlformats.org/officeDocument/2006/relationships/notesSlide" Target="/ppt/notesSlides/notesSlide5.xml" Id="R56bb43e51e544d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bcadb131643bf" /><Relationship Type="http://schemas.openxmlformats.org/officeDocument/2006/relationships/chart" Target="/ppt/slides/charts/chart3.xml" Id="R74a5faeeeb5a4f95" /><Relationship Type="http://schemas.openxmlformats.org/officeDocument/2006/relationships/notesSlide" Target="/ppt/notesSlides/notesSlide6.xml" Id="Rb47aaa58b59d4d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7d3891625405d" /><Relationship Type="http://schemas.openxmlformats.org/officeDocument/2006/relationships/notesSlide" Target="/ppt/notesSlides/notesSlide7.xml" Id="R8224307cc10d40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85648d9ac4344" /><Relationship Type="http://schemas.openxmlformats.org/officeDocument/2006/relationships/notesSlide" Target="/ppt/notesSlides/notesSlide8.xml" Id="R0bd9710097f24b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2e9ba44f84581" /><Relationship Type="http://schemas.openxmlformats.org/officeDocument/2006/relationships/chart" Target="/ppt/slides/charts/chart4.xml" Id="Re9f7863c14f44001" /><Relationship Type="http://schemas.openxmlformats.org/officeDocument/2006/relationships/notesSlide" Target="/ppt/notesSlides/notesSlide9.xml" Id="R147189339beb47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180d0c6bc4dc7" /><Relationship Type="http://schemas.openxmlformats.org/officeDocument/2006/relationships/chart" Target="/ppt/slides/charts/chart5.xml" Id="R94b413e390424b2d" /><Relationship Type="http://schemas.openxmlformats.org/officeDocument/2006/relationships/notesSlide" Target="/ppt/notesSlides/notesSlide10.xml" Id="Rd28d3c141e8c48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2312639024ca0" /><Relationship Type="http://schemas.openxmlformats.org/officeDocument/2006/relationships/chart" Target="/ppt/slides/charts/chart6.xml" Id="R54e325116b7c4c51" /><Relationship Type="http://schemas.openxmlformats.org/officeDocument/2006/relationships/notesSlide" Target="/ppt/notesSlides/notesSlide11.xml" Id="Ra1fb3b98cfbe4b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a91f98a0b4976" /><Relationship Type="http://schemas.openxmlformats.org/officeDocument/2006/relationships/chart" Target="/ppt/slides/charts/chart7.xml" Id="R651468a890e14e2a" /><Relationship Type="http://schemas.openxmlformats.org/officeDocument/2006/relationships/chart" Target="/ppt/slides/charts/chart8.xml" Id="R74a6d1b3c06c40ba" /><Relationship Type="http://schemas.openxmlformats.org/officeDocument/2006/relationships/notesSlide" Target="/ppt/notesSlides/notesSlide12.xml" Id="R23b0714234f046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d13ae4a724d28" /><Relationship Type="http://schemas.openxmlformats.org/officeDocument/2006/relationships/notesSlide" Target="/ppt/notesSlides/notesSlide13.xml" Id="R90f8716ef6e044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ad71e56c24ccf" /><Relationship Type="http://schemas.openxmlformats.org/officeDocument/2006/relationships/notesSlide" Target="/ppt/notesSlides/notesSlide14.xml" Id="Rdfebcfe7de8246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15958d31b447b" /><Relationship Type="http://schemas.openxmlformats.org/officeDocument/2006/relationships/notesSlide" Target="/ppt/notesSlides/notesSlide15.xml" Id="Rbf0cd4cb653543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471bb7b794287" /><Relationship Type="http://schemas.openxmlformats.org/officeDocument/2006/relationships/notesSlide" Target="/ppt/notesSlides/notesSlide16.xml" Id="Rff5244b75aa6411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V：214个交易日</c:v>
          </c:tx>
          <c:spPr>
            <a:solidFill xmlns:a="http://schemas.openxmlformats.org/drawingml/2006/main">
              <a:srgbClr val="A3BBD2"/>
            </a:solidFill>
            <a:ln xmlns:a="http://schemas.openxmlformats.org/drawingml/2006/main" w="0">
              <a:solidFill>
                <a:srgbClr val="A3BBD2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ICIR</c:v>
                </c:pt>
                <c:pt idx="1">
                  <c:v>Ridge</c:v>
                </c:pt>
                <c:pt idx="2">
                  <c:v>LightGBM 31叶</c:v>
                </c:pt>
                <c:pt idx="3">
                  <c:v>LightGBM 15叶迁移</c:v>
                </c:pt>
                <c:pt idx="4">
                  <c:v>成员等权</c:v>
                </c:pt>
              </c:strCache>
            </c:strRef>
          </c:cat>
          <c:val>
            <c:numRef>
              <c:f>'Chart Data'!$B$2:$B$6</c:f>
              <c:numCache>
                <c:formatCode>0.00%</c:formatCode>
                <c:ptCount val="5"/>
                <c:pt idx="0">
                  <c:v>0.1775518653</c:v>
                </c:pt>
                <c:pt idx="1">
                  <c:v>0.4715399988</c:v>
                </c:pt>
                <c:pt idx="2">
                  <c:v>0.4107367838</c:v>
                </c:pt>
                <c:pt idx="3">
                  <c:v>0.4352737502</c:v>
                </c:pt>
                <c:pt idx="4">
                  <c:v>0.2769559943</c:v>
                </c:pt>
              </c:numCache>
            </c:numRef>
          </c:val>
        </c:ser>
        <c:ser>
          <c:idx val="1"/>
          <c:order val="1"/>
          <c:tx>
            <c:v>test：100个交易日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0">
              <a:solidFill>
                <a:srgbClr val="167C80"/>
              </a:solidFill>
            </a:ln>
          </c:spPr>
          <c:invertIfNegative val="0"/>
          <c:cat>
            <c:strRef>
              <c:f>'Chart Data'!$C$2:$C$6</c:f>
              <c:strCache>
                <c:ptCount val="5"/>
                <c:pt idx="0">
                  <c:v>ICIR</c:v>
                </c:pt>
                <c:pt idx="1">
                  <c:v>Ridge</c:v>
                </c:pt>
                <c:pt idx="2">
                  <c:v>LightGBM 31叶</c:v>
                </c:pt>
                <c:pt idx="3">
                  <c:v>LightGBM 15叶迁移</c:v>
                </c:pt>
                <c:pt idx="4">
                  <c:v>成员等权</c:v>
                </c:pt>
              </c:strCache>
            </c:strRef>
          </c:cat>
          <c:val>
            <c:numRef>
              <c:f>'Chart Data'!$D$2:$D$6</c:f>
              <c:numCache>
                <c:formatCode>0.00%</c:formatCode>
                <c:ptCount val="5"/>
                <c:pt idx="0">
                  <c:v>-0.1536000552</c:v>
                </c:pt>
                <c:pt idx="1">
                  <c:v>-0.1866456423</c:v>
                </c:pt>
                <c:pt idx="2">
                  <c:v>0.0178233479</c:v>
                </c:pt>
                <c:pt idx="3">
                  <c:v>0.0560829807</c:v>
                </c:pt>
                <c:pt idx="4">
                  <c:v>-0.132952263</c:v>
                </c:pt>
              </c:numCache>
            </c:numRef>
          </c:val>
        </c:ser>
        <c:dLbls>
          <c:numFmt formatCode="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3347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AE3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-0.3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E3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3475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ICIR</c:v>
          </c:tx>
          <c:spPr>
            <a:solidFill xmlns:a="http://schemas.openxmlformats.org/drawingml/2006/main">
              <a:srgbClr val="547AA5"/>
            </a:solidFill>
            <a:ln xmlns:a="http://schemas.openxmlformats.org/drawingml/2006/main" w="26670">
              <a:solidFill>
                <a:srgbClr val="547AA5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0.00%</c:formatCode>
                <c:ptCount val="101"/>
                <c:pt idx="0">
                  <c:v>1</c:v>
                </c:pt>
                <c:pt idx="1">
                  <c:v>1.0241305574</c:v>
                </c:pt>
                <c:pt idx="2">
                  <c:v>1.0209703498</c:v>
                </c:pt>
                <c:pt idx="3">
                  <c:v>1.0105081041</c:v>
                </c:pt>
                <c:pt idx="4">
                  <c:v>0.9843665765</c:v>
                </c:pt>
                <c:pt idx="5">
                  <c:v>0.9900892094</c:v>
                </c:pt>
                <c:pt idx="6">
                  <c:v>0.9713611634</c:v>
                </c:pt>
                <c:pt idx="7">
                  <c:v>0.9871705532</c:v>
                </c:pt>
                <c:pt idx="8">
                  <c:v>0.9837330865</c:v>
                </c:pt>
                <c:pt idx="9">
                  <c:v>0.9858064439</c:v>
                </c:pt>
                <c:pt idx="10">
                  <c:v>0.9958458751</c:v>
                </c:pt>
                <c:pt idx="11">
                  <c:v>0.9985047535</c:v>
                </c:pt>
                <c:pt idx="12">
                  <c:v>0.9673520608</c:v>
                </c:pt>
                <c:pt idx="13">
                  <c:v>0.9753534579</c:v>
                </c:pt>
                <c:pt idx="14">
                  <c:v>0.9570330205</c:v>
                </c:pt>
                <c:pt idx="15">
                  <c:v>0.9440553189</c:v>
                </c:pt>
                <c:pt idx="16">
                  <c:v>0.9586494572</c:v>
                </c:pt>
                <c:pt idx="17">
                  <c:v>0.9742674202</c:v>
                </c:pt>
                <c:pt idx="18">
                  <c:v>0.9954112376</c:v>
                </c:pt>
                <c:pt idx="19">
                  <c:v>1.0094336583</c:v>
                </c:pt>
                <c:pt idx="20">
                  <c:v>1.0403319867</c:v>
                </c:pt>
                <c:pt idx="21">
                  <c:v>1.0614026807</c:v>
                </c:pt>
                <c:pt idx="22">
                  <c:v>1.0206675499</c:v>
                </c:pt>
                <c:pt idx="23">
                  <c:v>1.0667985953</c:v>
                </c:pt>
                <c:pt idx="24">
                  <c:v>1.0782457556</c:v>
                </c:pt>
                <c:pt idx="25">
                  <c:v>1.0440174341</c:v>
                </c:pt>
                <c:pt idx="26">
                  <c:v>1.0209995605</c:v>
                </c:pt>
                <c:pt idx="27">
                  <c:v>1.0303457912</c:v>
                </c:pt>
                <c:pt idx="28">
                  <c:v>1.0366215166</c:v>
                </c:pt>
                <c:pt idx="29">
                  <c:v>1.0005618416</c:v>
                </c:pt>
                <c:pt idx="30">
                  <c:v>0.9815303472</c:v>
                </c:pt>
                <c:pt idx="31">
                  <c:v>0.9599290135</c:v>
                </c:pt>
                <c:pt idx="32">
                  <c:v>0.9429868694</c:v>
                </c:pt>
                <c:pt idx="33">
                  <c:v>0.9226789156</c:v>
                </c:pt>
                <c:pt idx="34">
                  <c:v>0.9270601939</c:v>
                </c:pt>
                <c:pt idx="35">
                  <c:v>0.93375982</c:v>
                </c:pt>
                <c:pt idx="36">
                  <c:v>0.8951410883</c:v>
                </c:pt>
                <c:pt idx="37">
                  <c:v>0.9058363936</c:v>
                </c:pt>
                <c:pt idx="38">
                  <c:v>0.9040485775</c:v>
                </c:pt>
                <c:pt idx="39">
                  <c:v>0.901651132</c:v>
                </c:pt>
                <c:pt idx="40">
                  <c:v>0.8501522653</c:v>
                </c:pt>
                <c:pt idx="41">
                  <c:v>0.8244489632</c:v>
                </c:pt>
                <c:pt idx="42">
                  <c:v>0.8305214624</c:v>
                </c:pt>
                <c:pt idx="43">
                  <c:v>0.8326680411</c:v>
                </c:pt>
                <c:pt idx="44">
                  <c:v>0.8517951051</c:v>
                </c:pt>
                <c:pt idx="45">
                  <c:v>0.8254697993</c:v>
                </c:pt>
                <c:pt idx="46">
                  <c:v>0.8534152536</c:v>
                </c:pt>
                <c:pt idx="47">
                  <c:v>0.8495261986</c:v>
                </c:pt>
                <c:pt idx="48">
                  <c:v>0.8573262329</c:v>
                </c:pt>
                <c:pt idx="49">
                  <c:v>0.8464287391</c:v>
                </c:pt>
                <c:pt idx="50">
                  <c:v>0.8663048608</c:v>
                </c:pt>
                <c:pt idx="51">
                  <c:v>0.8950783032</c:v>
                </c:pt>
                <c:pt idx="52">
                  <c:v>0.899821032</c:v>
                </c:pt>
                <c:pt idx="53">
                  <c:v>0.9064460618</c:v>
                </c:pt>
                <c:pt idx="54">
                  <c:v>0.9207295915</c:v>
                </c:pt>
                <c:pt idx="55">
                  <c:v>0.9234769854</c:v>
                </c:pt>
                <c:pt idx="56">
                  <c:v>0.9357020363</c:v>
                </c:pt>
                <c:pt idx="57">
                  <c:v>0.9396886095</c:v>
                </c:pt>
                <c:pt idx="58">
                  <c:v>0.9593799812</c:v>
                </c:pt>
                <c:pt idx="59">
                  <c:v>0.945190587</c:v>
                </c:pt>
                <c:pt idx="60">
                  <c:v>0.937075687</c:v>
                </c:pt>
                <c:pt idx="61">
                  <c:v>0.9749410959</c:v>
                </c:pt>
                <c:pt idx="62">
                  <c:v>0.9904588063</c:v>
                </c:pt>
                <c:pt idx="63">
                  <c:v>0.9260935418</c:v>
                </c:pt>
                <c:pt idx="64">
                  <c:v>0.9459792841</c:v>
                </c:pt>
                <c:pt idx="65">
                  <c:v>0.9436030949</c:v>
                </c:pt>
                <c:pt idx="66">
                  <c:v>0.9139621757</c:v>
                </c:pt>
                <c:pt idx="67">
                  <c:v>0.9154074992</c:v>
                </c:pt>
                <c:pt idx="68">
                  <c:v>0.9176023068</c:v>
                </c:pt>
                <c:pt idx="69">
                  <c:v>0.9215419069</c:v>
                </c:pt>
                <c:pt idx="70">
                  <c:v>0.9232233662</c:v>
                </c:pt>
                <c:pt idx="71">
                  <c:v>0.926725264</c:v>
                </c:pt>
                <c:pt idx="72">
                  <c:v>0.9365621941</c:v>
                </c:pt>
                <c:pt idx="73">
                  <c:v>0.9242095111</c:v>
                </c:pt>
                <c:pt idx="74">
                  <c:v>0.9309521566</c:v>
                </c:pt>
                <c:pt idx="75">
                  <c:v>0.9309751323</c:v>
                </c:pt>
                <c:pt idx="76">
                  <c:v>0.9421507291</c:v>
                </c:pt>
                <c:pt idx="77">
                  <c:v>0.9494394939</c:v>
                </c:pt>
                <c:pt idx="78">
                  <c:v>0.9510646007</c:v>
                </c:pt>
                <c:pt idx="79">
                  <c:v>0.9329794755</c:v>
                </c:pt>
                <c:pt idx="80">
                  <c:v>0.9061547866</c:v>
                </c:pt>
                <c:pt idx="81">
                  <c:v>0.9148973695</c:v>
                </c:pt>
                <c:pt idx="82">
                  <c:v>0.8961165514</c:v>
                </c:pt>
                <c:pt idx="83">
                  <c:v>0.8972541735</c:v>
                </c:pt>
                <c:pt idx="84">
                  <c:v>0.8931951659</c:v>
                </c:pt>
                <c:pt idx="85">
                  <c:v>0.9016124648</c:v>
                </c:pt>
                <c:pt idx="86">
                  <c:v>0.9216643333</c:v>
                </c:pt>
                <c:pt idx="87">
                  <c:v>0.9208238612</c:v>
                </c:pt>
                <c:pt idx="88">
                  <c:v>0.9251469757</c:v>
                </c:pt>
                <c:pt idx="89">
                  <c:v>0.9136081465</c:v>
                </c:pt>
                <c:pt idx="90">
                  <c:v>0.8862908918</c:v>
                </c:pt>
                <c:pt idx="91">
                  <c:v>0.8992875138</c:v>
                </c:pt>
                <c:pt idx="92">
                  <c:v>0.8895850363</c:v>
                </c:pt>
                <c:pt idx="93">
                  <c:v>0.890894905</c:v>
                </c:pt>
                <c:pt idx="94">
                  <c:v>0.8974703883</c:v>
                </c:pt>
                <c:pt idx="95">
                  <c:v>0.8913008797</c:v>
                </c:pt>
                <c:pt idx="96">
                  <c:v>0.8896364455</c:v>
                </c:pt>
                <c:pt idx="97">
                  <c:v>0.8733054206</c:v>
                </c:pt>
                <c:pt idx="98">
                  <c:v>0.8429974635</c:v>
                </c:pt>
                <c:pt idx="99">
                  <c:v>0.8527968721</c:v>
                </c:pt>
                <c:pt idx="100">
                  <c:v>0.8463999448</c:v>
                </c:pt>
              </c:numCache>
            </c:numRef>
          </c:yVal>
        </c:ser>
        <c:ser>
          <c:idx val="1"/>
          <c:order val="1"/>
          <c:tx>
            <c:v>Ridge</c:v>
          </c:tx>
          <c:spPr>
            <a:solidFill xmlns:a="http://schemas.openxmlformats.org/drawingml/2006/main">
              <a:srgbClr val="D99240"/>
            </a:solidFill>
            <a:ln xmlns:a="http://schemas.openxmlformats.org/drawingml/2006/main" w="26670">
              <a:solidFill>
                <a:srgbClr val="D99240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0.00%</c:formatCode>
                <c:ptCount val="101"/>
                <c:pt idx="0">
                  <c:v>1</c:v>
                </c:pt>
                <c:pt idx="1">
                  <c:v>1.0415847338</c:v>
                </c:pt>
                <c:pt idx="2">
                  <c:v>1.0691398996</c:v>
                </c:pt>
                <c:pt idx="3">
                  <c:v>1.0383207154</c:v>
                </c:pt>
                <c:pt idx="4">
                  <c:v>1.0222764337</c:v>
                </c:pt>
                <c:pt idx="5">
                  <c:v>1.0291702434</c:v>
                </c:pt>
                <c:pt idx="6">
                  <c:v>1.0017644228</c:v>
                </c:pt>
                <c:pt idx="7">
                  <c:v>0.9957603898</c:v>
                </c:pt>
                <c:pt idx="8">
                  <c:v>1.0112377313</c:v>
                </c:pt>
                <c:pt idx="9">
                  <c:v>1.0245428949</c:v>
                </c:pt>
                <c:pt idx="10">
                  <c:v>1.044329342</c:v>
                </c:pt>
                <c:pt idx="11">
                  <c:v>1.0435544973</c:v>
                </c:pt>
                <c:pt idx="12">
                  <c:v>1.0061479402</c:v>
                </c:pt>
                <c:pt idx="13">
                  <c:v>1.049686905</c:v>
                </c:pt>
                <c:pt idx="14">
                  <c:v>1.0323409244</c:v>
                </c:pt>
                <c:pt idx="15">
                  <c:v>1.0327693154</c:v>
                </c:pt>
                <c:pt idx="16">
                  <c:v>1.0078771419</c:v>
                </c:pt>
                <c:pt idx="17">
                  <c:v>1.049522439</c:v>
                </c:pt>
                <c:pt idx="18">
                  <c:v>1.0591103957</c:v>
                </c:pt>
                <c:pt idx="19">
                  <c:v>1.0457327243</c:v>
                </c:pt>
                <c:pt idx="20">
                  <c:v>1.0505904425</c:v>
                </c:pt>
                <c:pt idx="21">
                  <c:v>1.0454289923</c:v>
                </c:pt>
                <c:pt idx="22">
                  <c:v>1.0526731734</c:v>
                </c:pt>
                <c:pt idx="23">
                  <c:v>1.0762697355</c:v>
                </c:pt>
                <c:pt idx="24">
                  <c:v>1.0744938089</c:v>
                </c:pt>
                <c:pt idx="25">
                  <c:v>1.0407294219</c:v>
                </c:pt>
                <c:pt idx="26">
                  <c:v>1.017175366</c:v>
                </c:pt>
                <c:pt idx="27">
                  <c:v>1.0502753151</c:v>
                </c:pt>
                <c:pt idx="28">
                  <c:v>1.0686105365</c:v>
                </c:pt>
                <c:pt idx="29">
                  <c:v>1.0697035318</c:v>
                </c:pt>
                <c:pt idx="30">
                  <c:v>1.0771838579</c:v>
                </c:pt>
                <c:pt idx="31">
                  <c:v>1.0356439003</c:v>
                </c:pt>
                <c:pt idx="32">
                  <c:v>1.0074583458</c:v>
                </c:pt>
                <c:pt idx="33">
                  <c:v>0.9564791665</c:v>
                </c:pt>
                <c:pt idx="34">
                  <c:v>0.9531936907</c:v>
                </c:pt>
                <c:pt idx="35">
                  <c:v>0.9427323505</c:v>
                </c:pt>
                <c:pt idx="36">
                  <c:v>0.8736017625</c:v>
                </c:pt>
                <c:pt idx="37">
                  <c:v>0.902841714</c:v>
                </c:pt>
                <c:pt idx="38">
                  <c:v>0.8830036748</c:v>
                </c:pt>
                <c:pt idx="39">
                  <c:v>0.8600292969</c:v>
                </c:pt>
                <c:pt idx="40">
                  <c:v>0.802647917</c:v>
                </c:pt>
                <c:pt idx="41">
                  <c:v>0.7656092886</c:v>
                </c:pt>
                <c:pt idx="42">
                  <c:v>0.7908673242</c:v>
                </c:pt>
                <c:pt idx="43">
                  <c:v>0.7816692128</c:v>
                </c:pt>
                <c:pt idx="44">
                  <c:v>0.8028437386</c:v>
                </c:pt>
                <c:pt idx="45">
                  <c:v>0.7902137107</c:v>
                </c:pt>
                <c:pt idx="46">
                  <c:v>0.811730404</c:v>
                </c:pt>
                <c:pt idx="47">
                  <c:v>0.7983691998</c:v>
                </c:pt>
                <c:pt idx="48">
                  <c:v>0.7776918827</c:v>
                </c:pt>
                <c:pt idx="49">
                  <c:v>0.7165353047</c:v>
                </c:pt>
                <c:pt idx="50">
                  <c:v>0.7559212103</c:v>
                </c:pt>
                <c:pt idx="51">
                  <c:v>0.7451069453</c:v>
                </c:pt>
                <c:pt idx="52">
                  <c:v>0.8026932769</c:v>
                </c:pt>
                <c:pt idx="53">
                  <c:v>0.8258148819</c:v>
                </c:pt>
                <c:pt idx="54">
                  <c:v>0.8371860628</c:v>
                </c:pt>
                <c:pt idx="55">
                  <c:v>0.8638982429</c:v>
                </c:pt>
                <c:pt idx="56">
                  <c:v>0.8642006842</c:v>
                </c:pt>
                <c:pt idx="57">
                  <c:v>0.8683179926</c:v>
                </c:pt>
                <c:pt idx="58">
                  <c:v>0.8854318495</c:v>
                </c:pt>
                <c:pt idx="59">
                  <c:v>0.8730406841</c:v>
                </c:pt>
                <c:pt idx="60">
                  <c:v>0.9016668562</c:v>
                </c:pt>
                <c:pt idx="61">
                  <c:v>0.9418106658</c:v>
                </c:pt>
                <c:pt idx="62">
                  <c:v>0.9405995747</c:v>
                </c:pt>
                <c:pt idx="63">
                  <c:v>0.8572940612</c:v>
                </c:pt>
                <c:pt idx="64">
                  <c:v>0.8674108204</c:v>
                </c:pt>
                <c:pt idx="65">
                  <c:v>0.869646609</c:v>
                </c:pt>
                <c:pt idx="66">
                  <c:v>0.8440986497</c:v>
                </c:pt>
                <c:pt idx="67">
                  <c:v>0.8510797172</c:v>
                </c:pt>
                <c:pt idx="68">
                  <c:v>0.8537158795</c:v>
                </c:pt>
                <c:pt idx="69">
                  <c:v>0.8616596458</c:v>
                </c:pt>
                <c:pt idx="70">
                  <c:v>0.8640404051</c:v>
                </c:pt>
                <c:pt idx="71">
                  <c:v>0.8742792822</c:v>
                </c:pt>
                <c:pt idx="72">
                  <c:v>0.8757294018</c:v>
                </c:pt>
                <c:pt idx="73">
                  <c:v>0.8782856629</c:v>
                </c:pt>
                <c:pt idx="74">
                  <c:v>0.8913084661</c:v>
                </c:pt>
                <c:pt idx="75">
                  <c:v>0.8621545368</c:v>
                </c:pt>
                <c:pt idx="76">
                  <c:v>0.8943056206</c:v>
                </c:pt>
                <c:pt idx="77">
                  <c:v>0.8924603396</c:v>
                </c:pt>
                <c:pt idx="78">
                  <c:v>0.8960840431</c:v>
                </c:pt>
                <c:pt idx="79">
                  <c:v>0.878114304</c:v>
                </c:pt>
                <c:pt idx="80">
                  <c:v>0.8640331741</c:v>
                </c:pt>
                <c:pt idx="81">
                  <c:v>0.890825365</c:v>
                </c:pt>
                <c:pt idx="82">
                  <c:v>0.8936556973</c:v>
                </c:pt>
                <c:pt idx="83">
                  <c:v>0.9339707553</c:v>
                </c:pt>
                <c:pt idx="84">
                  <c:v>0.9353598605</c:v>
                </c:pt>
                <c:pt idx="85">
                  <c:v>0.9598601144</c:v>
                </c:pt>
                <c:pt idx="86">
                  <c:v>0.985228355</c:v>
                </c:pt>
                <c:pt idx="87">
                  <c:v>0.9861077005</c:v>
                </c:pt>
                <c:pt idx="88">
                  <c:v>1.0131125457</c:v>
                </c:pt>
                <c:pt idx="89">
                  <c:v>0.9856420013</c:v>
                </c:pt>
                <c:pt idx="90">
                  <c:v>0.9175853148</c:v>
                </c:pt>
                <c:pt idx="91">
                  <c:v>0.9352174956</c:v>
                </c:pt>
                <c:pt idx="92">
                  <c:v>0.9102067844</c:v>
                </c:pt>
                <c:pt idx="93">
                  <c:v>0.8820677137</c:v>
                </c:pt>
                <c:pt idx="94">
                  <c:v>0.8788402843</c:v>
                </c:pt>
                <c:pt idx="95">
                  <c:v>0.8423253948</c:v>
                </c:pt>
                <c:pt idx="96">
                  <c:v>0.8524995413</c:v>
                </c:pt>
                <c:pt idx="97">
                  <c:v>0.8347712357</c:v>
                </c:pt>
                <c:pt idx="98">
                  <c:v>0.8213473399</c:v>
                </c:pt>
                <c:pt idx="99">
                  <c:v>0.8237250503</c:v>
                </c:pt>
                <c:pt idx="100">
                  <c:v>0.8133543577</c:v>
                </c:pt>
              </c:numCache>
            </c:numRef>
          </c:yVal>
        </c:ser>
        <c:ser>
          <c:idx val="2"/>
          <c:order val="2"/>
          <c:tx>
            <c:v>LightGBM 31叶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26670">
              <a:solidFill>
                <a:srgbClr val="167C80"/>
              </a:solidFill>
            </a:ln>
          </c:spPr>
          <c:marker>
            <c:symbol val="none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Data'!$F$2:$F$102</c:f>
              <c:numCache>
                <c:formatCode>0.00%</c:formatCode>
                <c:ptCount val="101"/>
                <c:pt idx="0">
                  <c:v>1</c:v>
                </c:pt>
                <c:pt idx="1">
                  <c:v>1.0307054492</c:v>
                </c:pt>
                <c:pt idx="2">
                  <c:v>1.0279609014</c:v>
                </c:pt>
                <c:pt idx="3">
                  <c:v>1.0094135278</c:v>
                </c:pt>
                <c:pt idx="4">
                  <c:v>0.9917558028</c:v>
                </c:pt>
                <c:pt idx="5">
                  <c:v>0.9987731683</c:v>
                </c:pt>
                <c:pt idx="6">
                  <c:v>0.9878321632</c:v>
                </c:pt>
                <c:pt idx="7">
                  <c:v>1.0189768867</c:v>
                </c:pt>
                <c:pt idx="8">
                  <c:v>1.0036581785</c:v>
                </c:pt>
                <c:pt idx="9">
                  <c:v>0.99941038</c:v>
                </c:pt>
                <c:pt idx="10">
                  <c:v>0.9889816434</c:v>
                </c:pt>
                <c:pt idx="11">
                  <c:v>0.9985013077</c:v>
                </c:pt>
                <c:pt idx="12">
                  <c:v>0.9637223411</c:v>
                </c:pt>
                <c:pt idx="13">
                  <c:v>0.983338917</c:v>
                </c:pt>
                <c:pt idx="14">
                  <c:v>0.9639492796</c:v>
                </c:pt>
                <c:pt idx="15">
                  <c:v>0.9647186752</c:v>
                </c:pt>
                <c:pt idx="16">
                  <c:v>0.9710492771</c:v>
                </c:pt>
                <c:pt idx="17">
                  <c:v>1.0266185107</c:v>
                </c:pt>
                <c:pt idx="18">
                  <c:v>1.0435655254</c:v>
                </c:pt>
                <c:pt idx="19">
                  <c:v>1.0599965115</c:v>
                </c:pt>
                <c:pt idx="20">
                  <c:v>1.0723497927</c:v>
                </c:pt>
                <c:pt idx="21">
                  <c:v>1.0717872728</c:v>
                </c:pt>
                <c:pt idx="22">
                  <c:v>1.0574758991</c:v>
                </c:pt>
                <c:pt idx="23">
                  <c:v>1.0700807288</c:v>
                </c:pt>
                <c:pt idx="24">
                  <c:v>1.079421259</c:v>
                </c:pt>
                <c:pt idx="25">
                  <c:v>1.043495859</c:v>
                </c:pt>
                <c:pt idx="26">
                  <c:v>1.0180237334</c:v>
                </c:pt>
                <c:pt idx="27">
                  <c:v>1.0782349247</c:v>
                </c:pt>
                <c:pt idx="28">
                  <c:v>1.1114562544</c:v>
                </c:pt>
                <c:pt idx="29">
                  <c:v>1.1120770995</c:v>
                </c:pt>
                <c:pt idx="30">
                  <c:v>1.1320407851</c:v>
                </c:pt>
                <c:pt idx="31">
                  <c:v>1.1134623294</c:v>
                </c:pt>
                <c:pt idx="32">
                  <c:v>1.0831995405</c:v>
                </c:pt>
                <c:pt idx="33">
                  <c:v>1.0786331286</c:v>
                </c:pt>
                <c:pt idx="34">
                  <c:v>1.0839769751</c:v>
                </c:pt>
                <c:pt idx="35">
                  <c:v>1.1020463725</c:v>
                </c:pt>
                <c:pt idx="36">
                  <c:v>1.086310007</c:v>
                </c:pt>
                <c:pt idx="37">
                  <c:v>1.100556437</c:v>
                </c:pt>
                <c:pt idx="38">
                  <c:v>1.1166128473</c:v>
                </c:pt>
                <c:pt idx="39">
                  <c:v>1.1141687074</c:v>
                </c:pt>
                <c:pt idx="40">
                  <c:v>1.092012853</c:v>
                </c:pt>
                <c:pt idx="41">
                  <c:v>1.0791538724</c:v>
                </c:pt>
                <c:pt idx="42">
                  <c:v>1.0706420944</c:v>
                </c:pt>
                <c:pt idx="43">
                  <c:v>1.0535397564</c:v>
                </c:pt>
                <c:pt idx="44">
                  <c:v>1.0847178267</c:v>
                </c:pt>
                <c:pt idx="45">
                  <c:v>1.0406965931</c:v>
                </c:pt>
                <c:pt idx="46">
                  <c:v>1.0706266748</c:v>
                </c:pt>
                <c:pt idx="47">
                  <c:v>1.07934652</c:v>
                </c:pt>
                <c:pt idx="48">
                  <c:v>1.0797623314</c:v>
                </c:pt>
                <c:pt idx="49">
                  <c:v>1.0579989675</c:v>
                </c:pt>
                <c:pt idx="50">
                  <c:v>1.091289301</c:v>
                </c:pt>
                <c:pt idx="51">
                  <c:v>1.0995997249</c:v>
                </c:pt>
                <c:pt idx="52">
                  <c:v>1.1249646119</c:v>
                </c:pt>
                <c:pt idx="53">
                  <c:v>1.1486807048</c:v>
                </c:pt>
                <c:pt idx="54">
                  <c:v>1.1493629423</c:v>
                </c:pt>
                <c:pt idx="55">
                  <c:v>1.1584370354</c:v>
                </c:pt>
                <c:pt idx="56">
                  <c:v>1.1758208914</c:v>
                </c:pt>
                <c:pt idx="57">
                  <c:v>1.1602596245</c:v>
                </c:pt>
                <c:pt idx="58">
                  <c:v>1.1851444354</c:v>
                </c:pt>
                <c:pt idx="59">
                  <c:v>1.1684017943</c:v>
                </c:pt>
                <c:pt idx="60">
                  <c:v>1.1767474906</c:v>
                </c:pt>
                <c:pt idx="61">
                  <c:v>1.2022682443</c:v>
                </c:pt>
                <c:pt idx="62">
                  <c:v>1.2025534591</c:v>
                </c:pt>
                <c:pt idx="63">
                  <c:v>1.105569367</c:v>
                </c:pt>
                <c:pt idx="64">
                  <c:v>1.1287104001</c:v>
                </c:pt>
                <c:pt idx="65">
                  <c:v>1.1285568415</c:v>
                </c:pt>
                <c:pt idx="66">
                  <c:v>1.090858239</c:v>
                </c:pt>
                <c:pt idx="67">
                  <c:v>1.1009402754</c:v>
                </c:pt>
                <c:pt idx="68">
                  <c:v>1.115818466</c:v>
                </c:pt>
                <c:pt idx="69">
                  <c:v>1.1243441695</c:v>
                </c:pt>
                <c:pt idx="70">
                  <c:v>1.1202508403</c:v>
                </c:pt>
                <c:pt idx="71">
                  <c:v>1.147338698</c:v>
                </c:pt>
                <c:pt idx="72">
                  <c:v>1.1426068325</c:v>
                </c:pt>
                <c:pt idx="73">
                  <c:v>1.1497214007</c:v>
                </c:pt>
                <c:pt idx="74">
                  <c:v>1.1569025608</c:v>
                </c:pt>
                <c:pt idx="75">
                  <c:v>1.1416692697</c:v>
                </c:pt>
                <c:pt idx="76">
                  <c:v>1.177049007</c:v>
                </c:pt>
                <c:pt idx="77">
                  <c:v>1.1602516532</c:v>
                </c:pt>
                <c:pt idx="78">
                  <c:v>1.1658192602</c:v>
                </c:pt>
                <c:pt idx="79">
                  <c:v>1.1470936926</c:v>
                </c:pt>
                <c:pt idx="80">
                  <c:v>1.1438065648</c:v>
                </c:pt>
                <c:pt idx="81">
                  <c:v>1.18658734</c:v>
                </c:pt>
                <c:pt idx="82">
                  <c:v>1.1890762387</c:v>
                </c:pt>
                <c:pt idx="83">
                  <c:v>1.2213574461</c:v>
                </c:pt>
                <c:pt idx="84">
                  <c:v>1.2226543118</c:v>
                </c:pt>
                <c:pt idx="85">
                  <c:v>1.2444890752</c:v>
                </c:pt>
                <c:pt idx="86">
                  <c:v>1.2672957205</c:v>
                </c:pt>
                <c:pt idx="87">
                  <c:v>1.2702878293</c:v>
                </c:pt>
                <c:pt idx="88">
                  <c:v>1.2932251303</c:v>
                </c:pt>
                <c:pt idx="89">
                  <c:v>1.2526769717</c:v>
                </c:pt>
                <c:pt idx="90">
                  <c:v>1.1706431446</c:v>
                </c:pt>
                <c:pt idx="91">
                  <c:v>1.1995823267</c:v>
                </c:pt>
                <c:pt idx="92">
                  <c:v>1.1690147533</c:v>
                </c:pt>
                <c:pt idx="93">
                  <c:v>1.1294329963</c:v>
                </c:pt>
                <c:pt idx="94">
                  <c:v>1.11187987</c:v>
                </c:pt>
                <c:pt idx="95">
                  <c:v>1.0788700025</c:v>
                </c:pt>
                <c:pt idx="96">
                  <c:v>1.0905790587</c:v>
                </c:pt>
                <c:pt idx="97">
                  <c:v>1.0637444682</c:v>
                </c:pt>
                <c:pt idx="98">
                  <c:v>1.0342463396</c:v>
                </c:pt>
                <c:pt idx="99">
                  <c:v>1.0295471718</c:v>
                </c:pt>
                <c:pt idx="100">
                  <c:v>1.0178233479</c:v>
                </c:pt>
              </c:numCache>
            </c:numRef>
          </c:yVal>
        </c:ser>
        <c:ser>
          <c:idx val="3"/>
          <c:order val="3"/>
          <c:tx>
            <c:v>LightGBM 15叶迁移</c:v>
          </c:tx>
          <c:spPr>
            <a:solidFill xmlns:a="http://schemas.openxmlformats.org/drawingml/2006/main">
              <a:srgbClr val="7357A3"/>
            </a:solidFill>
            <a:ln xmlns:a="http://schemas.openxmlformats.org/drawingml/2006/main" w="26670">
              <a:solidFill>
                <a:srgbClr val="7357A3"/>
              </a:solidFill>
            </a:ln>
          </c:spPr>
          <c:marker>
            <c:symbol val="none"/>
          </c:marker>
          <c:xVal>
            <c:numRef>
              <c:f>'Chart Data'!$G$2:$G$102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Data'!$H$2:$H$102</c:f>
              <c:numCache>
                <c:formatCode>0.00%</c:formatCode>
                <c:ptCount val="101"/>
                <c:pt idx="0">
                  <c:v>1</c:v>
                </c:pt>
                <c:pt idx="1">
                  <c:v>1.0126529527</c:v>
                </c:pt>
                <c:pt idx="2">
                  <c:v>1.0024778301</c:v>
                </c:pt>
                <c:pt idx="3">
                  <c:v>0.98810656</c:v>
                </c:pt>
                <c:pt idx="4">
                  <c:v>0.9750519943</c:v>
                </c:pt>
                <c:pt idx="5">
                  <c:v>0.9750015155</c:v>
                </c:pt>
                <c:pt idx="6">
                  <c:v>0.97027432</c:v>
                </c:pt>
                <c:pt idx="7">
                  <c:v>0.9923836568</c:v>
                </c:pt>
                <c:pt idx="8">
                  <c:v>0.9696235677</c:v>
                </c:pt>
                <c:pt idx="9">
                  <c:v>0.9630791193</c:v>
                </c:pt>
                <c:pt idx="10">
                  <c:v>0.9532753918</c:v>
                </c:pt>
                <c:pt idx="11">
                  <c:v>0.9607194218</c:v>
                </c:pt>
                <c:pt idx="12">
                  <c:v>0.9389619029</c:v>
                </c:pt>
                <c:pt idx="13">
                  <c:v>0.9459741164</c:v>
                </c:pt>
                <c:pt idx="14">
                  <c:v>0.9396223927</c:v>
                </c:pt>
                <c:pt idx="15">
                  <c:v>0.9393881254</c:v>
                </c:pt>
                <c:pt idx="16">
                  <c:v>0.9630159592</c:v>
                </c:pt>
                <c:pt idx="17">
                  <c:v>0.9709553187</c:v>
                </c:pt>
                <c:pt idx="18">
                  <c:v>0.9817272484</c:v>
                </c:pt>
                <c:pt idx="19">
                  <c:v>0.9629313983</c:v>
                </c:pt>
                <c:pt idx="20">
                  <c:v>0.9457700511</c:v>
                </c:pt>
                <c:pt idx="21">
                  <c:v>0.9481855648</c:v>
                </c:pt>
                <c:pt idx="22">
                  <c:v>0.9569100825</c:v>
                </c:pt>
                <c:pt idx="23">
                  <c:v>0.9390900108</c:v>
                </c:pt>
                <c:pt idx="24">
                  <c:v>0.9210155393</c:v>
                </c:pt>
                <c:pt idx="25">
                  <c:v>0.9124687146</c:v>
                </c:pt>
                <c:pt idx="26">
                  <c:v>0.9070487742</c:v>
                </c:pt>
                <c:pt idx="27">
                  <c:v>0.9028334763</c:v>
                </c:pt>
                <c:pt idx="28">
                  <c:v>0.9190926675</c:v>
                </c:pt>
                <c:pt idx="29">
                  <c:v>0.9300340832</c:v>
                </c:pt>
                <c:pt idx="30">
                  <c:v>0.9559010529</c:v>
                </c:pt>
                <c:pt idx="31">
                  <c:v>0.9452165036</c:v>
                </c:pt>
                <c:pt idx="32">
                  <c:v>0.9264442503</c:v>
                </c:pt>
                <c:pt idx="33">
                  <c:v>0.9151841186</c:v>
                </c:pt>
                <c:pt idx="34">
                  <c:v>0.9090735249</c:v>
                </c:pt>
                <c:pt idx="35">
                  <c:v>0.9357050293</c:v>
                </c:pt>
                <c:pt idx="36">
                  <c:v>0.9019575358</c:v>
                </c:pt>
                <c:pt idx="37">
                  <c:v>0.9287287283</c:v>
                </c:pt>
                <c:pt idx="38">
                  <c:v>0.9394952121</c:v>
                </c:pt>
                <c:pt idx="39">
                  <c:v>0.93596109</c:v>
                </c:pt>
                <c:pt idx="40">
                  <c:v>0.9238904431</c:v>
                </c:pt>
                <c:pt idx="41">
                  <c:v>0.9269798222</c:v>
                </c:pt>
                <c:pt idx="42">
                  <c:v>0.9154841388</c:v>
                </c:pt>
                <c:pt idx="43">
                  <c:v>0.9115138315</c:v>
                </c:pt>
                <c:pt idx="44">
                  <c:v>0.9482046979</c:v>
                </c:pt>
                <c:pt idx="45">
                  <c:v>0.9265573582</c:v>
                </c:pt>
                <c:pt idx="46">
                  <c:v>0.9632303149</c:v>
                </c:pt>
                <c:pt idx="47">
                  <c:v>0.9677233916</c:v>
                </c:pt>
                <c:pt idx="48">
                  <c:v>0.9799217606</c:v>
                </c:pt>
                <c:pt idx="49">
                  <c:v>0.9592271105</c:v>
                </c:pt>
                <c:pt idx="50">
                  <c:v>0.9803433647</c:v>
                </c:pt>
                <c:pt idx="51">
                  <c:v>0.9975056112</c:v>
                </c:pt>
                <c:pt idx="52">
                  <c:v>1.013827507</c:v>
                </c:pt>
                <c:pt idx="53">
                  <c:v>1.0369189559</c:v>
                </c:pt>
                <c:pt idx="54">
                  <c:v>1.0528410853</c:v>
                </c:pt>
                <c:pt idx="55">
                  <c:v>1.0716655447</c:v>
                </c:pt>
                <c:pt idx="56">
                  <c:v>1.089423997</c:v>
                </c:pt>
                <c:pt idx="57">
                  <c:v>1.095876197</c:v>
                </c:pt>
                <c:pt idx="58">
                  <c:v>1.1204674811</c:v>
                </c:pt>
                <c:pt idx="59">
                  <c:v>1.1027837852</c:v>
                </c:pt>
                <c:pt idx="60">
                  <c:v>1.0926841641</c:v>
                </c:pt>
                <c:pt idx="61">
                  <c:v>1.1240487742</c:v>
                </c:pt>
                <c:pt idx="62">
                  <c:v>1.1230482478</c:v>
                </c:pt>
                <c:pt idx="63">
                  <c:v>1.0785047096</c:v>
                </c:pt>
                <c:pt idx="64">
                  <c:v>1.0848543601</c:v>
                </c:pt>
                <c:pt idx="65">
                  <c:v>1.0849887053</c:v>
                </c:pt>
                <c:pt idx="66">
                  <c:v>1.0798948268</c:v>
                </c:pt>
                <c:pt idx="67">
                  <c:v>1.0965945079</c:v>
                </c:pt>
                <c:pt idx="68">
                  <c:v>1.0924948198</c:v>
                </c:pt>
                <c:pt idx="69">
                  <c:v>1.0951941545</c:v>
                </c:pt>
                <c:pt idx="70">
                  <c:v>1.0997556963</c:v>
                </c:pt>
                <c:pt idx="71">
                  <c:v>1.1136106376</c:v>
                </c:pt>
                <c:pt idx="72">
                  <c:v>1.1237309462</c:v>
                </c:pt>
                <c:pt idx="73">
                  <c:v>1.1215328687</c:v>
                </c:pt>
                <c:pt idx="74">
                  <c:v>1.1091566806</c:v>
                </c:pt>
                <c:pt idx="75">
                  <c:v>1.1122451413</c:v>
                </c:pt>
                <c:pt idx="76">
                  <c:v>1.1133657692</c:v>
                </c:pt>
                <c:pt idx="77">
                  <c:v>1.1247565984</c:v>
                </c:pt>
                <c:pt idx="78">
                  <c:v>1.1170350972</c:v>
                </c:pt>
                <c:pt idx="79">
                  <c:v>1.1011667094</c:v>
                </c:pt>
                <c:pt idx="80">
                  <c:v>1.0809114095</c:v>
                </c:pt>
                <c:pt idx="81">
                  <c:v>1.0903164851</c:v>
                </c:pt>
                <c:pt idx="82">
                  <c:v>1.0816898525</c:v>
                </c:pt>
                <c:pt idx="83">
                  <c:v>1.0957685085</c:v>
                </c:pt>
                <c:pt idx="84">
                  <c:v>1.1025275181</c:v>
                </c:pt>
                <c:pt idx="85">
                  <c:v>1.1062928709</c:v>
                </c:pt>
                <c:pt idx="86">
                  <c:v>1.1404762772</c:v>
                </c:pt>
                <c:pt idx="87">
                  <c:v>1.1522047127</c:v>
                </c:pt>
                <c:pt idx="88">
                  <c:v>1.157778839</c:v>
                </c:pt>
                <c:pt idx="89">
                  <c:v>1.140758846</c:v>
                </c:pt>
                <c:pt idx="90">
                  <c:v>1.1175246738</c:v>
                </c:pt>
                <c:pt idx="91">
                  <c:v>1.123493503</c:v>
                </c:pt>
                <c:pt idx="92">
                  <c:v>1.118697331</c:v>
                </c:pt>
                <c:pt idx="93">
                  <c:v>1.1118190207</c:v>
                </c:pt>
                <c:pt idx="94">
                  <c:v>1.1117889294</c:v>
                </c:pt>
                <c:pt idx="95">
                  <c:v>1.096477664</c:v>
                </c:pt>
                <c:pt idx="96">
                  <c:v>1.1010078699</c:v>
                </c:pt>
                <c:pt idx="97">
                  <c:v>1.0868800783</c:v>
                </c:pt>
                <c:pt idx="98">
                  <c:v>1.0528426505</c:v>
                </c:pt>
                <c:pt idx="99">
                  <c:v>1.0639573991</c:v>
                </c:pt>
                <c:pt idx="100">
                  <c:v>1.0560829807</c:v>
                </c:pt>
              </c:numCache>
            </c:numRef>
          </c:yVal>
        </c:ser>
        <c:ser>
          <c:idx val="4"/>
          <c:order val="4"/>
          <c:tx>
            <c:v>成员等权</c:v>
          </c:tx>
          <c:spPr>
            <a:solidFill xmlns:a="http://schemas.openxmlformats.org/drawingml/2006/main">
              <a:srgbClr val="89929B"/>
            </a:solidFill>
            <a:ln xmlns:a="http://schemas.openxmlformats.org/drawingml/2006/main" w="26670">
              <a:solidFill>
                <a:srgbClr val="89929B"/>
              </a:solidFill>
            </a:ln>
          </c:spPr>
          <c:marker>
            <c:symbol val="none"/>
          </c:marker>
          <c:xVal>
            <c:numRef>
              <c:f>'Chart Data'!$I$2:$I$102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Data'!$J$2:$J$102</c:f>
              <c:numCache>
                <c:formatCode>0.00%</c:formatCode>
                <c:ptCount val="101"/>
                <c:pt idx="0">
                  <c:v>1</c:v>
                </c:pt>
                <c:pt idx="1">
                  <c:v>1.0199641906</c:v>
                </c:pt>
                <c:pt idx="2">
                  <c:v>1.0193986976</c:v>
                </c:pt>
                <c:pt idx="3">
                  <c:v>1.0028740144</c:v>
                </c:pt>
                <c:pt idx="4">
                  <c:v>0.982434026</c:v>
                </c:pt>
                <c:pt idx="5">
                  <c:v>0.9924465346</c:v>
                </c:pt>
                <c:pt idx="6">
                  <c:v>0.9658198875</c:v>
                </c:pt>
                <c:pt idx="7">
                  <c:v>0.9757287291</c:v>
                </c:pt>
                <c:pt idx="8">
                  <c:v>0.9668219476</c:v>
                </c:pt>
                <c:pt idx="9">
                  <c:v>0.9645854643</c:v>
                </c:pt>
                <c:pt idx="10">
                  <c:v>0.9582476655</c:v>
                </c:pt>
                <c:pt idx="11">
                  <c:v>0.9644854711</c:v>
                </c:pt>
                <c:pt idx="12">
                  <c:v>0.9390369648</c:v>
                </c:pt>
                <c:pt idx="13">
                  <c:v>0.9525095641</c:v>
                </c:pt>
                <c:pt idx="14">
                  <c:v>0.9389494214</c:v>
                </c:pt>
                <c:pt idx="15">
                  <c:v>0.9299210205</c:v>
                </c:pt>
                <c:pt idx="16">
                  <c:v>0.9374804713</c:v>
                </c:pt>
                <c:pt idx="17">
                  <c:v>0.9586423592</c:v>
                </c:pt>
                <c:pt idx="18">
                  <c:v>0.9687704648</c:v>
                </c:pt>
                <c:pt idx="19">
                  <c:v>0.9641913613</c:v>
                </c:pt>
                <c:pt idx="20">
                  <c:v>0.9642523676</c:v>
                </c:pt>
                <c:pt idx="21">
                  <c:v>0.9680575999</c:v>
                </c:pt>
                <c:pt idx="22">
                  <c:v>0.9692823344</c:v>
                </c:pt>
                <c:pt idx="23">
                  <c:v>0.9584608655</c:v>
                </c:pt>
                <c:pt idx="24">
                  <c:v>0.9443698569</c:v>
                </c:pt>
                <c:pt idx="25">
                  <c:v>0.9217741263</c:v>
                </c:pt>
                <c:pt idx="26">
                  <c:v>0.9184220316</c:v>
                </c:pt>
                <c:pt idx="27">
                  <c:v>0.9334442314</c:v>
                </c:pt>
                <c:pt idx="28">
                  <c:v>0.9519883102</c:v>
                </c:pt>
                <c:pt idx="29">
                  <c:v>0.9453946467</c:v>
                </c:pt>
                <c:pt idx="30">
                  <c:v>0.954760697</c:v>
                </c:pt>
                <c:pt idx="31">
                  <c:v>0.9403223826</c:v>
                </c:pt>
                <c:pt idx="32">
                  <c:v>0.915081186</c:v>
                </c:pt>
                <c:pt idx="33">
                  <c:v>0.8985557096</c:v>
                </c:pt>
                <c:pt idx="34">
                  <c:v>0.9036552156</c:v>
                </c:pt>
                <c:pt idx="35">
                  <c:v>0.911379028</c:v>
                </c:pt>
                <c:pt idx="36">
                  <c:v>0.870281856</c:v>
                </c:pt>
                <c:pt idx="37">
                  <c:v>0.8834402582</c:v>
                </c:pt>
                <c:pt idx="38">
                  <c:v>0.8841132703</c:v>
                </c:pt>
                <c:pt idx="39">
                  <c:v>0.8776044081</c:v>
                </c:pt>
                <c:pt idx="40">
                  <c:v>0.8356235391</c:v>
                </c:pt>
                <c:pt idx="41">
                  <c:v>0.8111286181</c:v>
                </c:pt>
                <c:pt idx="42">
                  <c:v>0.8199188999</c:v>
                </c:pt>
                <c:pt idx="43">
                  <c:v>0.811144241</c:v>
                </c:pt>
                <c:pt idx="44">
                  <c:v>0.8267328578</c:v>
                </c:pt>
                <c:pt idx="45">
                  <c:v>0.8064269279</c:v>
                </c:pt>
                <c:pt idx="46">
                  <c:v>0.8320289971</c:v>
                </c:pt>
                <c:pt idx="47">
                  <c:v>0.826219532</c:v>
                </c:pt>
                <c:pt idx="48">
                  <c:v>0.8332223542</c:v>
                </c:pt>
                <c:pt idx="49">
                  <c:v>0.8131815107</c:v>
                </c:pt>
                <c:pt idx="50">
                  <c:v>0.8359789086</c:v>
                </c:pt>
                <c:pt idx="51">
                  <c:v>0.8478111678</c:v>
                </c:pt>
                <c:pt idx="52">
                  <c:v>0.8656256176</c:v>
                </c:pt>
                <c:pt idx="53">
                  <c:v>0.8828395396</c:v>
                </c:pt>
                <c:pt idx="54">
                  <c:v>0.8902136324</c:v>
                </c:pt>
                <c:pt idx="55">
                  <c:v>0.8997654273</c:v>
                </c:pt>
                <c:pt idx="56">
                  <c:v>0.9117609291</c:v>
                </c:pt>
                <c:pt idx="57">
                  <c:v>0.9082237838</c:v>
                </c:pt>
                <c:pt idx="58">
                  <c:v>0.9214026186</c:v>
                </c:pt>
                <c:pt idx="59">
                  <c:v>0.91183025</c:v>
                </c:pt>
                <c:pt idx="60">
                  <c:v>0.9153733241</c:v>
                </c:pt>
                <c:pt idx="61">
                  <c:v>0.9334434915</c:v>
                </c:pt>
                <c:pt idx="62">
                  <c:v>0.9322728896</c:v>
                </c:pt>
                <c:pt idx="63">
                  <c:v>0.8894517648</c:v>
                </c:pt>
                <c:pt idx="64">
                  <c:v>0.9026386891</c:v>
                </c:pt>
                <c:pt idx="65">
                  <c:v>0.9030720058</c:v>
                </c:pt>
                <c:pt idx="66">
                  <c:v>0.8922551883</c:v>
                </c:pt>
                <c:pt idx="67">
                  <c:v>0.9076924956</c:v>
                </c:pt>
                <c:pt idx="68">
                  <c:v>0.9073093682</c:v>
                </c:pt>
                <c:pt idx="69">
                  <c:v>0.9188493101</c:v>
                </c:pt>
                <c:pt idx="70">
                  <c:v>0.9208889704</c:v>
                </c:pt>
                <c:pt idx="71">
                  <c:v>0.9297363012</c:v>
                </c:pt>
                <c:pt idx="72">
                  <c:v>0.9333922445</c:v>
                </c:pt>
                <c:pt idx="73">
                  <c:v>0.929223796</c:v>
                </c:pt>
                <c:pt idx="74">
                  <c:v>0.9266943389</c:v>
                </c:pt>
                <c:pt idx="75">
                  <c:v>0.921986694</c:v>
                </c:pt>
                <c:pt idx="76">
                  <c:v>0.9333902137</c:v>
                </c:pt>
                <c:pt idx="77">
                  <c:v>0.9393626574</c:v>
                </c:pt>
                <c:pt idx="78">
                  <c:v>0.9357930957</c:v>
                </c:pt>
                <c:pt idx="79">
                  <c:v>0.921978093</c:v>
                </c:pt>
                <c:pt idx="80">
                  <c:v>0.9047804365</c:v>
                </c:pt>
                <c:pt idx="81">
                  <c:v>0.9115123788</c:v>
                </c:pt>
                <c:pt idx="82">
                  <c:v>0.8995633374</c:v>
                </c:pt>
                <c:pt idx="83">
                  <c:v>0.9146741983</c:v>
                </c:pt>
                <c:pt idx="84">
                  <c:v>0.9172100567</c:v>
                </c:pt>
                <c:pt idx="85">
                  <c:v>0.9315543221</c:v>
                </c:pt>
                <c:pt idx="86">
                  <c:v>0.9512528918</c:v>
                </c:pt>
                <c:pt idx="87">
                  <c:v>0.9533297713</c:v>
                </c:pt>
                <c:pt idx="88">
                  <c:v>0.9517501107</c:v>
                </c:pt>
                <c:pt idx="89">
                  <c:v>0.9416276649</c:v>
                </c:pt>
                <c:pt idx="90">
                  <c:v>0.9194671147</c:v>
                </c:pt>
                <c:pt idx="91">
                  <c:v>0.927020886</c:v>
                </c:pt>
                <c:pt idx="92">
                  <c:v>0.9227417512</c:v>
                </c:pt>
                <c:pt idx="93">
                  <c:v>0.913494038</c:v>
                </c:pt>
                <c:pt idx="94">
                  <c:v>0.9172110745</c:v>
                </c:pt>
                <c:pt idx="95">
                  <c:v>0.9027478509</c:v>
                </c:pt>
                <c:pt idx="96">
                  <c:v>0.908809371</c:v>
                </c:pt>
                <c:pt idx="97">
                  <c:v>0.8913718749</c:v>
                </c:pt>
                <c:pt idx="98">
                  <c:v>0.8660351986</c:v>
                </c:pt>
                <c:pt idx="99">
                  <c:v>0.8699291389</c:v>
                </c:pt>
                <c:pt idx="100">
                  <c:v>0.867047737</c:v>
                </c:pt>
              </c:numCache>
            </c:numRef>
          </c:yVal>
        </c:ser>
        <c:dLbls>
          <c:numFmt formatCode="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3347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35"/>
          <c:min val="0.6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E3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617180"/>
                    </a:solidFill>
                    <a:latin typeface="Microsoft YaHei"/>
                    <a:ea typeface="Microsoft YaHei"/>
                    <a:cs typeface="Microsoft YaHei"/>
                  </a:rPr>
                  <a:t>测试期交易日序号（0 = 5月21日，100 = 10月19日）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61718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AE3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3475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ICIR</c:v>
          </c:tx>
          <c:spPr>
            <a:solidFill xmlns:a="http://schemas.openxmlformats.org/drawingml/2006/main">
              <a:srgbClr val="547AA5"/>
            </a:solidFill>
            <a:ln xmlns:a="http://schemas.openxmlformats.org/drawingml/2006/main" w="26670">
              <a:solidFill>
                <a:srgbClr val="547AA5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0.00%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-0.0030857468</c:v>
                </c:pt>
                <c:pt idx="3">
                  <c:v>-0.0133014811</c:v>
                </c:pt>
                <c:pt idx="4">
                  <c:v>-0.0388270623</c:v>
                </c:pt>
                <c:pt idx="5">
                  <c:v>-0.033239266</c:v>
                </c:pt>
                <c:pt idx="6">
                  <c:v>-0.0515260419</c:v>
                </c:pt>
                <c:pt idx="7">
                  <c:v>-0.0360891528</c:v>
                </c:pt>
                <c:pt idx="8">
                  <c:v>-0.039445626</c:v>
                </c:pt>
                <c:pt idx="9">
                  <c:v>-0.037421121</c:v>
                </c:pt>
                <c:pt idx="10">
                  <c:v>-0.0276182388</c:v>
                </c:pt>
                <c:pt idx="11">
                  <c:v>-0.0250220089</c:v>
                </c:pt>
                <c:pt idx="12">
                  <c:v>-0.055440682</c:v>
                </c:pt>
                <c:pt idx="13">
                  <c:v>-0.0476278138</c:v>
                </c:pt>
                <c:pt idx="14">
                  <c:v>-0.0655165851</c:v>
                </c:pt>
                <c:pt idx="15">
                  <c:v>-0.0781885062</c:v>
                </c:pt>
                <c:pt idx="16">
                  <c:v>-0.0639382349</c:v>
                </c:pt>
                <c:pt idx="17">
                  <c:v>-0.0486882622</c:v>
                </c:pt>
                <c:pt idx="18">
                  <c:v>-0.0280426354</c:v>
                </c:pt>
                <c:pt idx="19">
                  <c:v>-0.0143506109</c:v>
                </c:pt>
                <c:pt idx="20">
                  <c:v>0</c:v>
                </c:pt>
                <c:pt idx="21">
                  <c:v>0</c:v>
                </c:pt>
                <c:pt idx="22">
                  <c:v>-0.038378583</c:v>
                </c:pt>
                <c:pt idx="23">
                  <c:v>0</c:v>
                </c:pt>
                <c:pt idx="24">
                  <c:v>0</c:v>
                </c:pt>
                <c:pt idx="25">
                  <c:v>-0.0317444528</c:v>
                </c:pt>
                <c:pt idx="26">
                  <c:v>-0.0530919735</c:v>
                </c:pt>
                <c:pt idx="27">
                  <c:v>-0.0444239767</c:v>
                </c:pt>
                <c:pt idx="28">
                  <c:v>-0.0386036659</c:v>
                </c:pt>
                <c:pt idx="29">
                  <c:v>-0.0720465753</c:v>
                </c:pt>
                <c:pt idx="30">
                  <c:v>-0.0896969989</c:v>
                </c:pt>
                <c:pt idx="31">
                  <c:v>-0.1097307747</c:v>
                </c:pt>
                <c:pt idx="32">
                  <c:v>-0.1254434673</c:v>
                </c:pt>
                <c:pt idx="33">
                  <c:v>-0.1442777207</c:v>
                </c:pt>
                <c:pt idx="34">
                  <c:v>-0.1402143814</c:v>
                </c:pt>
                <c:pt idx="35">
                  <c:v>-0.1340009314</c:v>
                </c:pt>
                <c:pt idx="36">
                  <c:v>-0.1698171927</c:v>
                </c:pt>
                <c:pt idx="37">
                  <c:v>-0.1598980206</c:v>
                </c:pt>
                <c:pt idx="38">
                  <c:v>-0.161556099</c:v>
                </c:pt>
                <c:pt idx="39">
                  <c:v>-0.1637795676</c:v>
                </c:pt>
                <c:pt idx="40">
                  <c:v>-0.2115412828</c:v>
                </c:pt>
                <c:pt idx="41">
                  <c:v>-0.2353793568</c:v>
                </c:pt>
                <c:pt idx="42">
                  <c:v>-0.2297475245</c:v>
                </c:pt>
                <c:pt idx="43">
                  <c:v>-0.227756718</c:v>
                </c:pt>
                <c:pt idx="44">
                  <c:v>-0.21001766</c:v>
                </c:pt>
                <c:pt idx="45">
                  <c:v>-0.2344326003</c:v>
                </c:pt>
                <c:pt idx="46">
                  <c:v>-0.2085150819</c:v>
                </c:pt>
                <c:pt idx="47">
                  <c:v>-0.2121219172</c:v>
                </c:pt>
                <c:pt idx="48">
                  <c:v>-0.2048879131</c:v>
                </c:pt>
                <c:pt idx="49">
                  <c:v>-0.2149946014</c:v>
                </c:pt>
                <c:pt idx="50">
                  <c:v>-0.1965608431</c:v>
                </c:pt>
                <c:pt idx="51">
                  <c:v>-0.1698754217</c:v>
                </c:pt>
                <c:pt idx="52">
                  <c:v>-0.1654768615</c:v>
                </c:pt>
                <c:pt idx="53">
                  <c:v>-0.1593325945</c:v>
                </c:pt>
                <c:pt idx="54">
                  <c:v>-0.1460855869</c:v>
                </c:pt>
                <c:pt idx="55">
                  <c:v>-0.1435375649</c:v>
                </c:pt>
                <c:pt idx="56">
                  <c:v>-0.1321996572</c:v>
                </c:pt>
                <c:pt idx="57">
                  <c:v>-0.1285023802</c:v>
                </c:pt>
                <c:pt idx="58">
                  <c:v>-0.1102399651</c:v>
                </c:pt>
                <c:pt idx="59">
                  <c:v>-0.1233996683</c:v>
                </c:pt>
                <c:pt idx="60">
                  <c:v>-0.1309256891</c:v>
                </c:pt>
                <c:pt idx="61">
                  <c:v>-0.0958080838</c:v>
                </c:pt>
                <c:pt idx="62">
                  <c:v>-0.0814164571</c:v>
                </c:pt>
                <c:pt idx="63">
                  <c:v>-0.1411108859</c:v>
                </c:pt>
                <c:pt idx="64">
                  <c:v>-0.1226682051</c:v>
                </c:pt>
                <c:pt idx="65">
                  <c:v>-0.1248719598</c:v>
                </c:pt>
                <c:pt idx="66">
                  <c:v>-0.1523619073</c:v>
                </c:pt>
                <c:pt idx="67">
                  <c:v>-0.1510214675</c:v>
                </c:pt>
                <c:pt idx="68">
                  <c:v>-0.1489859319</c:v>
                </c:pt>
                <c:pt idx="69">
                  <c:v>-0.1453322193</c:v>
                </c:pt>
                <c:pt idx="70">
                  <c:v>-0.1437727796</c:v>
                </c:pt>
                <c:pt idx="71">
                  <c:v>-0.1405250062</c:v>
                </c:pt>
                <c:pt idx="72">
                  <c:v>-0.131401919</c:v>
                </c:pt>
                <c:pt idx="73">
                  <c:v>-0.1428581969</c:v>
                </c:pt>
                <c:pt idx="74">
                  <c:v>-0.1366048493</c:v>
                </c:pt>
                <c:pt idx="75">
                  <c:v>-0.1365835409</c:v>
                </c:pt>
                <c:pt idx="76">
                  <c:v>-0.1262189309</c:v>
                </c:pt>
                <c:pt idx="77">
                  <c:v>-0.1194590945</c:v>
                </c:pt>
                <c:pt idx="78">
                  <c:v>-0.1179519179</c:v>
                </c:pt>
                <c:pt idx="79">
                  <c:v>-0.1347246481</c:v>
                </c:pt>
                <c:pt idx="80">
                  <c:v>-0.1596027325</c:v>
                </c:pt>
                <c:pt idx="81">
                  <c:v>-0.1514945783</c:v>
                </c:pt>
                <c:pt idx="82">
                  <c:v>-0.1689125166</c:v>
                </c:pt>
                <c:pt idx="83">
                  <c:v>-0.1678574491</c:v>
                </c:pt>
                <c:pt idx="84">
                  <c:v>-0.1716219041</c:v>
                </c:pt>
                <c:pt idx="85">
                  <c:v>-0.1638154287</c:v>
                </c:pt>
                <c:pt idx="86">
                  <c:v>-0.1452186771</c:v>
                </c:pt>
                <c:pt idx="87">
                  <c:v>-0.1459981582</c:v>
                </c:pt>
                <c:pt idx="88">
                  <c:v>-0.1419887619</c:v>
                </c:pt>
                <c:pt idx="89">
                  <c:v>-0.1526902454</c:v>
                </c:pt>
                <c:pt idx="90">
                  <c:v>-0.1780251513</c:v>
                </c:pt>
                <c:pt idx="91">
                  <c:v>-0.1659716636</c:v>
                </c:pt>
                <c:pt idx="92">
                  <c:v>-0.1749700551</c:v>
                </c:pt>
                <c:pt idx="93">
                  <c:v>-0.1737552405</c:v>
                </c:pt>
                <c:pt idx="94">
                  <c:v>-0.1676569245</c:v>
                </c:pt>
                <c:pt idx="95">
                  <c:v>-0.1733787264</c:v>
                </c:pt>
                <c:pt idx="96">
                  <c:v>-0.1749223765</c:v>
                </c:pt>
                <c:pt idx="97">
                  <c:v>-0.1900682975</c:v>
                </c:pt>
                <c:pt idx="98">
                  <c:v>-0.2181768774</c:v>
                </c:pt>
                <c:pt idx="99">
                  <c:v>-0.2090885888</c:v>
                </c:pt>
                <c:pt idx="100">
                  <c:v>-0.2150213062</c:v>
                </c:pt>
              </c:numCache>
            </c:numRef>
          </c:yVal>
        </c:ser>
        <c:ser>
          <c:idx val="1"/>
          <c:order val="1"/>
          <c:tx>
            <c:v>Ridge</c:v>
          </c:tx>
          <c:spPr>
            <a:solidFill xmlns:a="http://schemas.openxmlformats.org/drawingml/2006/main">
              <a:srgbClr val="D99240"/>
            </a:solidFill>
            <a:ln xmlns:a="http://schemas.openxmlformats.org/drawingml/2006/main" w="26670">
              <a:solidFill>
                <a:srgbClr val="D99240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0.00%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-0.0288261473</c:v>
                </c:pt>
                <c:pt idx="4">
                  <c:v>-0.043832866</c:v>
                </c:pt>
                <c:pt idx="5">
                  <c:v>-0.0373848701</c:v>
                </c:pt>
                <c:pt idx="6">
                  <c:v>-0.0630183916</c:v>
                </c:pt>
                <c:pt idx="7">
                  <c:v>-0.0686341514</c:v>
                </c:pt>
                <c:pt idx="8">
                  <c:v>-0.0541577097</c:v>
                </c:pt>
                <c:pt idx="9">
                  <c:v>-0.0417129739</c:v>
                </c:pt>
                <c:pt idx="10">
                  <c:v>-0.0232060909</c:v>
                </c:pt>
                <c:pt idx="11">
                  <c:v>-0.0239308273</c:v>
                </c:pt>
                <c:pt idx="12">
                  <c:v>-0.0589183506</c:v>
                </c:pt>
                <c:pt idx="13">
                  <c:v>-0.0181949945</c:v>
                </c:pt>
                <c:pt idx="14">
                  <c:v>-0.0344192329</c:v>
                </c:pt>
                <c:pt idx="15">
                  <c:v>-0.0340185454</c:v>
                </c:pt>
                <c:pt idx="16">
                  <c:v>-0.0573009741</c:v>
                </c:pt>
                <c:pt idx="17">
                  <c:v>-0.0183488248</c:v>
                </c:pt>
                <c:pt idx="18">
                  <c:v>-0.0093809088</c:v>
                </c:pt>
                <c:pt idx="19">
                  <c:v>-0.0218934635</c:v>
                </c:pt>
                <c:pt idx="20">
                  <c:v>-0.0173498876</c:v>
                </c:pt>
                <c:pt idx="21">
                  <c:v>-0.0221775534</c:v>
                </c:pt>
                <c:pt idx="22">
                  <c:v>-0.0154018442</c:v>
                </c:pt>
                <c:pt idx="23">
                  <c:v>0</c:v>
                </c:pt>
                <c:pt idx="24">
                  <c:v>-0.0016500757</c:v>
                </c:pt>
                <c:pt idx="25">
                  <c:v>-0.0330217532</c:v>
                </c:pt>
                <c:pt idx="26">
                  <c:v>-0.0549066535</c:v>
                </c:pt>
                <c:pt idx="27">
                  <c:v>-0.0241523287</c:v>
                </c:pt>
                <c:pt idx="28">
                  <c:v>-0.0071164306</c:v>
                </c:pt>
                <c:pt idx="29">
                  <c:v>-0.0061008903</c:v>
                </c:pt>
                <c:pt idx="30">
                  <c:v>0</c:v>
                </c:pt>
                <c:pt idx="31">
                  <c:v>-0.0385634795</c:v>
                </c:pt>
                <c:pt idx="32">
                  <c:v>-0.0647294439</c:v>
                </c:pt>
                <c:pt idx="33">
                  <c:v>-0.112055793</c:v>
                </c:pt>
                <c:pt idx="34">
                  <c:v>-0.1151058534</c:v>
                </c:pt>
                <c:pt idx="35">
                  <c:v>-0.1248176033</c:v>
                </c:pt>
                <c:pt idx="36">
                  <c:v>-0.1889947514</c:v>
                </c:pt>
                <c:pt idx="37">
                  <c:v>-0.1618499411</c:v>
                </c:pt>
                <c:pt idx="38">
                  <c:v>-0.1802665179</c:v>
                </c:pt>
                <c:pt idx="39">
                  <c:v>-0.201594704</c:v>
                </c:pt>
                <c:pt idx="40">
                  <c:v>-0.2548645145</c:v>
                </c:pt>
                <c:pt idx="41">
                  <c:v>-0.2892492001</c:v>
                </c:pt>
                <c:pt idx="42">
                  <c:v>-0.2658009881</c:v>
                </c:pt>
                <c:pt idx="43">
                  <c:v>-0.2743400237</c:v>
                </c:pt>
                <c:pt idx="44">
                  <c:v>-0.2546827242</c:v>
                </c:pt>
                <c:pt idx="45">
                  <c:v>-0.266407768</c:v>
                </c:pt>
                <c:pt idx="46">
                  <c:v>-0.2464328183</c:v>
                </c:pt>
                <c:pt idx="47">
                  <c:v>-0.2588366471</c:v>
                </c:pt>
                <c:pt idx="48">
                  <c:v>-0.2780323647</c:v>
                </c:pt>
                <c:pt idx="49">
                  <c:v>-0.3348068675</c:v>
                </c:pt>
                <c:pt idx="50">
                  <c:v>-0.298243095</c:v>
                </c:pt>
                <c:pt idx="51">
                  <c:v>-0.3082824814</c:v>
                </c:pt>
                <c:pt idx="52">
                  <c:v>-0.2548224047</c:v>
                </c:pt>
                <c:pt idx="53">
                  <c:v>-0.2333575408</c:v>
                </c:pt>
                <c:pt idx="54">
                  <c:v>-0.2228011434</c:v>
                </c:pt>
                <c:pt idx="55">
                  <c:v>-0.1980029811</c:v>
                </c:pt>
                <c:pt idx="56">
                  <c:v>-0.1977222108</c:v>
                </c:pt>
                <c:pt idx="57">
                  <c:v>-0.1938999214</c:v>
                </c:pt>
                <c:pt idx="58">
                  <c:v>-0.17801233</c:v>
                </c:pt>
                <c:pt idx="59">
                  <c:v>-0.1895156266</c:v>
                </c:pt>
                <c:pt idx="60">
                  <c:v>-0.1629406163</c:v>
                </c:pt>
                <c:pt idx="61">
                  <c:v>-0.1256732462</c:v>
                </c:pt>
                <c:pt idx="62">
                  <c:v>-0.1267975585</c:v>
                </c:pt>
                <c:pt idx="63">
                  <c:v>-0.2041339509</c:v>
                </c:pt>
                <c:pt idx="64">
                  <c:v>-0.1947420916</c:v>
                </c:pt>
                <c:pt idx="65">
                  <c:v>-0.1926665048</c:v>
                </c:pt>
                <c:pt idx="66">
                  <c:v>-0.2163838666</c:v>
                </c:pt>
                <c:pt idx="67">
                  <c:v>-0.2099030162</c:v>
                </c:pt>
                <c:pt idx="68">
                  <c:v>-0.2074557438</c:v>
                </c:pt>
                <c:pt idx="69">
                  <c:v>-0.2000811752</c:v>
                </c:pt>
                <c:pt idx="70">
                  <c:v>-0.1978710053</c:v>
                </c:pt>
                <c:pt idx="71">
                  <c:v>-0.1883657783</c:v>
                </c:pt>
                <c:pt idx="72">
                  <c:v>-0.1870195646</c:v>
                </c:pt>
                <c:pt idx="73">
                  <c:v>-0.1846464683</c:v>
                </c:pt>
                <c:pt idx="74">
                  <c:v>-0.1725567929</c:v>
                </c:pt>
                <c:pt idx="75">
                  <c:v>-0.1996217447</c:v>
                </c:pt>
                <c:pt idx="76">
                  <c:v>-0.1697743946</c:v>
                </c:pt>
                <c:pt idx="77">
                  <c:v>-0.171487455</c:v>
                </c:pt>
                <c:pt idx="78">
                  <c:v>-0.1681234021</c:v>
                </c:pt>
                <c:pt idx="79">
                  <c:v>-0.1848055487</c:v>
                </c:pt>
                <c:pt idx="80">
                  <c:v>-0.1978777181</c:v>
                </c:pt>
                <c:pt idx="81">
                  <c:v>-0.1730052782</c:v>
                </c:pt>
                <c:pt idx="82">
                  <c:v>-0.1703777487</c:v>
                </c:pt>
                <c:pt idx="83">
                  <c:v>-0.1329514006</c:v>
                </c:pt>
                <c:pt idx="84">
                  <c:v>-0.1316618295</c:v>
                </c:pt>
                <c:pt idx="85">
                  <c:v>-0.1089171014</c:v>
                </c:pt>
                <c:pt idx="86">
                  <c:v>-0.0853665809</c:v>
                </c:pt>
                <c:pt idx="87">
                  <c:v>-0.0845502434</c:v>
                </c:pt>
                <c:pt idx="88">
                  <c:v>-0.0594803865</c:v>
                </c:pt>
                <c:pt idx="89">
                  <c:v>-0.0849825738</c:v>
                </c:pt>
                <c:pt idx="90">
                  <c:v>-0.148162769</c:v>
                </c:pt>
                <c:pt idx="91">
                  <c:v>-0.1317939935</c:v>
                </c:pt>
                <c:pt idx="92">
                  <c:v>-0.1550126028</c:v>
                </c:pt>
                <c:pt idx="93">
                  <c:v>-0.1811354142</c:v>
                </c:pt>
                <c:pt idx="94">
                  <c:v>-0.1841315874</c:v>
                </c:pt>
                <c:pt idx="95">
                  <c:v>-0.2180300618</c:v>
                </c:pt>
                <c:pt idx="96">
                  <c:v>-0.2085849273</c:v>
                </c:pt>
                <c:pt idx="97">
                  <c:v>-0.2250429399</c:v>
                </c:pt>
                <c:pt idx="98">
                  <c:v>-0.2375049683</c:v>
                </c:pt>
                <c:pt idx="99">
                  <c:v>-0.2352976289</c:v>
                </c:pt>
                <c:pt idx="100">
                  <c:v>-0.2449252264</c:v>
                </c:pt>
              </c:numCache>
            </c:numRef>
          </c:yVal>
        </c:ser>
        <c:ser>
          <c:idx val="2"/>
          <c:order val="2"/>
          <c:tx>
            <c:v>LightGBM 31叶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26670">
              <a:solidFill>
                <a:srgbClr val="167C80"/>
              </a:solidFill>
            </a:ln>
          </c:spPr>
          <c:marker>
            <c:symbol val="none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Data'!$F$2:$F$102</c:f>
              <c:numCache>
                <c:formatCode>0.00%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-0.0026627858</c:v>
                </c:pt>
                <c:pt idx="3">
                  <c:v>-0.0206576198</c:v>
                </c:pt>
                <c:pt idx="4">
                  <c:v>-0.0377893087</c:v>
                </c:pt>
                <c:pt idx="5">
                  <c:v>-0.0309809955</c:v>
                </c:pt>
                <c:pt idx="6">
                  <c:v>-0.0415960603</c:v>
                </c:pt>
                <c:pt idx="7">
                  <c:v>-0.0113791603</c:v>
                </c:pt>
                <c:pt idx="8">
                  <c:v>-0.0262415133</c:v>
                </c:pt>
                <c:pt idx="9">
                  <c:v>-0.0303627668</c:v>
                </c:pt>
                <c:pt idx="10">
                  <c:v>-0.0404808239</c:v>
                </c:pt>
                <c:pt idx="11">
                  <c:v>-0.0312447572</c:v>
                </c:pt>
                <c:pt idx="12">
                  <c:v>-0.0649876336</c:v>
                </c:pt>
                <c:pt idx="13">
                  <c:v>-0.0459554495</c:v>
                </c:pt>
                <c:pt idx="14">
                  <c:v>-0.0647674558</c:v>
                </c:pt>
                <c:pt idx="15">
                  <c:v>-0.064020981</c:v>
                </c:pt>
                <c:pt idx="16">
                  <c:v>-0.0578789722</c:v>
                </c:pt>
                <c:pt idx="17">
                  <c:v>-0.0039651857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-0.0005245675</c:v>
                </c:pt>
                <c:pt idx="22">
                  <c:v>-0.0138703749</c:v>
                </c:pt>
                <c:pt idx="23">
                  <c:v>-0.0021159736</c:v>
                </c:pt>
                <c:pt idx="24">
                  <c:v>0</c:v>
                </c:pt>
                <c:pt idx="25">
                  <c:v>-0.0332820941</c:v>
                </c:pt>
                <c:pt idx="26">
                  <c:v>-0.0568800411</c:v>
                </c:pt>
                <c:pt idx="27">
                  <c:v>-0.0010990467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-0.016411472</c:v>
                </c:pt>
                <c:pt idx="32">
                  <c:v>-0.0431444213</c:v>
                </c:pt>
                <c:pt idx="33">
                  <c:v>-0.0471782088</c:v>
                </c:pt>
                <c:pt idx="34">
                  <c:v>-0.0424576664</c:v>
                </c:pt>
                <c:pt idx="35">
                  <c:v>-0.0264958763</c:v>
                </c:pt>
                <c:pt idx="36">
                  <c:v>-0.0403967584</c:v>
                </c:pt>
                <c:pt idx="37">
                  <c:v>-0.0278120263</c:v>
                </c:pt>
                <c:pt idx="38">
                  <c:v>-0.0136284293</c:v>
                </c:pt>
                <c:pt idx="39">
                  <c:v>-0.0157874857</c:v>
                </c:pt>
                <c:pt idx="40">
                  <c:v>-0.03535909</c:v>
                </c:pt>
                <c:pt idx="41">
                  <c:v>-0.0467182043</c:v>
                </c:pt>
                <c:pt idx="42">
                  <c:v>-0.0542371719</c:v>
                </c:pt>
                <c:pt idx="43">
                  <c:v>-0.0693447</c:v>
                </c:pt>
                <c:pt idx="44">
                  <c:v>-0.0418032274</c:v>
                </c:pt>
                <c:pt idx="45">
                  <c:v>-0.080689842</c:v>
                </c:pt>
                <c:pt idx="46">
                  <c:v>-0.054250793</c:v>
                </c:pt>
                <c:pt idx="47">
                  <c:v>-0.046548027</c:v>
                </c:pt>
                <c:pt idx="48">
                  <c:v>-0.0461807158</c:v>
                </c:pt>
                <c:pt idx="49">
                  <c:v>-0.0654056096</c:v>
                </c:pt>
                <c:pt idx="50">
                  <c:v>-0.0359982473</c:v>
                </c:pt>
                <c:pt idx="51">
                  <c:v>-0.0286571479</c:v>
                </c:pt>
                <c:pt idx="52">
                  <c:v>-0.0062508112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-0.0132343855</c:v>
                </c:pt>
                <c:pt idx="58">
                  <c:v>0</c:v>
                </c:pt>
                <c:pt idx="59">
                  <c:v>-0.0141270892</c:v>
                </c:pt>
                <c:pt idx="60">
                  <c:v>-0.0070851658</c:v>
                </c:pt>
                <c:pt idx="61">
                  <c:v>0</c:v>
                </c:pt>
                <c:pt idx="62">
                  <c:v>0</c:v>
                </c:pt>
                <c:pt idx="63">
                  <c:v>-0.0806484663</c:v>
                </c:pt>
                <c:pt idx="64">
                  <c:v>-0.0614052194</c:v>
                </c:pt>
                <c:pt idx="65">
                  <c:v>-0.0615329132</c:v>
                </c:pt>
                <c:pt idx="66">
                  <c:v>-0.0928817087</c:v>
                </c:pt>
                <c:pt idx="67">
                  <c:v>-0.0844978516</c:v>
                </c:pt>
                <c:pt idx="68">
                  <c:v>-0.0721256859</c:v>
                </c:pt>
                <c:pt idx="69">
                  <c:v>-0.065036019</c:v>
                </c:pt>
                <c:pt idx="70">
                  <c:v>-0.0684398837</c:v>
                </c:pt>
                <c:pt idx="71">
                  <c:v>-0.0459146001</c:v>
                </c:pt>
                <c:pt idx="72">
                  <c:v>-0.0498494484</c:v>
                </c:pt>
                <c:pt idx="73">
                  <c:v>-0.0439332306</c:v>
                </c:pt>
                <c:pt idx="74">
                  <c:v>-0.0379616373</c:v>
                </c:pt>
                <c:pt idx="75">
                  <c:v>-0.0506290918</c:v>
                </c:pt>
                <c:pt idx="76">
                  <c:v>-0.0212085807</c:v>
                </c:pt>
                <c:pt idx="77">
                  <c:v>-0.0351766532</c:v>
                </c:pt>
                <c:pt idx="78">
                  <c:v>-0.0305468324</c:v>
                </c:pt>
                <c:pt idx="79">
                  <c:v>-0.0461183377</c:v>
                </c:pt>
                <c:pt idx="80">
                  <c:v>-0.0488517944</c:v>
                </c:pt>
                <c:pt idx="81">
                  <c:v>-0.0132768477</c:v>
                </c:pt>
                <c:pt idx="82">
                  <c:v>-0.0112071695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-0.0313542922</c:v>
                </c:pt>
                <c:pt idx="90">
                  <c:v>-0.094787816</c:v>
                </c:pt>
                <c:pt idx="91">
                  <c:v>-0.0724102876</c:v>
                </c:pt>
                <c:pt idx="92">
                  <c:v>-0.0960469868</c:v>
                </c:pt>
                <c:pt idx="93">
                  <c:v>-0.1266539987</c:v>
                </c:pt>
                <c:pt idx="94">
                  <c:v>-0.1402271391</c:v>
                </c:pt>
                <c:pt idx="95">
                  <c:v>-0.165752368</c:v>
                </c:pt>
                <c:pt idx="96">
                  <c:v>-0.1566982166</c:v>
                </c:pt>
                <c:pt idx="97">
                  <c:v>-0.1774483473</c:v>
                </c:pt>
                <c:pt idx="98">
                  <c:v>-0.2002580871</c:v>
                </c:pt>
                <c:pt idx="99">
                  <c:v>-0.2038917681</c:v>
                </c:pt>
                <c:pt idx="100">
                  <c:v>-0.2129573389</c:v>
                </c:pt>
              </c:numCache>
            </c:numRef>
          </c:yVal>
        </c:ser>
        <c:ser>
          <c:idx val="3"/>
          <c:order val="3"/>
          <c:tx>
            <c:v>LightGBM 15叶迁移</c:v>
          </c:tx>
          <c:spPr>
            <a:solidFill xmlns:a="http://schemas.openxmlformats.org/drawingml/2006/main">
              <a:srgbClr val="7357A3"/>
            </a:solidFill>
            <a:ln xmlns:a="http://schemas.openxmlformats.org/drawingml/2006/main" w="26670">
              <a:solidFill>
                <a:srgbClr val="7357A3"/>
              </a:solidFill>
            </a:ln>
          </c:spPr>
          <c:marker>
            <c:symbol val="none"/>
          </c:marker>
          <c:xVal>
            <c:numRef>
              <c:f>'Chart Data'!$G$2:$G$102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Data'!$H$2:$H$102</c:f>
              <c:numCache>
                <c:formatCode>0.00%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-0.0100479859</c:v>
                </c:pt>
                <c:pt idx="3">
                  <c:v>-0.024239689</c:v>
                </c:pt>
                <c:pt idx="4">
                  <c:v>-0.0371311398</c:v>
                </c:pt>
                <c:pt idx="5">
                  <c:v>-0.0371809879</c:v>
                </c:pt>
                <c:pt idx="6">
                  <c:v>-0.0418491178</c:v>
                </c:pt>
                <c:pt idx="7">
                  <c:v>-0.0200160339</c:v>
                </c:pt>
                <c:pt idx="8">
                  <c:v>-0.042491739</c:v>
                </c:pt>
                <c:pt idx="9">
                  <c:v>-0.0489544155</c:v>
                </c:pt>
                <c:pt idx="10">
                  <c:v>-0.0586356468</c:v>
                </c:pt>
                <c:pt idx="11">
                  <c:v>-0.0512846289</c:v>
                </c:pt>
                <c:pt idx="12">
                  <c:v>-0.0727702908</c:v>
                </c:pt>
                <c:pt idx="13">
                  <c:v>-0.0658456938</c:v>
                </c:pt>
                <c:pt idx="14">
                  <c:v>-0.0721180536</c:v>
                </c:pt>
                <c:pt idx="15">
                  <c:v>-0.0723493938</c:v>
                </c:pt>
                <c:pt idx="16">
                  <c:v>-0.0490167864</c:v>
                </c:pt>
                <c:pt idx="17">
                  <c:v>-0.0411766281</c:v>
                </c:pt>
                <c:pt idx="18">
                  <c:v>-0.030539292</c:v>
                </c:pt>
                <c:pt idx="19">
                  <c:v>-0.0491002907</c:v>
                </c:pt>
                <c:pt idx="20">
                  <c:v>-0.0660472094</c:v>
                </c:pt>
                <c:pt idx="21">
                  <c:v>-0.0636618772</c:v>
                </c:pt>
                <c:pt idx="22">
                  <c:v>-0.055046371</c:v>
                </c:pt>
                <c:pt idx="23">
                  <c:v>-0.0726437835</c:v>
                </c:pt>
                <c:pt idx="24">
                  <c:v>-0.0904924171</c:v>
                </c:pt>
                <c:pt idx="25">
                  <c:v>-0.0989324505</c:v>
                </c:pt>
                <c:pt idx="26">
                  <c:v>-0.1042846694</c:v>
                </c:pt>
                <c:pt idx="27">
                  <c:v>-0.1084472978</c:v>
                </c:pt>
                <c:pt idx="28">
                  <c:v>-0.0923912629</c:v>
                </c:pt>
                <c:pt idx="29">
                  <c:v>-0.0815865586</c:v>
                </c:pt>
                <c:pt idx="30">
                  <c:v>-0.056042793</c:v>
                </c:pt>
                <c:pt idx="31">
                  <c:v>-0.0665938403</c:v>
                </c:pt>
                <c:pt idx="32">
                  <c:v>-0.0851315371</c:v>
                </c:pt>
                <c:pt idx="33">
                  <c:v>-0.0962509751</c:v>
                </c:pt>
                <c:pt idx="34">
                  <c:v>-0.1022852178</c:v>
                </c:pt>
                <c:pt idx="35">
                  <c:v>-0.0759864702</c:v>
                </c:pt>
                <c:pt idx="36">
                  <c:v>-0.1093122936</c:v>
                </c:pt>
                <c:pt idx="37">
                  <c:v>-0.0828756032</c:v>
                </c:pt>
                <c:pt idx="38">
                  <c:v>-0.0722436452</c:v>
                </c:pt>
                <c:pt idx="39">
                  <c:v>-0.0757336089</c:v>
                </c:pt>
                <c:pt idx="40">
                  <c:v>-0.0876534348</c:v>
                </c:pt>
                <c:pt idx="41">
                  <c:v>-0.0846026571</c:v>
                </c:pt>
                <c:pt idx="42">
                  <c:v>-0.0959547036</c:v>
                </c:pt>
                <c:pt idx="43">
                  <c:v>-0.0998754025</c:v>
                </c:pt>
                <c:pt idx="44">
                  <c:v>-0.0636429831</c:v>
                </c:pt>
                <c:pt idx="45">
                  <c:v>-0.0850198424</c:v>
                </c:pt>
                <c:pt idx="46">
                  <c:v>-0.0488051091</c:v>
                </c:pt>
                <c:pt idx="47">
                  <c:v>-0.0443681727</c:v>
                </c:pt>
                <c:pt idx="48">
                  <c:v>-0.0323222205</c:v>
                </c:pt>
                <c:pt idx="49">
                  <c:v>-0.052758294</c:v>
                </c:pt>
                <c:pt idx="50">
                  <c:v>-0.0319058844</c:v>
                </c:pt>
                <c:pt idx="51">
                  <c:v>-0.0149580776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-0.0157824268</c:v>
                </c:pt>
                <c:pt idx="60">
                  <c:v>-0.0247961833</c:v>
                </c:pt>
                <c:pt idx="61">
                  <c:v>0</c:v>
                </c:pt>
                <c:pt idx="62">
                  <c:v>-0.0008901094</c:v>
                </c:pt>
                <c:pt idx="63">
                  <c:v>-0.0405178722</c:v>
                </c:pt>
                <c:pt idx="64">
                  <c:v>-0.0348689621</c:v>
                </c:pt>
                <c:pt idx="65">
                  <c:v>-0.0347494431</c:v>
                </c:pt>
                <c:pt idx="66">
                  <c:v>-0.0392811668</c:v>
                </c:pt>
                <c:pt idx="67">
                  <c:v>-0.024424444</c:v>
                </c:pt>
                <c:pt idx="68">
                  <c:v>-0.028071695</c:v>
                </c:pt>
                <c:pt idx="69">
                  <c:v>-0.0256702559</c:v>
                </c:pt>
                <c:pt idx="70">
                  <c:v>-0.0216121208</c:v>
                </c:pt>
                <c:pt idx="71">
                  <c:v>-0.0092861955</c:v>
                </c:pt>
                <c:pt idx="72">
                  <c:v>-0.0002827528</c:v>
                </c:pt>
                <c:pt idx="73">
                  <c:v>-0.0022382529</c:v>
                </c:pt>
                <c:pt idx="74">
                  <c:v>-0.0132486187</c:v>
                </c:pt>
                <c:pt idx="75">
                  <c:v>-0.0105009971</c:v>
                </c:pt>
                <c:pt idx="76">
                  <c:v>-0.0095040405</c:v>
                </c:pt>
                <c:pt idx="77">
                  <c:v>0</c:v>
                </c:pt>
                <c:pt idx="78">
                  <c:v>-0.0068650419</c:v>
                </c:pt>
                <c:pt idx="79">
                  <c:v>-0.0209733279</c:v>
                </c:pt>
                <c:pt idx="80">
                  <c:v>-0.0389819353</c:v>
                </c:pt>
                <c:pt idx="81">
                  <c:v>-0.0306200589</c:v>
                </c:pt>
                <c:pt idx="82">
                  <c:v>-0.0382898362</c:v>
                </c:pt>
                <c:pt idx="83">
                  <c:v>-0.0257727672</c:v>
                </c:pt>
                <c:pt idx="84">
                  <c:v>-0.0197634585</c:v>
                </c:pt>
                <c:pt idx="85">
                  <c:v>-0.0164157539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-0.0147005563</c:v>
                </c:pt>
                <c:pt idx="90">
                  <c:v>-0.0347684409</c:v>
                </c:pt>
                <c:pt idx="91">
                  <c:v>-0.0296130269</c:v>
                </c:pt>
                <c:pt idx="92">
                  <c:v>-0.0337555901</c:v>
                </c:pt>
                <c:pt idx="93">
                  <c:v>-0.0396965436</c:v>
                </c:pt>
                <c:pt idx="94">
                  <c:v>-0.0397225342</c:v>
                </c:pt>
                <c:pt idx="95">
                  <c:v>-0.0529472235</c:v>
                </c:pt>
                <c:pt idx="96">
                  <c:v>-0.0490343813</c:v>
                </c:pt>
                <c:pt idx="97">
                  <c:v>-0.0612368772</c:v>
                </c:pt>
                <c:pt idx="98">
                  <c:v>-0.0906357803</c:v>
                </c:pt>
                <c:pt idx="99">
                  <c:v>-0.0810357183</c:v>
                </c:pt>
                <c:pt idx="100">
                  <c:v>-0.0878370331</c:v>
                </c:pt>
              </c:numCache>
            </c:numRef>
          </c:yVal>
        </c:ser>
        <c:ser>
          <c:idx val="4"/>
          <c:order val="4"/>
          <c:tx>
            <c:v>成员等权</c:v>
          </c:tx>
          <c:spPr>
            <a:solidFill xmlns:a="http://schemas.openxmlformats.org/drawingml/2006/main">
              <a:srgbClr val="89929B"/>
            </a:solidFill>
            <a:ln xmlns:a="http://schemas.openxmlformats.org/drawingml/2006/main" w="26670">
              <a:solidFill>
                <a:srgbClr val="89929B"/>
              </a:solidFill>
            </a:ln>
          </c:spPr>
          <c:marker>
            <c:symbol val="none"/>
          </c:marker>
          <c:xVal>
            <c:numRef>
              <c:f>'Chart Data'!$I$2:$I$102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Data'!$J$2:$J$102</c:f>
              <c:numCache>
                <c:formatCode>0.00%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-0.0005544244</c:v>
                </c:pt>
                <c:pt idx="3">
                  <c:v>-0.0167556629</c:v>
                </c:pt>
                <c:pt idx="4">
                  <c:v>-0.0367955708</c:v>
                </c:pt>
                <c:pt idx="5">
                  <c:v>-0.0269790413</c:v>
                </c:pt>
                <c:pt idx="6">
                  <c:v>-0.0530845138</c:v>
                </c:pt>
                <c:pt idx="7">
                  <c:v>-0.0433696221</c:v>
                </c:pt>
                <c:pt idx="8">
                  <c:v>-0.0521020674</c:v>
                </c:pt>
                <c:pt idx="9">
                  <c:v>-0.0542947751</c:v>
                </c:pt>
                <c:pt idx="10">
                  <c:v>-0.0605085214</c:v>
                </c:pt>
                <c:pt idx="11">
                  <c:v>-0.0543928111</c:v>
                </c:pt>
                <c:pt idx="12">
                  <c:v>-0.079343203</c:v>
                </c:pt>
                <c:pt idx="13">
                  <c:v>-0.0661343085</c:v>
                </c:pt>
                <c:pt idx="14">
                  <c:v>-0.0794290329</c:v>
                </c:pt>
                <c:pt idx="15">
                  <c:v>-0.0882807171</c:v>
                </c:pt>
                <c:pt idx="16">
                  <c:v>-0.0808692306</c:v>
                </c:pt>
                <c:pt idx="17">
                  <c:v>-0.0601215533</c:v>
                </c:pt>
                <c:pt idx="18">
                  <c:v>-0.0501916893</c:v>
                </c:pt>
                <c:pt idx="19">
                  <c:v>-0.0546811642</c:v>
                </c:pt>
                <c:pt idx="20">
                  <c:v>-0.054621352</c:v>
                </c:pt>
                <c:pt idx="21">
                  <c:v>-0.050890601</c:v>
                </c:pt>
                <c:pt idx="22">
                  <c:v>-0.0496898388</c:v>
                </c:pt>
                <c:pt idx="23">
                  <c:v>-0.0602994945</c:v>
                </c:pt>
                <c:pt idx="24">
                  <c:v>-0.0741146939</c:v>
                </c:pt>
                <c:pt idx="25">
                  <c:v>-0.0962681487</c:v>
                </c:pt>
                <c:pt idx="26">
                  <c:v>-0.0995546314</c:v>
                </c:pt>
                <c:pt idx="27">
                  <c:v>-0.0848264675</c:v>
                </c:pt>
                <c:pt idx="28">
                  <c:v>-0.0666453597</c:v>
                </c:pt>
                <c:pt idx="29">
                  <c:v>-0.0731099627</c:v>
                </c:pt>
                <c:pt idx="30">
                  <c:v>-0.063927238</c:v>
                </c:pt>
                <c:pt idx="31">
                  <c:v>-0.0780829452</c:v>
                </c:pt>
                <c:pt idx="32">
                  <c:v>-0.1028300852</c:v>
                </c:pt>
                <c:pt idx="33">
                  <c:v>-0.1190321014</c:v>
                </c:pt>
                <c:pt idx="34">
                  <c:v>-0.1140324102</c:v>
                </c:pt>
                <c:pt idx="35">
                  <c:v>-0.1064597793</c:v>
                </c:pt>
                <c:pt idx="36">
                  <c:v>-0.146752539</c:v>
                </c:pt>
                <c:pt idx="37">
                  <c:v>-0.1338516918</c:v>
                </c:pt>
                <c:pt idx="38">
                  <c:v>-0.1331918528</c:v>
                </c:pt>
                <c:pt idx="39">
                  <c:v>-0.1395733143</c:v>
                </c:pt>
                <c:pt idx="40">
                  <c:v>-0.180732474</c:v>
                </c:pt>
                <c:pt idx="41">
                  <c:v>-0.2047479455</c:v>
                </c:pt>
                <c:pt idx="42">
                  <c:v>-0.1961297196</c:v>
                </c:pt>
                <c:pt idx="43">
                  <c:v>-0.2047326284</c:v>
                </c:pt>
                <c:pt idx="44">
                  <c:v>-0.1894491342</c:v>
                </c:pt>
                <c:pt idx="45">
                  <c:v>-0.2093576075</c:v>
                </c:pt>
                <c:pt idx="46">
                  <c:v>-0.1842566585</c:v>
                </c:pt>
                <c:pt idx="47">
                  <c:v>-0.1899524124</c:v>
                </c:pt>
                <c:pt idx="48">
                  <c:v>-0.1830866594</c:v>
                </c:pt>
                <c:pt idx="49">
                  <c:v>-0.2027352351</c:v>
                </c:pt>
                <c:pt idx="50">
                  <c:v>-0.1803840603</c:v>
                </c:pt>
                <c:pt idx="51">
                  <c:v>-0.1687833988</c:v>
                </c:pt>
                <c:pt idx="52">
                  <c:v>-0.1513176388</c:v>
                </c:pt>
                <c:pt idx="53">
                  <c:v>-0.1344406522</c:v>
                </c:pt>
                <c:pt idx="54">
                  <c:v>-0.1272108957</c:v>
                </c:pt>
                <c:pt idx="55">
                  <c:v>-0.1178460621</c:v>
                </c:pt>
                <c:pt idx="56">
                  <c:v>-0.1060853533</c:v>
                </c:pt>
                <c:pt idx="57">
                  <c:v>-0.1095532645</c:v>
                </c:pt>
                <c:pt idx="58">
                  <c:v>-0.0966323847</c:v>
                </c:pt>
                <c:pt idx="59">
                  <c:v>-0.1060173893</c:v>
                </c:pt>
                <c:pt idx="60">
                  <c:v>-0.1025436652</c:v>
                </c:pt>
                <c:pt idx="61">
                  <c:v>-0.0848271928</c:v>
                </c:pt>
                <c:pt idx="62">
                  <c:v>-0.0859748821</c:v>
                </c:pt>
                <c:pt idx="63">
                  <c:v>-0.1279578509</c:v>
                </c:pt>
                <c:pt idx="64">
                  <c:v>-0.1150290398</c:v>
                </c:pt>
                <c:pt idx="65">
                  <c:v>-0.1146042046</c:v>
                </c:pt>
                <c:pt idx="66">
                  <c:v>-0.1252093</c:v>
                </c:pt>
                <c:pt idx="67">
                  <c:v>-0.1100741536</c:v>
                </c:pt>
                <c:pt idx="68">
                  <c:v>-0.1104497819</c:v>
                </c:pt>
                <c:pt idx="69">
                  <c:v>-0.0991357161</c:v>
                </c:pt>
                <c:pt idx="70">
                  <c:v>-0.097135979</c:v>
                </c:pt>
                <c:pt idx="71">
                  <c:v>-0.0884618208</c:v>
                </c:pt>
                <c:pt idx="72">
                  <c:v>-0.0848774368</c:v>
                </c:pt>
                <c:pt idx="73">
                  <c:v>-0.0889642944</c:v>
                </c:pt>
                <c:pt idx="74">
                  <c:v>-0.0914442414</c:v>
                </c:pt>
                <c:pt idx="75">
                  <c:v>-0.0960597416</c:v>
                </c:pt>
                <c:pt idx="76">
                  <c:v>-0.0848794279</c:v>
                </c:pt>
                <c:pt idx="77">
                  <c:v>-0.0790238853</c:v>
                </c:pt>
                <c:pt idx="78">
                  <c:v>-0.0825235785</c:v>
                </c:pt>
                <c:pt idx="79">
                  <c:v>-0.0960681743</c:v>
                </c:pt>
                <c:pt idx="80">
                  <c:v>-0.1129292138</c:v>
                </c:pt>
                <c:pt idx="81">
                  <c:v>-0.1063290386</c:v>
                </c:pt>
                <c:pt idx="82">
                  <c:v>-0.1180441964</c:v>
                </c:pt>
                <c:pt idx="83">
                  <c:v>-0.1032291068</c:v>
                </c:pt>
                <c:pt idx="84">
                  <c:v>-0.1007428838</c:v>
                </c:pt>
                <c:pt idx="85">
                  <c:v>-0.0866793847</c:v>
                </c:pt>
                <c:pt idx="86">
                  <c:v>-0.0673663835</c:v>
                </c:pt>
                <c:pt idx="87">
                  <c:v>-0.0653301557</c:v>
                </c:pt>
                <c:pt idx="88">
                  <c:v>-0.0668788969</c:v>
                </c:pt>
                <c:pt idx="89">
                  <c:v>-0.0768032118</c:v>
                </c:pt>
                <c:pt idx="90">
                  <c:v>-0.0985300041</c:v>
                </c:pt>
                <c:pt idx="91">
                  <c:v>-0.091124086</c:v>
                </c:pt>
                <c:pt idx="92">
                  <c:v>-0.0953194635</c:v>
                </c:pt>
                <c:pt idx="93">
                  <c:v>-0.1043861673</c:v>
                </c:pt>
                <c:pt idx="94">
                  <c:v>-0.1007418859</c:v>
                </c:pt>
                <c:pt idx="95">
                  <c:v>-0.1149220147</c:v>
                </c:pt>
                <c:pt idx="96">
                  <c:v>-0.1089791393</c:v>
                </c:pt>
                <c:pt idx="97">
                  <c:v>-0.126075324</c:v>
                </c:pt>
                <c:pt idx="98">
                  <c:v>-0.1509160748</c:v>
                </c:pt>
                <c:pt idx="99">
                  <c:v>-0.1470983522</c:v>
                </c:pt>
                <c:pt idx="100">
                  <c:v>-0.1499233551</c:v>
                </c:pt>
              </c:numCache>
            </c:numRef>
          </c:yVal>
        </c:ser>
        <c:dLbls>
          <c:numFmt formatCode="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3347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0.4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E3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617180"/>
                    </a:solidFill>
                    <a:latin typeface="Microsoft YaHei"/>
                    <a:ea typeface="Microsoft YaHei"/>
                    <a:cs typeface="Microsoft YaHei"/>
                  </a:rPr>
                  <a:t>测试期交易日序号（0 = 5月21日，100 = 10月19日）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61718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AE3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3475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冻结拟合</c:v>
          </c:tx>
          <c:spPr>
            <a:solidFill xmlns:a="http://schemas.openxmlformats.org/drawingml/2006/main">
              <a:srgbClr val="A3BBD2"/>
            </a:solidFill>
            <a:ln xmlns:a="http://schemas.openxmlformats.org/drawingml/2006/main" w="0">
              <a:solidFill>
                <a:srgbClr val="A3BBD2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ICIR</c:v>
                </c:pt>
                <c:pt idx="1">
                  <c:v>Ridge</c:v>
                </c:pt>
                <c:pt idx="2">
                  <c:v>LightGBM 31叶</c:v>
                </c:pt>
                <c:pt idx="3">
                  <c:v>LightGBM 15叶迁移</c:v>
                </c:pt>
              </c:strCache>
            </c:strRef>
          </c:cat>
          <c:val>
            <c:numRef>
              <c:f>'Chart Data'!$B$2:$B$5</c:f>
              <c:numCache>
                <c:formatCode>0.00%</c:formatCode>
                <c:ptCount val="4"/>
                <c:pt idx="0">
                  <c:v>-0.1643874058</c:v>
                </c:pt>
                <c:pt idx="1">
                  <c:v>-0.2606289387</c:v>
                </c:pt>
                <c:pt idx="2">
                  <c:v>-0.1659789809</c:v>
                </c:pt>
                <c:pt idx="3">
                  <c:v>0.0125240298</c:v>
                </c:pt>
              </c:numCache>
            </c:numRef>
          </c:val>
        </c:ser>
        <c:ser>
          <c:idx val="1"/>
          <c:order val="1"/>
          <c:tx>
            <c:v>滚动更新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0">
              <a:solidFill>
                <a:srgbClr val="167C80"/>
              </a:solidFill>
            </a:ln>
          </c:spPr>
          <c:invertIfNegative val="0"/>
          <c:cat>
            <c:strRef>
              <c:f>'Chart Data'!$C$2:$C$5</c:f>
              <c:strCache>
                <c:ptCount val="4"/>
                <c:pt idx="0">
                  <c:v>ICIR</c:v>
                </c:pt>
                <c:pt idx="1">
                  <c:v>Ridge</c:v>
                </c:pt>
                <c:pt idx="2">
                  <c:v>LightGBM 31叶</c:v>
                </c:pt>
                <c:pt idx="3">
                  <c:v>LightGBM 15叶迁移</c:v>
                </c:pt>
              </c:strCache>
            </c:strRef>
          </c:cat>
          <c:val>
            <c:numRef>
              <c:f>'Chart Data'!$D$2:$D$5</c:f>
              <c:numCache>
                <c:formatCode>0.00%</c:formatCode>
                <c:ptCount val="4"/>
                <c:pt idx="0">
                  <c:v>-0.1536000552</c:v>
                </c:pt>
                <c:pt idx="1">
                  <c:v>-0.1866456423</c:v>
                </c:pt>
                <c:pt idx="2">
                  <c:v>0.0178233479</c:v>
                </c:pt>
                <c:pt idx="3">
                  <c:v>0.0560829807</c:v>
                </c:pt>
              </c:numCache>
            </c:numRef>
          </c:val>
        </c:ser>
        <c:dLbls>
          <c:numFmt formatCode="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3347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AE3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"/>
          <c:min val="-0.3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E3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3475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LightGBM 31叶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0">
              <a:solidFill>
                <a:srgbClr val="167C80"/>
              </a:solidFill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0 bp / 边</c:v>
                </c:pt>
                <c:pt idx="1">
                  <c:v>5 bp / 边</c:v>
                </c:pt>
                <c:pt idx="2">
                  <c:v>15 bp / 边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0.0178233479</c:v>
                </c:pt>
                <c:pt idx="1">
                  <c:v>-0.0022165744</c:v>
                </c:pt>
                <c:pt idx="2">
                  <c:v>-0.0411199053</c:v>
                </c:pt>
              </c:numCache>
            </c:numRef>
          </c:val>
        </c:ser>
        <c:ser>
          <c:idx val="1"/>
          <c:order val="1"/>
          <c:tx>
            <c:v>LightGBM 15叶迁移</c:v>
          </c:tx>
          <c:spPr>
            <a:solidFill xmlns:a="http://schemas.openxmlformats.org/drawingml/2006/main">
              <a:srgbClr val="7357A3"/>
            </a:solidFill>
            <a:ln xmlns:a="http://schemas.openxmlformats.org/drawingml/2006/main" w="0">
              <a:solidFill>
                <a:srgbClr val="7357A3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0 bp / 边</c:v>
                </c:pt>
                <c:pt idx="1">
                  <c:v>5 bp / 边</c:v>
                </c:pt>
                <c:pt idx="2">
                  <c:v>15 bp / 边</c:v>
                </c:pt>
              </c:strCache>
            </c:strRef>
          </c:cat>
          <c:val>
            <c:numRef>
              <c:f>'Chart Data'!$D$2:$D$4</c:f>
              <c:numCache>
                <c:formatCode>0.00%</c:formatCode>
                <c:ptCount val="3"/>
                <c:pt idx="0">
                  <c:v>0.0560829807</c:v>
                </c:pt>
                <c:pt idx="1">
                  <c:v>0.0351711349</c:v>
                </c:pt>
                <c:pt idx="2">
                  <c:v>-0.005418549</c:v>
                </c:pt>
              </c:numCache>
            </c:numRef>
          </c:val>
        </c:ser>
        <c:dLbls>
          <c:numFmt formatCode="0.00%;-0.00%;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3347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AE3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8"/>
          <c:min val="-0.08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E3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3475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原成交时点</c:v>
          </c:tx>
          <c:spPr>
            <a:solidFill xmlns:a="http://schemas.openxmlformats.org/drawingml/2006/main">
              <a:srgbClr val="A3BBD2"/>
            </a:solidFill>
            <a:ln xmlns:a="http://schemas.openxmlformats.org/drawingml/2006/main" w="0">
              <a:solidFill>
                <a:srgbClr val="A3BBD2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LightGBM 31叶</c:v>
                </c:pt>
                <c:pt idx="1">
                  <c:v>LightGBM 15叶迁移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0.0178233479</c:v>
                </c:pt>
                <c:pt idx="1">
                  <c:v>0.0560829807</c:v>
                </c:pt>
              </c:numCache>
            </c:numRef>
          </c:val>
        </c:ser>
        <c:ser>
          <c:idx val="1"/>
          <c:order val="1"/>
          <c:tx>
            <c:v>延迟1个交易日</c:v>
          </c:tx>
          <c:spPr>
            <a:solidFill xmlns:a="http://schemas.openxmlformats.org/drawingml/2006/main">
              <a:srgbClr val="D99240"/>
            </a:solidFill>
            <a:ln xmlns:a="http://schemas.openxmlformats.org/drawingml/2006/main" w="0">
              <a:solidFill>
                <a:srgbClr val="D99240"/>
              </a:solidFill>
            </a:ln>
          </c:spPr>
          <c:invertIfNegative val="0"/>
          <c:cat>
            <c:strRef>
              <c:f>'Chart Data'!$C$2:$C$3</c:f>
              <c:strCache>
                <c:ptCount val="2"/>
                <c:pt idx="0">
                  <c:v>LightGBM 31叶</c:v>
                </c:pt>
                <c:pt idx="1">
                  <c:v>LightGBM 15叶迁移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-0.0524156922</c:v>
                </c:pt>
                <c:pt idx="1">
                  <c:v>0.0084075834</c:v>
                </c:pt>
              </c:numCache>
            </c:numRef>
          </c:val>
        </c:ser>
        <c:dLbls>
          <c:numFmt formatCode="0.00%;-0.00%;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3347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AE3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8"/>
          <c:min val="-0.08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E3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3475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原主流程（现金门槛）</c:v>
          </c:tx>
          <c:spPr>
            <a:solidFill xmlns:a="http://schemas.openxmlformats.org/drawingml/2006/main">
              <a:srgbClr val="89929B"/>
            </a:solidFill>
            <a:ln xmlns:a="http://schemas.openxmlformats.org/drawingml/2006/main" w="26670">
              <a:solidFill>
                <a:srgbClr val="89929B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0.00%</c:formatCode>
                <c:ptCount val="10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</c:numCache>
            </c:numRef>
          </c:yVal>
        </c:ser>
        <c:ser>
          <c:idx val="1"/>
          <c:order val="1"/>
          <c:tx>
            <c:v>原月度选股（取消现金门槛）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26670">
              <a:solidFill>
                <a:srgbClr val="167C80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0.00%</c:formatCode>
                <c:ptCount val="101"/>
                <c:pt idx="0">
                  <c:v>1</c:v>
                </c:pt>
                <c:pt idx="1">
                  <c:v>0.9917792183</c:v>
                </c:pt>
                <c:pt idx="2">
                  <c:v>0.9823649396</c:v>
                </c:pt>
                <c:pt idx="3">
                  <c:v>0.9570087361</c:v>
                </c:pt>
                <c:pt idx="4">
                  <c:v>0.9260487189</c:v>
                </c:pt>
                <c:pt idx="5">
                  <c:v>0.9475461086</c:v>
                </c:pt>
                <c:pt idx="6">
                  <c:v>0.9387944977</c:v>
                </c:pt>
                <c:pt idx="7">
                  <c:v>0.9730999875</c:v>
                </c:pt>
                <c:pt idx="8">
                  <c:v>0.9871998002</c:v>
                </c:pt>
                <c:pt idx="9">
                  <c:v>0.983937739</c:v>
                </c:pt>
                <c:pt idx="10">
                  <c:v>0.9603523827</c:v>
                </c:pt>
                <c:pt idx="11">
                  <c:v>1.0097398919</c:v>
                </c:pt>
                <c:pt idx="12">
                  <c:v>1.0241259143</c:v>
                </c:pt>
                <c:pt idx="13">
                  <c:v>1.0359457117</c:v>
                </c:pt>
                <c:pt idx="14">
                  <c:v>1.0090304311</c:v>
                </c:pt>
                <c:pt idx="15">
                  <c:v>0.9647935661</c:v>
                </c:pt>
                <c:pt idx="16">
                  <c:v>0.98252066</c:v>
                </c:pt>
                <c:pt idx="17">
                  <c:v>1.0072574043</c:v>
                </c:pt>
                <c:pt idx="18">
                  <c:v>1.0192115828</c:v>
                </c:pt>
                <c:pt idx="19">
                  <c:v>1.0230025226</c:v>
                </c:pt>
                <c:pt idx="20">
                  <c:v>1.0052973896</c:v>
                </c:pt>
                <c:pt idx="21">
                  <c:v>1.000060581</c:v>
                </c:pt>
                <c:pt idx="22">
                  <c:v>1.0076936243</c:v>
                </c:pt>
                <c:pt idx="23">
                  <c:v>1.0022349253</c:v>
                </c:pt>
                <c:pt idx="24">
                  <c:v>0.9968132488</c:v>
                </c:pt>
                <c:pt idx="25">
                  <c:v>0.9719715709</c:v>
                </c:pt>
                <c:pt idx="26">
                  <c:v>0.9387150511</c:v>
                </c:pt>
                <c:pt idx="27">
                  <c:v>0.953882413</c:v>
                </c:pt>
                <c:pt idx="28">
                  <c:v>0.9677308161</c:v>
                </c:pt>
                <c:pt idx="29">
                  <c:v>0.9692025716</c:v>
                </c:pt>
                <c:pt idx="30">
                  <c:v>0.9835742474</c:v>
                </c:pt>
                <c:pt idx="31">
                  <c:v>0.9717135918</c:v>
                </c:pt>
                <c:pt idx="32">
                  <c:v>0.9630876202</c:v>
                </c:pt>
                <c:pt idx="33">
                  <c:v>0.9132683392</c:v>
                </c:pt>
                <c:pt idx="34">
                  <c:v>0.9219353793</c:v>
                </c:pt>
                <c:pt idx="35">
                  <c:v>0.9183887066</c:v>
                </c:pt>
                <c:pt idx="36">
                  <c:v>0.8496686945</c:v>
                </c:pt>
                <c:pt idx="37">
                  <c:v>0.8827712278</c:v>
                </c:pt>
                <c:pt idx="38">
                  <c:v>0.8733292796</c:v>
                </c:pt>
                <c:pt idx="39">
                  <c:v>0.8728217954</c:v>
                </c:pt>
                <c:pt idx="40">
                  <c:v>0.8482722743</c:v>
                </c:pt>
                <c:pt idx="41">
                  <c:v>0.7974451271</c:v>
                </c:pt>
                <c:pt idx="42">
                  <c:v>0.8306911076</c:v>
                </c:pt>
                <c:pt idx="43">
                  <c:v>0.8072634316</c:v>
                </c:pt>
                <c:pt idx="44">
                  <c:v>0.8031277384</c:v>
                </c:pt>
                <c:pt idx="45">
                  <c:v>0.7706339633</c:v>
                </c:pt>
                <c:pt idx="46">
                  <c:v>0.7851822661</c:v>
                </c:pt>
                <c:pt idx="47">
                  <c:v>0.7657386987</c:v>
                </c:pt>
                <c:pt idx="48">
                  <c:v>0.7731699305</c:v>
                </c:pt>
                <c:pt idx="49">
                  <c:v>0.7411776046</c:v>
                </c:pt>
                <c:pt idx="50">
                  <c:v>0.7704743709</c:v>
                </c:pt>
                <c:pt idx="51">
                  <c:v>0.7709686062</c:v>
                </c:pt>
                <c:pt idx="52">
                  <c:v>0.7969685999</c:v>
                </c:pt>
                <c:pt idx="53">
                  <c:v>0.8251106382</c:v>
                </c:pt>
                <c:pt idx="54">
                  <c:v>0.8341038004</c:v>
                </c:pt>
                <c:pt idx="55">
                  <c:v>0.8458886026</c:v>
                </c:pt>
                <c:pt idx="56">
                  <c:v>0.846298143</c:v>
                </c:pt>
                <c:pt idx="57">
                  <c:v>0.8375990648</c:v>
                </c:pt>
                <c:pt idx="58">
                  <c:v>0.8400243125</c:v>
                </c:pt>
                <c:pt idx="59">
                  <c:v>0.8253304681</c:v>
                </c:pt>
                <c:pt idx="60">
                  <c:v>0.8105216832</c:v>
                </c:pt>
                <c:pt idx="61">
                  <c:v>0.8214157111</c:v>
                </c:pt>
                <c:pt idx="62">
                  <c:v>0.8393893676</c:v>
                </c:pt>
                <c:pt idx="63">
                  <c:v>0.7979593037</c:v>
                </c:pt>
                <c:pt idx="64">
                  <c:v>0.7942915898</c:v>
                </c:pt>
                <c:pt idx="65">
                  <c:v>0.7943741676</c:v>
                </c:pt>
                <c:pt idx="66">
                  <c:v>0.7940249663</c:v>
                </c:pt>
                <c:pt idx="67">
                  <c:v>0.8003347056</c:v>
                </c:pt>
                <c:pt idx="68">
                  <c:v>0.8136196885</c:v>
                </c:pt>
                <c:pt idx="69">
                  <c:v>0.8195999356</c:v>
                </c:pt>
                <c:pt idx="70">
                  <c:v>0.8216886529</c:v>
                </c:pt>
                <c:pt idx="71">
                  <c:v>0.8232021156</c:v>
                </c:pt>
                <c:pt idx="72">
                  <c:v>0.8474706809</c:v>
                </c:pt>
                <c:pt idx="73">
                  <c:v>0.8625409046</c:v>
                </c:pt>
                <c:pt idx="74">
                  <c:v>0.8474179979</c:v>
                </c:pt>
                <c:pt idx="75">
                  <c:v>0.8481887199</c:v>
                </c:pt>
                <c:pt idx="76">
                  <c:v>0.8541141923</c:v>
                </c:pt>
                <c:pt idx="77">
                  <c:v>0.8478150492</c:v>
                </c:pt>
                <c:pt idx="78">
                  <c:v>0.841795166</c:v>
                </c:pt>
                <c:pt idx="79">
                  <c:v>0.8208543094</c:v>
                </c:pt>
                <c:pt idx="80">
                  <c:v>0.7957094302</c:v>
                </c:pt>
                <c:pt idx="81">
                  <c:v>0.794752403</c:v>
                </c:pt>
                <c:pt idx="82">
                  <c:v>0.8015322817</c:v>
                </c:pt>
                <c:pt idx="83">
                  <c:v>0.8046365415</c:v>
                </c:pt>
                <c:pt idx="84">
                  <c:v>0.8022092399</c:v>
                </c:pt>
                <c:pt idx="85">
                  <c:v>0.8163354668</c:v>
                </c:pt>
                <c:pt idx="86">
                  <c:v>0.8420802943</c:v>
                </c:pt>
                <c:pt idx="87">
                  <c:v>0.8427534872</c:v>
                </c:pt>
                <c:pt idx="88">
                  <c:v>0.8441320031</c:v>
                </c:pt>
                <c:pt idx="89">
                  <c:v>0.8272272045</c:v>
                </c:pt>
                <c:pt idx="90">
                  <c:v>0.808036028</c:v>
                </c:pt>
                <c:pt idx="91">
                  <c:v>0.811186852</c:v>
                </c:pt>
                <c:pt idx="92">
                  <c:v>0.815111337</c:v>
                </c:pt>
                <c:pt idx="93">
                  <c:v>0.7982905905</c:v>
                </c:pt>
                <c:pt idx="94">
                  <c:v>0.8212966405</c:v>
                </c:pt>
                <c:pt idx="95">
                  <c:v>0.8043125506</c:v>
                </c:pt>
                <c:pt idx="96">
                  <c:v>0.8085372481</c:v>
                </c:pt>
                <c:pt idx="97">
                  <c:v>0.8040015924</c:v>
                </c:pt>
                <c:pt idx="98">
                  <c:v>0.7743903538</c:v>
                </c:pt>
                <c:pt idx="99">
                  <c:v>0.7676085347</c:v>
                </c:pt>
                <c:pt idx="100">
                  <c:v>0.7570229387</c:v>
                </c:pt>
              </c:numCache>
            </c:numRef>
          </c:yVal>
        </c:ser>
        <c:ser>
          <c:idx val="2"/>
          <c:order val="2"/>
          <c:tx>
            <c:v>原IC20（取消现金门槛）</c:v>
          </c:tx>
          <c:spPr>
            <a:solidFill xmlns:a="http://schemas.openxmlformats.org/drawingml/2006/main">
              <a:srgbClr val="D99240"/>
            </a:solidFill>
            <a:ln xmlns:a="http://schemas.openxmlformats.org/drawingml/2006/main" w="26670">
              <a:solidFill>
                <a:srgbClr val="D99240"/>
              </a:solidFill>
            </a:ln>
          </c:spPr>
          <c:marker>
            <c:symbol val="none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Data'!$F$2:$F$102</c:f>
              <c:numCache>
                <c:formatCode>0.00%</c:formatCode>
                <c:ptCount val="101"/>
                <c:pt idx="0">
                  <c:v>1</c:v>
                </c:pt>
                <c:pt idx="1">
                  <c:v>1.0028115414</c:v>
                </c:pt>
                <c:pt idx="2">
                  <c:v>0.9867448849</c:v>
                </c:pt>
                <c:pt idx="3">
                  <c:v>0.9607800232</c:v>
                </c:pt>
                <c:pt idx="4">
                  <c:v>0.930294081</c:v>
                </c:pt>
                <c:pt idx="5">
                  <c:v>0.9520768098</c:v>
                </c:pt>
                <c:pt idx="6">
                  <c:v>0.9325386738</c:v>
                </c:pt>
                <c:pt idx="7">
                  <c:v>0.9504742364</c:v>
                </c:pt>
                <c:pt idx="8">
                  <c:v>0.9497916322</c:v>
                </c:pt>
                <c:pt idx="9">
                  <c:v>0.9661773787</c:v>
                </c:pt>
                <c:pt idx="10">
                  <c:v>0.9352294846</c:v>
                </c:pt>
                <c:pt idx="11">
                  <c:v>0.9843669199</c:v>
                </c:pt>
                <c:pt idx="12">
                  <c:v>1.0071443872</c:v>
                </c:pt>
                <c:pt idx="13">
                  <c:v>1.0006327673</c:v>
                </c:pt>
                <c:pt idx="14">
                  <c:v>0.9705820498</c:v>
                </c:pt>
                <c:pt idx="15">
                  <c:v>0.9260628168</c:v>
                </c:pt>
                <c:pt idx="16">
                  <c:v>0.9341041135</c:v>
                </c:pt>
                <c:pt idx="17">
                  <c:v>0.9481884297</c:v>
                </c:pt>
                <c:pt idx="18">
                  <c:v>0.9416954631</c:v>
                </c:pt>
                <c:pt idx="19">
                  <c:v>0.9340242385</c:v>
                </c:pt>
                <c:pt idx="20">
                  <c:v>0.919774447</c:v>
                </c:pt>
                <c:pt idx="21">
                  <c:v>0.9301301792</c:v>
                </c:pt>
                <c:pt idx="22">
                  <c:v>0.9413037199</c:v>
                </c:pt>
                <c:pt idx="23">
                  <c:v>0.9187362718</c:v>
                </c:pt>
                <c:pt idx="24">
                  <c:v>0.8870612493</c:v>
                </c:pt>
                <c:pt idx="25">
                  <c:v>0.8592607867</c:v>
                </c:pt>
                <c:pt idx="26">
                  <c:v>0.8374329087</c:v>
                </c:pt>
                <c:pt idx="27">
                  <c:v>0.8386254974</c:v>
                </c:pt>
                <c:pt idx="28">
                  <c:v>0.8568391405</c:v>
                </c:pt>
                <c:pt idx="29">
                  <c:v>0.8585312789</c:v>
                </c:pt>
                <c:pt idx="30">
                  <c:v>0.8922406367</c:v>
                </c:pt>
                <c:pt idx="31">
                  <c:v>0.8553781622</c:v>
                </c:pt>
                <c:pt idx="32">
                  <c:v>0.8414106366</c:v>
                </c:pt>
                <c:pt idx="33">
                  <c:v>0.825358011</c:v>
                </c:pt>
                <c:pt idx="34">
                  <c:v>0.8235576525</c:v>
                </c:pt>
                <c:pt idx="35">
                  <c:v>0.8365711978</c:v>
                </c:pt>
                <c:pt idx="36">
                  <c:v>0.7666646707</c:v>
                </c:pt>
                <c:pt idx="37">
                  <c:v>0.7911346186</c:v>
                </c:pt>
                <c:pt idx="38">
                  <c:v>0.7783918765</c:v>
                </c:pt>
                <c:pt idx="39">
                  <c:v>0.7698417296</c:v>
                </c:pt>
                <c:pt idx="40">
                  <c:v>0.7496457762</c:v>
                </c:pt>
                <c:pt idx="41">
                  <c:v>0.7109516477</c:v>
                </c:pt>
                <c:pt idx="42">
                  <c:v>0.7362264141</c:v>
                </c:pt>
                <c:pt idx="43">
                  <c:v>0.7182462246</c:v>
                </c:pt>
                <c:pt idx="44">
                  <c:v>0.7203546205</c:v>
                </c:pt>
                <c:pt idx="45">
                  <c:v>0.6910579077</c:v>
                </c:pt>
                <c:pt idx="46">
                  <c:v>0.7094235197</c:v>
                </c:pt>
                <c:pt idx="47">
                  <c:v>0.702924211</c:v>
                </c:pt>
                <c:pt idx="48">
                  <c:v>0.7151212802</c:v>
                </c:pt>
                <c:pt idx="49">
                  <c:v>0.6683284495</c:v>
                </c:pt>
                <c:pt idx="50">
                  <c:v>0.6979330502</c:v>
                </c:pt>
                <c:pt idx="51">
                  <c:v>0.702982629</c:v>
                </c:pt>
                <c:pt idx="52">
                  <c:v>0.74306754</c:v>
                </c:pt>
                <c:pt idx="53">
                  <c:v>0.7827225783</c:v>
                </c:pt>
                <c:pt idx="54">
                  <c:v>0.7971772844</c:v>
                </c:pt>
                <c:pt idx="55">
                  <c:v>0.8157069275</c:v>
                </c:pt>
                <c:pt idx="56">
                  <c:v>0.8058983645</c:v>
                </c:pt>
                <c:pt idx="57">
                  <c:v>0.7899500305</c:v>
                </c:pt>
                <c:pt idx="58">
                  <c:v>0.7975208939</c:v>
                </c:pt>
                <c:pt idx="59">
                  <c:v>0.787825699</c:v>
                </c:pt>
                <c:pt idx="60">
                  <c:v>0.7797917401</c:v>
                </c:pt>
                <c:pt idx="61">
                  <c:v>0.7980409307</c:v>
                </c:pt>
                <c:pt idx="62">
                  <c:v>0.8127805855</c:v>
                </c:pt>
                <c:pt idx="63">
                  <c:v>0.7781236745</c:v>
                </c:pt>
                <c:pt idx="64">
                  <c:v>0.7729333148</c:v>
                </c:pt>
                <c:pt idx="65">
                  <c:v>0.7723685708</c:v>
                </c:pt>
                <c:pt idx="66">
                  <c:v>0.7694682007</c:v>
                </c:pt>
                <c:pt idx="67">
                  <c:v>0.7709091961</c:v>
                </c:pt>
                <c:pt idx="68">
                  <c:v>0.7816712697</c:v>
                </c:pt>
                <c:pt idx="69">
                  <c:v>0.8016619097</c:v>
                </c:pt>
                <c:pt idx="70">
                  <c:v>0.7890142053</c:v>
                </c:pt>
                <c:pt idx="71">
                  <c:v>0.799739226</c:v>
                </c:pt>
                <c:pt idx="72">
                  <c:v>0.8059940107</c:v>
                </c:pt>
                <c:pt idx="73">
                  <c:v>0.8305756433</c:v>
                </c:pt>
                <c:pt idx="74">
                  <c:v>0.8209297983</c:v>
                </c:pt>
                <c:pt idx="75">
                  <c:v>0.8041123715</c:v>
                </c:pt>
                <c:pt idx="76">
                  <c:v>0.8150282592</c:v>
                </c:pt>
                <c:pt idx="77">
                  <c:v>0.8076261959</c:v>
                </c:pt>
                <c:pt idx="78">
                  <c:v>0.7931015446</c:v>
                </c:pt>
                <c:pt idx="79">
                  <c:v>0.7717498762</c:v>
                </c:pt>
                <c:pt idx="80">
                  <c:v>0.7488459149</c:v>
                </c:pt>
                <c:pt idx="81">
                  <c:v>0.7502822269</c:v>
                </c:pt>
                <c:pt idx="82">
                  <c:v>0.7567205664</c:v>
                </c:pt>
                <c:pt idx="83">
                  <c:v>0.7720070067</c:v>
                </c:pt>
                <c:pt idx="84">
                  <c:v>0.7825286956</c:v>
                </c:pt>
                <c:pt idx="85">
                  <c:v>0.7896219313</c:v>
                </c:pt>
                <c:pt idx="86">
                  <c:v>0.8124087948</c:v>
                </c:pt>
                <c:pt idx="87">
                  <c:v>0.80597553</c:v>
                </c:pt>
                <c:pt idx="88">
                  <c:v>0.8015239125</c:v>
                </c:pt>
                <c:pt idx="89">
                  <c:v>0.7886184862</c:v>
                </c:pt>
                <c:pt idx="90">
                  <c:v>0.7692658866</c:v>
                </c:pt>
                <c:pt idx="91">
                  <c:v>0.7671110841</c:v>
                </c:pt>
                <c:pt idx="92">
                  <c:v>0.7755934059</c:v>
                </c:pt>
                <c:pt idx="93">
                  <c:v>0.7705825567</c:v>
                </c:pt>
                <c:pt idx="94">
                  <c:v>0.7950762224</c:v>
                </c:pt>
                <c:pt idx="95">
                  <c:v>0.777349789</c:v>
                </c:pt>
                <c:pt idx="96">
                  <c:v>0.7811439307</c:v>
                </c:pt>
                <c:pt idx="97">
                  <c:v>0.7726049832</c:v>
                </c:pt>
                <c:pt idx="98">
                  <c:v>0.7430227567</c:v>
                </c:pt>
                <c:pt idx="99">
                  <c:v>0.7318276044</c:v>
                </c:pt>
                <c:pt idx="100">
                  <c:v>0.7301989849</c:v>
                </c:pt>
              </c:numCache>
            </c:numRef>
          </c:yVal>
        </c:ser>
        <c:dLbls>
          <c:numFmt formatCode="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3347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0.6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E3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617180"/>
                    </a:solidFill>
                    <a:latin typeface="Microsoft YaHei"/>
                    <a:ea typeface="Microsoft YaHei"/>
                    <a:cs typeface="Microsoft YaHei"/>
                  </a:rPr>
                  <a:t>测试期交易日序号（0 = 5月21日，100 = 10月19日）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61718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AE3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3475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原主流程（现金门槛）</c:v>
          </c:tx>
          <c:spPr>
            <a:solidFill xmlns:a="http://schemas.openxmlformats.org/drawingml/2006/main">
              <a:srgbClr val="89929B"/>
            </a:solidFill>
            <a:ln xmlns:a="http://schemas.openxmlformats.org/drawingml/2006/main" w="26670">
              <a:solidFill>
                <a:srgbClr val="89929B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0.00%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</c:numCache>
            </c:numRef>
          </c:yVal>
        </c:ser>
        <c:ser>
          <c:idx val="1"/>
          <c:order val="1"/>
          <c:tx>
            <c:v>原月度选股（取消现金门槛）</c:v>
          </c:tx>
          <c:spPr>
            <a:solidFill xmlns:a="http://schemas.openxmlformats.org/drawingml/2006/main">
              <a:srgbClr val="167C80"/>
            </a:solidFill>
            <a:ln xmlns:a="http://schemas.openxmlformats.org/drawingml/2006/main" w="26670">
              <a:solidFill>
                <a:srgbClr val="167C80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0.00%</c:formatCode>
                <c:ptCount val="101"/>
                <c:pt idx="0">
                  <c:v>0.9997619401</c:v>
                </c:pt>
                <c:pt idx="1">
                  <c:v>0.9994806233</c:v>
                </c:pt>
                <c:pt idx="2">
                  <c:v>0.9994756459</c:v>
                </c:pt>
                <c:pt idx="3">
                  <c:v>0</c:v>
                </c:pt>
                <c:pt idx="4">
                  <c:v>0.9999341611</c:v>
                </c:pt>
                <c:pt idx="5">
                  <c:v>0.9999356548</c:v>
                </c:pt>
                <c:pt idx="6">
                  <c:v>0.999935055</c:v>
                </c:pt>
                <c:pt idx="7">
                  <c:v>0.9998524183</c:v>
                </c:pt>
                <c:pt idx="8">
                  <c:v>0</c:v>
                </c:pt>
                <c:pt idx="9">
                  <c:v>0.9997142079</c:v>
                </c:pt>
                <c:pt idx="10">
                  <c:v>0.9989679195</c:v>
                </c:pt>
                <c:pt idx="11">
                  <c:v>0.9990183997</c:v>
                </c:pt>
                <c:pt idx="12">
                  <c:v>0.9990321883</c:v>
                </c:pt>
                <c:pt idx="13">
                  <c:v>0</c:v>
                </c:pt>
                <c:pt idx="14">
                  <c:v>0.9997006645</c:v>
                </c:pt>
                <c:pt idx="15">
                  <c:v>0.998498408</c:v>
                </c:pt>
                <c:pt idx="16">
                  <c:v>0.9985255004</c:v>
                </c:pt>
                <c:pt idx="17">
                  <c:v>0.9985617119</c:v>
                </c:pt>
                <c:pt idx="18">
                  <c:v>0</c:v>
                </c:pt>
                <c:pt idx="19">
                  <c:v>0.9998881972</c:v>
                </c:pt>
                <c:pt idx="20">
                  <c:v>0.9987148962</c:v>
                </c:pt>
                <c:pt idx="21">
                  <c:v>0.9987081667</c:v>
                </c:pt>
                <c:pt idx="22">
                  <c:v>0.9987179521</c:v>
                </c:pt>
                <c:pt idx="23">
                  <c:v>0</c:v>
                </c:pt>
                <c:pt idx="24">
                  <c:v>0.9998804376</c:v>
                </c:pt>
                <c:pt idx="25">
                  <c:v>0.9998773818</c:v>
                </c:pt>
                <c:pt idx="26">
                  <c:v>0.9998730377</c:v>
                </c:pt>
                <c:pt idx="27">
                  <c:v>0.9994046055</c:v>
                </c:pt>
                <c:pt idx="28">
                  <c:v>0</c:v>
                </c:pt>
                <c:pt idx="29">
                  <c:v>0.9997277205</c:v>
                </c:pt>
                <c:pt idx="30">
                  <c:v>0.9997316989</c:v>
                </c:pt>
                <c:pt idx="31">
                  <c:v>0.9996805725</c:v>
                </c:pt>
                <c:pt idx="32">
                  <c:v>0.9996777115</c:v>
                </c:pt>
                <c:pt idx="33">
                  <c:v>0</c:v>
                </c:pt>
                <c:pt idx="34">
                  <c:v>0.999859791</c:v>
                </c:pt>
                <c:pt idx="35">
                  <c:v>0.999781964</c:v>
                </c:pt>
                <c:pt idx="36">
                  <c:v>0.9996753326</c:v>
                </c:pt>
                <c:pt idx="37">
                  <c:v>0.9995879899</c:v>
                </c:pt>
                <c:pt idx="38">
                  <c:v>0</c:v>
                </c:pt>
                <c:pt idx="39">
                  <c:v>0.9998267115</c:v>
                </c:pt>
                <c:pt idx="40">
                  <c:v>0.9998216964</c:v>
                </c:pt>
                <c:pt idx="41">
                  <c:v>0.9998103318</c:v>
                </c:pt>
                <c:pt idx="42">
                  <c:v>0.9998179227</c:v>
                </c:pt>
                <c:pt idx="43">
                  <c:v>0</c:v>
                </c:pt>
                <c:pt idx="44">
                  <c:v>0.9997265871</c:v>
                </c:pt>
                <c:pt idx="45">
                  <c:v>0.9997150587</c:v>
                </c:pt>
                <c:pt idx="46">
                  <c:v>0.9997203382</c:v>
                </c:pt>
                <c:pt idx="47">
                  <c:v>0.9997132371</c:v>
                </c:pt>
                <c:pt idx="48">
                  <c:v>0</c:v>
                </c:pt>
                <c:pt idx="49">
                  <c:v>0.9998211088</c:v>
                </c:pt>
                <c:pt idx="50">
                  <c:v>0.999827911</c:v>
                </c:pt>
                <c:pt idx="51">
                  <c:v>0.9998280213</c:v>
                </c:pt>
                <c:pt idx="52">
                  <c:v>0.9998336319</c:v>
                </c:pt>
                <c:pt idx="53">
                  <c:v>0</c:v>
                </c:pt>
                <c:pt idx="54">
                  <c:v>0.9999146845</c:v>
                </c:pt>
                <c:pt idx="55">
                  <c:v>0.9999158731</c:v>
                </c:pt>
                <c:pt idx="56">
                  <c:v>0.9999159138</c:v>
                </c:pt>
                <c:pt idx="57">
                  <c:v>0.9999150405</c:v>
                </c:pt>
                <c:pt idx="58">
                  <c:v>0</c:v>
                </c:pt>
                <c:pt idx="59">
                  <c:v>0.9998759929</c:v>
                </c:pt>
                <c:pt idx="60">
                  <c:v>0.9998737273</c:v>
                </c:pt>
                <c:pt idx="61">
                  <c:v>0.9998754019</c:v>
                </c:pt>
                <c:pt idx="62">
                  <c:v>0.9998780699</c:v>
                </c:pt>
                <c:pt idx="63">
                  <c:v>0</c:v>
                </c:pt>
                <c:pt idx="64">
                  <c:v>0.9998928179</c:v>
                </c:pt>
                <c:pt idx="65">
                  <c:v>0.999892829</c:v>
                </c:pt>
                <c:pt idx="66">
                  <c:v>0.9998927819</c:v>
                </c:pt>
                <c:pt idx="67">
                  <c:v>0.9998936272</c:v>
                </c:pt>
                <c:pt idx="68">
                  <c:v>0</c:v>
                </c:pt>
                <c:pt idx="69">
                  <c:v>0.9999256081</c:v>
                </c:pt>
                <c:pt idx="70">
                  <c:v>0.9999257972</c:v>
                </c:pt>
                <c:pt idx="71">
                  <c:v>0.9999259336</c:v>
                </c:pt>
                <c:pt idx="72">
                  <c:v>0.9999280546</c:v>
                </c:pt>
                <c:pt idx="73">
                  <c:v>0</c:v>
                </c:pt>
                <c:pt idx="74">
                  <c:v>0.9999295587</c:v>
                </c:pt>
                <c:pt idx="75">
                  <c:v>0.9999296227</c:v>
                </c:pt>
                <c:pt idx="76">
                  <c:v>0.9999301109</c:v>
                </c:pt>
                <c:pt idx="77">
                  <c:v>0.9999295917</c:v>
                </c:pt>
                <c:pt idx="78">
                  <c:v>0</c:v>
                </c:pt>
                <c:pt idx="79">
                  <c:v>0.9998594851</c:v>
                </c:pt>
                <c:pt idx="80">
                  <c:v>0.9998550448</c:v>
                </c:pt>
                <c:pt idx="81">
                  <c:v>0.9998548702</c:v>
                </c:pt>
                <c:pt idx="82">
                  <c:v>0.9998560978</c:v>
                </c:pt>
                <c:pt idx="83">
                  <c:v>0</c:v>
                </c:pt>
                <c:pt idx="84">
                  <c:v>0.9998355491</c:v>
                </c:pt>
                <c:pt idx="85">
                  <c:v>0.9998383949</c:v>
                </c:pt>
                <c:pt idx="86">
                  <c:v>0.9998433356</c:v>
                </c:pt>
                <c:pt idx="87">
                  <c:v>0.9998434607</c:v>
                </c:pt>
                <c:pt idx="88">
                  <c:v>0</c:v>
                </c:pt>
                <c:pt idx="89">
                  <c:v>0.9999283022</c:v>
                </c:pt>
                <c:pt idx="90">
                  <c:v>0.9999265993</c:v>
                </c:pt>
                <c:pt idx="91">
                  <c:v>0.9999268844</c:v>
                </c:pt>
                <c:pt idx="92">
                  <c:v>0.9999272364</c:v>
                </c:pt>
                <c:pt idx="93">
                  <c:v>0</c:v>
                </c:pt>
                <c:pt idx="94">
                  <c:v>0.9998201683</c:v>
                </c:pt>
                <c:pt idx="95">
                  <c:v>0.9998163709</c:v>
                </c:pt>
                <c:pt idx="96">
                  <c:v>0.9998173304</c:v>
                </c:pt>
                <c:pt idx="97">
                  <c:v>0.9998162999</c:v>
                </c:pt>
                <c:pt idx="98">
                  <c:v>0</c:v>
                </c:pt>
                <c:pt idx="99">
                  <c:v>0.9998306747</c:v>
                </c:pt>
                <c:pt idx="100">
                  <c:v>0.999828307</c:v>
                </c:pt>
              </c:numCache>
            </c:numRef>
          </c:yVal>
        </c:ser>
        <c:dLbls>
          <c:numFmt formatCode="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3347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E3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617180"/>
                    </a:solidFill>
                    <a:latin typeface="Microsoft YaHei"/>
                    <a:ea typeface="Microsoft YaHei"/>
                    <a:cs typeface="Microsoft YaHei"/>
                  </a:rPr>
                  <a:t>测试期交易日序号（0 = 5月21日，100 = 10月19日）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61718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AE3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E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9ACF6-184B-4F4F-9652-4DB2CD6B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F0E45-DFD8-4D77-ACBC-45FB45CE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14128-B49C-4264-A470-8AB19A79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横截面选股模型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EDD04-ED6B-4F37-B620-3000EC06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7E6F1"/>
                </a:solidFill>
                <a:latin typeface="Microsoft YaHei"/>
                <a:ea typeface="Microsoft YaHei"/>
                <a:cs typeface="Microsoft YaHei"/>
              </a:rPr>
              <a:t>中证2000同任务复跑与原北交所策略测试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A83B5-16F4-4F1A-BC04-96D98075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rPr>
              <a:t>测试期 2026-05-22 至 2026-10-19</a:t>
            </a:r>
          </a:p>
          <a:p xmlns:a="http://schemas.openxmlformats.org/drawingml/2006/main">
            <a:pPr>
              <a:def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rPr>
              <a:t>汇报整理 2026-10-23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133EF-029B-4E9E-91C2-7C571FD5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BCEDC"/>
                </a:solidFill>
                <a:latin typeface="Microsoft YaHei"/>
                <a:ea typeface="Microsoft YaHei"/>
                <a:cs typeface="Microsoft YaHei"/>
              </a:rPr>
              <a:t>本方修正复跑版本</a:t>
            </a:r>
          </a:p>
        </p:txBody>
      </p:sp>
    </p:spTree>
    <p:extLst>
      <p:ext uri="{BB962C8B-B14F-4D97-AF65-F5344CB8AC3E}">
        <p14:creationId xmlns:p14="http://schemas.microsoft.com/office/powerpoint/2010/main" val="1558665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BB4F9-4E81-4257-9B9A-09A485D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9C421-61EA-4CE6-89EF-D376770B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全部收益均为指定测试期累计收益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BB307-8021-4A5E-833A-ACCCA802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D6BFF-A864-4A84-B3B9-34CDAA9C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中证2000模型对照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239C5-C4E4-4957-8809-B6FB7E65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15叶迁移版零成本收益最高。</a:t>
            </a:r>
          </a:p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该结果尚未形成稳健性或显著性证明。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B6AA0-BBA4-450F-9421-FF8A8EE0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7357A3"/>
                </a:solidFill>
                <a:latin typeface="Microsoft YaHei"/>
                <a:ea typeface="Microsoft YaHei"/>
                <a:cs typeface="Microsoft YaHei"/>
              </a:rPr>
              <a:t>+5.61%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631FB-16A3-4508-AD55-CC8B82AA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31叶模型的成本敏感性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2BAEC-BD3C-4CCA-9831-D3FF5555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每边5bp后，零成本的小幅正收益消失。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4DE0A-E6D5-481E-B483-C9A56C0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480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-0.22%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2E3D8-8CB3-4302-BEA6-AE2C93F8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原北交所主流程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FFEAD-9380-4E77-B021-3D9BABF1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测试期全程现金，无法据此评价选股收益。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77227-0A88-4C53-AAAE-4A295234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89929B"/>
                </a:solidFill>
                <a:latin typeface="Microsoft YaHei"/>
                <a:ea typeface="Microsoft YaHei"/>
                <a:cs typeface="Microsoft YaHei"/>
              </a:rPr>
              <a:t>0.00%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A7BF1-E9A8-439A-B888-05A34231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尚未取得张方完整配置及逐日收益，本材料展示本方结果，不报告双方胜负。</a:t>
            </a:r>
          </a:p>
        </p:txBody>
      </p:sp>
    </p:spTree>
    <p:extLst>
      <p:ext uri="{BB962C8B-B14F-4D97-AF65-F5344CB8AC3E}">
        <p14:creationId xmlns:p14="http://schemas.microsoft.com/office/powerpoint/2010/main" val="918091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F7AFF-A1AB-4D9B-8A79-4377449A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实验范围与时间口径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0963A-FA15-44E9-AF5B-02E0B2BF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test为2026-05-22至10-19，共100个交易日。各账户以5月21日收盘为切片基准。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0EB8A-77E9-4E52-9586-F10B1C7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B3E0C-7218-4C59-B42E-8B1ED786A006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533900"/>
                <a:gridCol w="4533900"/>
              </a:tblGrid>
              <a:tr h="6572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中证2000任务复跑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原北交所实验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</a:tr>
              <a:tr h="6572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股票池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进出记录重建的动态成员池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原动态流动性100只池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选股模型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ICIR、Ridge、两种LightGBM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保留原模型分数及风险流程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6572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换仓与标签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Top20，次日开盘买入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第6日开盘退出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每5日一批，次日开盘买入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第5日收盘退出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费用口径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主表零成本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另测每边5 / 15bp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每边5bp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6572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评估区间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V：2025-07-02至2026-05-21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test：2026-05-22至10-19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相同test日期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连续账户切片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8E79D-8859-4CC1-B139-714845B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中证2000：252日训练 + 6日gap + 63日内部验证 + 6日gap + 21日预测，逐条核验标签成熟。</a:t>
            </a:r>
          </a:p>
        </p:txBody>
      </p:sp>
    </p:spTree>
    <p:extLst>
      <p:ext uri="{BB962C8B-B14F-4D97-AF65-F5344CB8AC3E}">
        <p14:creationId xmlns:p14="http://schemas.microsoft.com/office/powerpoint/2010/main" val="1331626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ECC60-7AB7-4B90-AFED-AE128B8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验证段与测试期收益出现明显分化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A0337-1F08-4AEF-9394-81F9274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中证2000滚动模型，Top20等权，零成本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210D7-D64F-433B-9493-A183F4BA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1A448CB-4384-4835-8813-11FE4317B3B6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cee7889b3e4a3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2B82C-D48C-48C0-B378-18D708B2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V与test长度不同。图中均为累计收益，收益分化也可能包含市场阶段差异。</a:t>
            </a:r>
          </a:p>
        </p:txBody>
      </p:sp>
    </p:spTree>
    <p:extLst>
      <p:ext uri="{BB962C8B-B14F-4D97-AF65-F5344CB8AC3E}">
        <p14:creationId xmlns:p14="http://schemas.microsoft.com/office/powerpoint/2010/main" val="1565496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BF2AE-E6B8-4908-AFCA-FE196B08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测试期净值显示模型之间的路径差异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347A3-F3CE-4F4E-AC1A-ADFC3A2F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中证2000，2026-05-21收盘净值归一为1，零成本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34D30-CA0B-4E37-8B22-8E1093C6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CCDF7D0-DA35-4994-BCDE-759D125C5407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dda25e7232466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BEDF6-47FF-4974-9F1A-0DDA9777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成员等权与模型组合使用相同换仓时点。15叶迁移只保留原项目参数风格。</a:t>
            </a:r>
          </a:p>
        </p:txBody>
      </p:sp>
    </p:spTree>
    <p:extLst>
      <p:ext uri="{BB962C8B-B14F-4D97-AF65-F5344CB8AC3E}">
        <p14:creationId xmlns:p14="http://schemas.microsoft.com/office/powerpoint/2010/main" val="269050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BE52C-B767-4663-A560-53671AD8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正收益模型仍经历了明显回撤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81A23-E403-4BF4-B673-18D4A7D2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中证2000，逐日盯市，包含测试前收盘基准点，零成本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E9382-212C-4A2C-8044-465148B9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E5B93A4-89BB-42C1-B8EE-86877E045236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a5faeeeb5a4f9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29ADA-2DA4-4EFB-96FA-F71648D1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回撤按当期最高净值计算，本图显示负值，指标表以最大回撤幅度的正值表示。</a:t>
            </a:r>
          </a:p>
        </p:txBody>
      </p:sp>
    </p:spTree>
    <p:extLst>
      <p:ext uri="{BB962C8B-B14F-4D97-AF65-F5344CB8AC3E}">
        <p14:creationId xmlns:p14="http://schemas.microsoft.com/office/powerpoint/2010/main" val="828121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D0815-5E87-4A70-ACAC-E28336DB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中证2000测试期指标汇总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1FFFA-5811-43BE-9CA4-7A60D329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滚动更新，零成本。超额栏为累计收益相减，单位为百分点。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0D254-0FA2-4D91-B12C-DB853A24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E18E2-45CE-4F31-9179-0242BB248276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543050"/>
                <a:gridCol w="1809750"/>
                <a:gridCol w="1619250"/>
                <a:gridCol w="1571625"/>
                <a:gridCol w="1571625"/>
              </a:tblGrid>
              <a:tr h="595313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相对等权差额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</a:tr>
              <a:tr h="595313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ICIR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-15.36%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-2.06 pp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23.54%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-1.46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Ridge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-18.66%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-5.37 pp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33.48%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-0.87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-1.21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595313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 31叶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+1.78%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15.08 pp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21.30%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 15叶迁移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+5.61%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18.90 pp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10.93%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595313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成员等权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-13.30%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 pp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20.94%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-1.27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5A9BC-9729-4F90-B562-9D2AC135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夏普使用日收益、年化252日、无风险利率0。卡玛为年化收益 / 最大回撤。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9EA2B-549E-498B-BFDB-8B6EAB53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官方全收益指数同期收盘参考为 −19.60%，成交口径不同，故与成员等权基准分开呈现。</a:t>
            </a:r>
          </a:p>
        </p:txBody>
      </p:sp>
    </p:spTree>
    <p:extLst>
      <p:ext uri="{BB962C8B-B14F-4D97-AF65-F5344CB8AC3E}">
        <p14:creationId xmlns:p14="http://schemas.microsoft.com/office/powerpoint/2010/main" val="1235005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3E8AB-F310-4D45-99F8-2E377B67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逐月收益揭示收益集中与阶段反转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71F5B-B2A5-44D5-81B1-026AFDB7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中证2000测试期，零成本。绿色为正收益，红色为负收益。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8719B-F18E-4E97-9BEB-A5B7CB10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39784-8DCB-48A5-8502-089179244D29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111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5月22日起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10月19日止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</a:tr>
              <a:tr h="6111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ICIR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+6.1%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-15.9%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+7.0%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</a:tr>
              <a:tr h="6111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Ridge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+4.8%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-28.0%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+15.7%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+4.1%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-10.6%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</a:tr>
              <a:tr h="6111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 31叶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+9.2%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+5.1%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-12.9%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</a:tr>
              <a:tr h="6111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 15叶迁移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-3.0%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-7.0%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+8.6%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+13.6%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-5.6%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</a:tr>
              <a:tr h="6111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成员等权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-3.4%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-3.4%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-10.4%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564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+11.2%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E2F0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9B40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BE5E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DED15-6CA7-49AC-872F-2187C3F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首尾月份不完整。不得根据已经观察到的月收益决定历史交易月份。</a:t>
            </a:r>
          </a:p>
        </p:txBody>
      </p:sp>
    </p:spTree>
    <p:extLst>
      <p:ext uri="{BB962C8B-B14F-4D97-AF65-F5344CB8AC3E}">
        <p14:creationId xmlns:p14="http://schemas.microsoft.com/office/powerpoint/2010/main" val="398318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2CEF1-ABC8-4754-9EC6-5E6CEF01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滚动更新与冻结模型给出不同结果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2D0FE-ADD7-462D-B0E0-DB4AFAC9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相同测试期，零成本，固定版本的拟合及调参信息止于2025-06-03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0E956-732F-4859-BBD8-7D57B7E2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F784E98-3317-46C4-A8E0-158CF4A9E63A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f7863c14f4400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024B3-F895-4764-9C3E-8686807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滚动更新可使用已成熟的历史标签。冻结模型测试与滚动部署测试回答不同问题。</a:t>
            </a:r>
          </a:p>
        </p:txBody>
      </p:sp>
    </p:spTree>
    <p:extLst>
      <p:ext uri="{BB962C8B-B14F-4D97-AF65-F5344CB8AC3E}">
        <p14:creationId xmlns:p14="http://schemas.microsoft.com/office/powerpoint/2010/main" val="749073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84F55-DC07-46B7-93FF-A10F1C4D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交易成本会削弱两种LightGBM的收益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40DA2-9867-4C8D-AD5D-79EDE61D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中证2000滚动版本，相同成交日，费用按买卖两边分别收取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709B7-C319-4182-A9B9-C59F5E0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0E5B354-0681-46C7-8DF9-0C69417B03A9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b413e390424b2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F02A5-2B2E-46A5-893D-4A4B5AB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5bp = 0.05% / 边。费率为成本情景，未逐项模拟全部税费、市场冲击与成交排队。</a:t>
            </a:r>
          </a:p>
        </p:txBody>
      </p:sp>
    </p:spTree>
    <p:extLst>
      <p:ext uri="{BB962C8B-B14F-4D97-AF65-F5344CB8AC3E}">
        <p14:creationId xmlns:p14="http://schemas.microsoft.com/office/powerpoint/2010/main" val="21147498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35519-B80A-4715-A83A-DD113DA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成交延迟一天后，收益明显下降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F5A14-25BF-41C2-A9AC-7AE37467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中证2000滚动版本，零成本，买卖窗口整体后移一个交易日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AF8F6-3BAD-466E-A5CA-DD8F0A14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22CCC93-4A4B-4BB7-81CC-8071DD27080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e325116b7c4c5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076D9-9387-4F0C-BD5C-A6F26DBF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延迟实验未增加费用，不能与上一页加成本情景合并解释为同一结果。</a:t>
            </a:r>
          </a:p>
        </p:txBody>
      </p:sp>
    </p:spTree>
    <p:extLst>
      <p:ext uri="{BB962C8B-B14F-4D97-AF65-F5344CB8AC3E}">
        <p14:creationId xmlns:p14="http://schemas.microsoft.com/office/powerpoint/2010/main" val="2105032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FF583-08D1-486C-9015-79A098E3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原北交所主流程在测试期全程持币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8909A-69EC-4025-9F82-97920142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每边5bp。原主流程收益0%，取消现金门槛后的原月度选股收益 −24.30%。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ED7D2-19DF-4BC9-8460-07370438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5D7AA41-8634-4D26-AD5C-DD7BF49F2E90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2457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1468a890e14e2a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AEBC49D-3BA0-4AAA-95F1-5A3B15BB1960}"/>
              </a:ext>
            </a:extLst>
          </p:cNvPr>
          <p:cNvGraphicFramePr/>
          <p:nvPr/>
        </p:nvGraphicFramePr>
        <p:xfrm>
          <a:off xmlns:a="http://schemas.openxmlformats.org/drawingml/2006/main" x="609600" y="4286250"/>
          <a:ext xmlns:a="http://schemas.openxmlformats.org/drawingml/2006/main" cx="109728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a6d1b3c06c40b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6DE5A-2C62-4644-A561-FB61DD7A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收盘仓位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60AF7-2AD8-413E-9D94-91797FEE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现金账户夏普与卡玛不适用。取消现金门槛对照仍沿用原北交所模型与执行口径。</a:t>
            </a:r>
          </a:p>
        </p:txBody>
      </p:sp>
    </p:spTree>
    <p:extLst>
      <p:ext uri="{BB962C8B-B14F-4D97-AF65-F5344CB8AC3E}">
        <p14:creationId xmlns:p14="http://schemas.microsoft.com/office/powerpoint/2010/main" val="17697302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D8001-8660-4FEB-A6DB-41DBB7B9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风控降低了损失，扩因子增益尚未确立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4412D-BFFE-415A-A556-C503C573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北交所扩展研究，每边5bp，测试期已被查看，结果属于探索性证据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FEEA9-340D-4B28-8243-2F06E93D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22981-967C-4438-A240-FE22CEC38F91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1952625"/>
                <a:gridCol w="1952625"/>
                <a:gridCol w="2114550"/>
              </a:tblGrid>
              <a:tr h="551089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分数版本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风险规则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平均收盘仓位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</a:tr>
              <a:tr h="551089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原月度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20只等权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-24.30%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28.46%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79.98%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原月度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40只＋趋势/波动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-7.97%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10.23%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30.79%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551089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原月度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40只＋固定25%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-4.90%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18.89%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扩因子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20只等权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-23.17%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79.96%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551089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扩因子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40只＋趋势/波动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-7.98%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11.86%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30.20%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扩因子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40只＋固定25%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-4.96%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18.95%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D0ED4-41D0-4260-A5BF-F9505756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固定低仓位对照也降低了损失。不能把较低风险暴露直接解释为选股能力增强。</a:t>
            </a:r>
          </a:p>
        </p:txBody>
      </p:sp>
    </p:spTree>
    <p:extLst>
      <p:ext uri="{BB962C8B-B14F-4D97-AF65-F5344CB8AC3E}">
        <p14:creationId xmlns:p14="http://schemas.microsoft.com/office/powerpoint/2010/main" val="10529068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C0398-9A54-4312-B5E1-50B1070A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汇报结论及证据边界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80A1C-A707-4A79-A2F3-86382DEC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本轮结果支持继续验证，尚不足以宣布稳定有效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56BC3-BD06-4D4A-A258-2DCAC6BE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84495-E23E-4419-84BD-574AA14F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数据真实性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5DACF-24B1-453D-8E21-D57C2223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历史成分依赖事件记录重建。</a:t>
            </a:r>
          </a:p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独立9月30日名单与逐事件生效时点仍待核验。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1D7E8-5CFF-4931-AE8B-9BB06D13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可交易性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74F1C-88F2-4825-9D87-E1DB14BC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中证2000为可分割份额研究组合。</a:t>
            </a:r>
          </a:p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尚未完整模拟涨跌停、ST、停牌、容量与真实成交。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56BAB-C882-4A5D-A975-7029C9AE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独立性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DDDBF-C08C-4C61-BB81-C9CD3485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V和test都已查看，不能把反复调试后的赢家</a:t>
            </a:r>
          </a:p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当作新的独立测试结果。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CC0C6-187D-4443-9769-7852AE75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后续核对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DBAB8-94EB-4F2B-9A16-AB167438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67325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先交换配置与逐日净值，再冻结少数候选，</a:t>
            </a:r>
          </a:p>
          <a:p xmlns:a="http://schemas.openxmlformats.org/drawingml/2006/main">
            <a:pPr>
              <a:def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在未查看的新日期做前瞻验证。</a:t>
            </a:r>
          </a:p>
        </p:txBody>
      </p:sp>
    </p:spTree>
    <p:extLst>
      <p:ext uri="{BB962C8B-B14F-4D97-AF65-F5344CB8AC3E}">
        <p14:creationId xmlns:p14="http://schemas.microsoft.com/office/powerpoint/2010/main" val="11134082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97EE2-A80E-4189-A120-D34E302B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附录：中证2000模型与预处理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02E2C-00AF-4DDC-A5F9-F87F10EF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四个模型使用相同股票池、Alpha101输入和相同交易执行器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953F6-025F-4857-BC2B-58294298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CB099-A298-458F-BB2D-A0FFE116AB99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6746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具体设定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</a:tr>
              <a:tr h="6746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共同预处理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截面1% / 99%去极值，标准化，缺失补0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目标收益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后复权 open(t+6) / open(t+1) − 1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按日减去截面均值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6746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ICIR / Ridge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ICIR：历史因子IC均值 / 标准差加权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Ridge：内部验证选择 α ∈ {1, 100}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 31叶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31叶，叶内最少100样本，学习率0.05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674688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 15叶迁移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15叶，深度5，叶内最少160样本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L2 = 12，学习率0.035，收益秩目标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FA77D-ADB4-40D0-8139-1210653C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15叶迁移同时改变目标形式和正则化，不能把结果差异单独归因为“叶数更少”。</a:t>
            </a:r>
          </a:p>
        </p:txBody>
      </p:sp>
    </p:spTree>
    <p:extLst>
      <p:ext uri="{BB962C8B-B14F-4D97-AF65-F5344CB8AC3E}">
        <p14:creationId xmlns:p14="http://schemas.microsoft.com/office/powerpoint/2010/main" val="7702007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26313-CF40-44E7-A13E-12E95047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附录：费用与延迟情景完整数值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610E4-C54D-478D-B801-58ECC226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中证2000滚动版本，测试期2026-05-22至10-19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1C5EA-1D04-4B1A-842E-5CC7308D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92282-9110-4368-A04B-E8B6B7541FBC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00250"/>
                <a:gridCol w="2000250"/>
                <a:gridCol w="2200275"/>
                <a:gridCol w="2200275"/>
              </a:tblGrid>
              <a:tr h="6286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31叶收益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31叶回撤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15叶迁移收益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15叶迁移回撤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T w="6668">
                      <a:solidFill>
                        <a:srgbClr val="DAE3E9"/>
                      </a:solidFill>
                      <a:prstDash val="solid"/>
                    </a:lnT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172E45"/>
                    </a:solidFill>
                  </a:tcPr>
                </a:tc>
              </a:tr>
              <a:tr h="6286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零成本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+1.78%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21.30%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+5.61%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10.93%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每边5bp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-0.22%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21.45%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+3.52%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每边15bp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-4.11%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21.76%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-0.54%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12.78%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延迟1日，零成本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9"/>
                      </a:solidFill>
                      <a:prstDash val="solid"/>
                    </a:lnL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-5.24%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21.00%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+0.84%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3347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12.20%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9"/>
                      </a:solidFill>
                      <a:prstDash val="solid"/>
                    </a:lnR>
                    <a:lnB w="6668">
                      <a:solidFill>
                        <a:srgbClr val="DAE3E9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7749E-2B80-499E-8D56-739DB0E0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45"/>
                </a:solidFill>
                <a:latin typeface="Microsoft YaHei"/>
                <a:ea typeface="Microsoft YaHei"/>
                <a:cs typeface="Microsoft YaHei"/>
              </a:rPr>
              <a:t>指标说明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E0C24-0362-4743-B750-9AE21FD5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72075"/>
            <a:ext cx="885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CSI：日频夏普 rf = 0，252交易日年化。</a:t>
            </a:r>
          </a:p>
          <a:p xmlns:a="http://schemas.openxmlformats.org/drawingml/2006/main">
            <a:pPr>
              <a:def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4759"/>
                </a:solidFill>
                <a:latin typeface="Microsoft YaHei"/>
                <a:ea typeface="Microsoft YaHei"/>
                <a:cs typeface="Microsoft YaHei"/>
              </a:rPr>
              <a:t>北交所：沿用原流程 rf = 1.5% 及日历年收益年化。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09C79-E05E-42B6-80AD-53FD24C1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0"/>
                </a:solidFill>
                <a:latin typeface="Microsoft YaHei"/>
                <a:ea typeface="Microsoft YaHei"/>
                <a:cs typeface="Microsoft YaHei"/>
              </a:rPr>
              <a:t>不同市场、不同费用和年化口径的夏普 / 卡玛不直接横向比较。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708191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2026-10-23T05:08:13.2890000Z</dcterms:created>
  <dcterms:modified xsi:type="dcterms:W3CDTF">2026-10-23T05:08:13.2890000Z</dcterms:modified>
</coreProperties>
</file>