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322" autoAdjust="0"/>
  </p:normalViewPr>
  <p:slideViewPr>
    <p:cSldViewPr snapToGrid="0">
      <p:cViewPr varScale="1">
        <p:scale>
          <a:sx n="116" d="100"/>
          <a:sy n="116" d="100"/>
        </p:scale>
        <p:origin x="19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五天LightGBM平均日IC</c:v>
          </c:tx>
          <c:spPr>
            <a:solidFill>
              <a:srgbClr val="111111"/>
            </a:solidFill>
            <a:ln w="9525">
              <a:solidFill>
                <a:srgbClr val="111111"/>
              </a:solidFill>
            </a:ln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0.17289377</c:v>
                </c:pt>
                <c:pt idx="1">
                  <c:v>1.4177779999999999E-2</c:v>
                </c:pt>
                <c:pt idx="2">
                  <c:v>0.17643199000000001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BE-49DC-8B49-0A4B870189D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2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9F0727C-5755-4F91-A5CC-F902EBE8B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514EF36-52E1-406A-9169-11294E69C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F9CF289-2C8A-49DA-A39F-B5A7CC7B0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FADAAFF-F2E7-4C57-B74B-B9FB5947E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96AF635-15B7-4120-BF06-7D2438D2B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A6BD6EE-18FF-437E-97B4-6AA69F536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15670FF-E88C-4538-BBB0-AE64562CA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0FDE2CC-3AA4-4A81-8A91-515FC6BAF95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AC44B13-0667-42FD-9509-EAD885ED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6DDF67-D71D-4F3C-8AC2-7F542D0D4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774895F-ABC9-4591-8C58-89C05CF93183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10490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量化选股项目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C96456-DEB4-46AB-A6C1-DA778E2967B0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因子筛选、模型更新与亏损分析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64D54B-3685-4E88-ADE9-52E281343479}"/>
              </a:ext>
            </a:extLst>
          </p:cNvPr>
          <p:cNvSpPr>
            <a:spLocks noGrp="1"/>
          </p:cNvSpPr>
          <p:nvPr/>
        </p:nvSpPr>
        <p:spPr>
          <a:xfrm>
            <a:off x="571500" y="4286250"/>
            <a:ext cx="11049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组会汇报  2026年10月16日</a:t>
            </a:r>
          </a:p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数据截至2026年10月9日</a:t>
            </a:r>
          </a:p>
        </p:txBody>
      </p:sp>
    </p:spTree>
    <p:extLst>
      <p:ext uri="{BB962C8B-B14F-4D97-AF65-F5344CB8AC3E}">
        <p14:creationId xmlns:p14="http://schemas.microsoft.com/office/powerpoint/2010/main" val="838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FF8C036-D8CE-4DCD-BFFA-1CE6F8BF56EE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当前结果与结论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2EAB1F-D6F5-48E3-A6D3-7D4C34F82F3A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7894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已实现：每日更新股票池，预测1、2、5、10、20日相对表现。</a:t>
            </a:r>
          </a:p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每季度用最近504个交易日的成熟答案，重筛因子并训练模型。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A13B5C-0213-41B3-8B63-2ECAC38428CA}"/>
              </a:ext>
            </a:extLst>
          </p:cNvPr>
          <p:cNvSpPr>
            <a:spLocks noGrp="1"/>
          </p:cNvSpPr>
          <p:nvPr/>
        </p:nvSpPr>
        <p:spPr>
          <a:xfrm>
            <a:off x="571500" y="2303907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主流程按此前验证期选策略。五个期限的连续账户均未同时达到夏普大于1、卡玛大于2。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33A269-A909-49C8-A22C-A3375F43A9F8}"/>
              </a:ext>
            </a:extLst>
          </p:cNvPr>
          <p:cNvSpPr>
            <a:spLocks noGrp="1"/>
          </p:cNvSpPr>
          <p:nvPr/>
        </p:nvSpPr>
        <p:spPr>
          <a:xfrm>
            <a:off x="571500" y="2865882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后续历史搜索找到了全区间达标候选，但五天候选最近一年收益为−1.90%。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8BA721-61D3-44F0-8D93-F7473C35F2CE}"/>
              </a:ext>
            </a:extLst>
          </p:cNvPr>
          <p:cNvSpPr>
            <a:spLocks noGrp="1"/>
          </p:cNvSpPr>
          <p:nvPr/>
        </p:nvSpPr>
        <p:spPr>
          <a:xfrm>
            <a:off x="571500" y="3427857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当前缺口：训练记录等权，尚未按因子衰减速度自动调整窗口、权重和更新频率。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397A13-0F77-4F2F-991A-A2CE52464DA6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BB27079-9108-4BB6-B2DF-46DFFFDFF17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数据第一天到首次预测，分别做什么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C3AAB4D-53C6-4A3E-9FC0-FB5FBBA7DC7F}"/>
              </a:ext>
            </a:extLst>
          </p:cNvPr>
          <p:cNvGraphicFramePr/>
          <p:nvPr/>
        </p:nvGraphicFramePr>
        <p:xfrm>
          <a:off x="571500" y="1381125"/>
          <a:ext cx="11049000" cy="3952878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日期或阶段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当天实际做什么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2021-11-15，第1天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记录行情，累计有效交易次数。历史不足60天，股票池为空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2021-11-16，第2天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继续累计历史，仍没有股票满足60天条件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2022-02-14，第60个交易日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75只股票入池，计算因子与名次，等待未来价格形成答案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2024-03-27起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首次内部验证阶段，用此前合格记录建立的模型评分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2024-10-08起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开始正式逐季历史测试，季度内每天用固定模型评分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EB0498C-2384-49C2-8CCB-C0B861806F05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本地北交所行情覆盖2021-11-15至2026-10-09。每天新增记录，不等于每天重训。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历史不足或未来答案未出现时，不能造出训练样本。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64A0F3-D3D6-4DC5-A360-7D1B2A37911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039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65ACCD1-2DBC-48D3-9CFA-F221CE3FCE8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每日运行的中文逻辑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0C0EBF-786A-4F16-B184-F89CBCB7FB21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对每个交易日：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385448-0078-491E-9AAA-3FD46D432776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如果是新季度首日：用昨天及以前已知答案重筛因子、重训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E76D7F-8342-4578-86E6-2A86E53C3557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开盘时：按上个交易日的名单，检查资金与约束后买卖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F7B2C2-3996-4964-9275-751D2B55C7D6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收盘后：记录今天行情，更新各股票历史记录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C73ABE-D0E0-4CEC-A5EA-0543A3B85D67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按今天及以前的数据，重新确定今天的股票池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30EEA2-498E-40B4-9BDA-F079CB59715E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计算335列候选指标，取本季度已选好的输入列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9584F9-110B-46B5-B2E6-D8CC8DF07159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用本季度保存的模型评分，保存今天的股票排序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C53216-5F7E-4CBD-8985-79878B9C0669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如果旧记录所需结束价格今天出现：补齐那条记录的答案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97D98E-5EC9-4168-A254-C8DD0D791782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新答案存入历史库，等待下次训练或用于评价旧预测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57CCF2-4AD8-4D55-AFD1-51EB333DF07F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这是历史重演的信息先后顺序。现有代码为了效率，会批量读取与计算一段数据。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64129A-694A-459B-86EA-DFB4FF393276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464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9E4D084-9362-459D-8892-333D6E0A197B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判断能否训练，先检查答案何时出现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95E331-ECBB-4B8A-AF2C-D218DF15B311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2026年4月1日启用模型，只能学习4月1日以前已经知道的答案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67CC59-2046-48BC-B64F-9A833A193AF2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对每条历史股票记录：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ED1E7-3A52-43B1-A2C5-71C2F866E63B}"/>
              </a:ext>
            </a:extLst>
          </p:cNvPr>
          <p:cNvSpPr>
            <a:spLocks noGrp="1"/>
          </p:cNvSpPr>
          <p:nvPr/>
        </p:nvSpPr>
        <p:spPr>
          <a:xfrm>
            <a:off x="609600" y="24860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如果输入日期不在允许的历史窗口：丢弃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4AF2CE-D3B8-48DA-9E34-A60E29C3A9CE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否则，如果收益结束日期 &gt;= 2026-04-01：丢弃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A59F6C-DB92-4600-B2ED-1D46D37A65B7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否则，如果答案为空：丢弃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F2FD12-9601-4052-B7A1-1B5A7ABAB109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否则：允许参与筛因子和训练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5C540D-C4F4-4F69-BBBF-8C2044793068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BDEA26-D752-463E-A0A2-A8FF01553525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3月24日的五天答案在3月31日收盘已知，可以使用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7A78F8-E3D0-44F4-BB9E-85B123D2FCEC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3月25日的五天答案在4月1日收盘才知，本次不能使用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32C0E7-EB69-4AA3-9241-434480054B38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当前五天收益 = t后第5交易日复权收盘价 ÷ t后第1交易日复权开盘价 − 1。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一次学习已知历史可以符合边界，不能用训练结果冒充对这段历史的提前预测。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AD97FA-F7F0-49A0-A259-5BC153C4D22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735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2A2990F-C1BB-4B3B-B633-0B33D6B6B21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4月1日模型的训练、验证和使用范围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FF695C0-C203-4D85-9423-A75761E15496}"/>
              </a:ext>
            </a:extLst>
          </p:cNvPr>
          <p:cNvGraphicFramePr/>
          <p:nvPr/>
        </p:nvGraphicFramePr>
        <p:xfrm>
          <a:off x="571500" y="1381125"/>
          <a:ext cx="11049000" cy="34766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实际日期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内部训练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输入2023-08-21至2025-09-09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答案最晚2025-09-16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筛因子、训练不同方法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内部验证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2025-09-17至2026-03-31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五天完整答案信号截至3月24日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比较方法和仓位规则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正式重训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输入2024-03-01至2026-03-24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答案最晚2026-03-31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重新筛因子、建立正式模型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正式使用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2026-04-01至2026-06-30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每天读当天输入并评分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6D69C71-DA56-4161-BB19-0D7F1AE28A1A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正式重训有49,881行，4—6月答案不参与。当前没有“验证全不达标就拒绝使用”的门槛。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05F2D7-FDFE-44FE-A5BD-276B9FBAEB8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C22EEF-CECC-4801-8757-26CED3524B6D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验证先按IC选3种方法，再比股票数和仓位，共90个账户。</a:t>
            </a:r>
          </a:p>
          <a:p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把夏普与卡玛÷2中较小者作为分数，选最高者，再正式重筛、重训。</a:t>
            </a:r>
          </a:p>
        </p:txBody>
      </p:sp>
    </p:spTree>
    <p:extLst>
      <p:ext uri="{BB962C8B-B14F-4D97-AF65-F5344CB8AC3E}">
        <p14:creationId xmlns:p14="http://schemas.microsoft.com/office/powerpoint/2010/main" val="229035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9F4F4CC-4608-4747-A814-B1678F2A5B8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股票池筛选的if/else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4122A1-D899-44C6-993A-305C59593697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对今天有文件的每只股票：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92B1AD-FAEE-4810-8CC1-705F80B5D557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有效交易 = 量、额都 &gt; 0，且开、高、低、收价格都 &gt; 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159A7-6B73-45CE-80B0-A08B3A9C82EE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如果截至今天的有效交易记录少于60天：剔除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FBC7A-885C-4A99-98AA-C1D9090159D4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否则，如果最近20天有效交易少于16天：剔除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654E21-52A1-431F-A0E5-FE56B2F2B5C1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否则，如果今天不是有效交易：剔除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3E22F3-F718-40C0-A08C-354AB7072E83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否则，如果最近20天平均成交额 &lt;= 0：剔除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D3B03E-A2CA-43F7-8E7F-457A346540FC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否则：加入候选股票名单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D81B07-C855-4A56-B2E6-BEA0DFE310D7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8F1321-E8B5-40E1-BF92-1F7D8857A7D5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按最近20天平均成交额，从大到小排序候选股票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153314-4CB7-4DDA-80EE-9ECA9DA5292E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如果排名 &lt;= 100：今天入池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3BA9DC-FF0E-4F7E-AE57-6D6C12D15703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否则：今天不入池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0E242D-4C3D-425A-88C0-A2F469711DF6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4月1日：350只中，63只历史不足、1只近期交易不足；286只候选按成交额取前100只。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成交额指标为最近20交易日金额之和÷20。收盘后选池，可以使用当天完整行情。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EB2B11-6FB3-444C-8393-2D2220AEB51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4677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F5F5572-5217-4B4D-9A08-06C1C358D70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335列候选指标的来源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855821D-F3BB-4D39-A455-C672DDF5C604}"/>
              </a:ext>
            </a:extLst>
          </p:cNvPr>
          <p:cNvGraphicFramePr/>
          <p:nvPr/>
        </p:nvGraphicFramePr>
        <p:xfrm>
          <a:off x="571500" y="1381125"/>
          <a:ext cx="11049000" cy="3190875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列数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记录什么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供应商Alpha101和Alpha191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价格、成交量及历史运算得到的指标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本地价量特征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过去涨跌、波动和成交活跃程度，公式逐列登记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本地表达式因子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基于假说，对已有历史特征做有限算术组合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335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每只股票每天最多有335个候选输入数字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6559CB43-299C-487E-AE9E-D49C0411308E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旧版是292个供应商因子加12个价量特征，共304列。392不是核实过的供应商列数。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2C0A7F-9EAE-4690-92A9-2FE0EF34800F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9204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477AB65-E386-4FD2-AC57-30A6A560AB8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因子正相关、负相关，分别怎样使用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358C14-6733-45B9-AF86-A475F00A07E4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IC回答：同一天里，因子数值排得越高的股票，后来的收益是否也排得越高？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1B6D9E-65A3-4173-9439-5A8EBA5F7AA9}"/>
              </a:ext>
            </a:extLst>
          </p:cNvPr>
          <p:cNvSpPr>
            <a:spLocks noGrp="1"/>
          </p:cNvSpPr>
          <p:nvPr/>
        </p:nvSpPr>
        <p:spPr>
          <a:xfrm>
            <a:off x="571500" y="191452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因子名次[1,2,3]，收益名次[1,2,3]，完全同向，IC为+1。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799989-EFB6-4023-80B1-0D36353E68C2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11049000" cy="7894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因子名次[1,2,3]，收益名次[3,2,1]，完全反向，IC为−1。</a:t>
            </a:r>
          </a:p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此时因子越小，后来的相对表现越好。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F1BF05-09EB-4EFA-AA51-A6DCBF5CD817}"/>
              </a:ext>
            </a:extLst>
          </p:cNvPr>
          <p:cNvSpPr>
            <a:spLocks noGrp="1"/>
          </p:cNvSpPr>
          <p:nvPr/>
        </p:nvSpPr>
        <p:spPr>
          <a:xfrm>
            <a:off x="571500" y="3427857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本次046平均IC为+0.1523，063为−0.1482。筛选按绝对值比较，因此负相关也能留下。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919E0D-0398-4774-871C-53F8A4F9C9DE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简单IC加权给负IC因子负权重。LightGBM直接学if/else，无需预先把每个负IC输入乘−1。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F56B8-95E9-4532-8F56-60B834B18B6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01212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4FDE930-C6C3-449E-90CC-B6FCC78D2F3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335列筛成100列的中文逻辑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49440C-1BA0-4FC7-BC34-E5BD289E2D0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只使用本次允许训练的49,881行：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7FD2D-04C1-4684-987A-09D794FFFD7D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对每个候选列，算有数值的行数 ÷ 49,881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9449B7-14B1-47CC-A97F-BB81D623BE63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如果比例 &lt; 70%：剔除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3432C1-EA3D-40ED-B6EB-3F9A61F04FC1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否则：逐日计算IC，再对每天的IC求平均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650373-F199-4D18-870B-B6B8A1802A13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38798C-B3F9-4F73-BFB0-4BC94619F608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剩余列按“平均IC绝对值”从大到小排序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6B0A1C-A0E0-4553-99B9-C1501C799694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已选列 = 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346BD-9C2F-4AF9-9C1E-EB46E1741086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按顺序逐列检查：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9DA860-0617-4CC9-8DE8-BCADB16B679C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如果与任意已选列的相关系数绝对值 &gt;= 0.92：跳过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ADD62E-A19F-49E9-861A-4F6E4761BAB1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否则：加入已选列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41ACC0-F7F5-4074-8A7C-A3837665A30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如果已选数量达到100：停止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9C643E-8AA6-4DE0-B532-5E02250CDC75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5列覆盖不足剔除，330列再排序去重；ICIR、夏普、回撤不参与这一步门槛。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原IC计算未统一缺失股票集合，需修正重跑。本页及筛选实例按原实现展示。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48E638-3745-498D-B225-3887DF9933D9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543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9AF4A01-2542-452C-8FFC-492A87D9DE7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实际筛选：063留下，067跳过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F57350B-9009-47CF-B26C-2B2BF97BE319}"/>
              </a:ext>
            </a:extLst>
          </p:cNvPr>
          <p:cNvGraphicFramePr/>
          <p:nvPr/>
        </p:nvGraphicFramePr>
        <p:xfrm>
          <a:off x="571500" y="1381125"/>
          <a:ext cx="11049000" cy="40005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因子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平均IC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与已选列最大相似度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046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+0.1523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首列，无需比较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−0.1482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0.9183 &lt; 0.92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079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−0.1457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0.9112 &lt; 0.92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067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−0.1452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0.9241 ≥ 0.92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−0.1438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0.9289 ≥ 0.92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+0.1438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0.9288 ≥ 0.92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955C9C4-D3E6-4C75-8163-686D66E66DF4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相似度是两列相关系数的绝对值。接近1，说明它们提供高度重复或方向相反的相同信息。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A315AF-7E35-4126-90E3-D54F39037819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4559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C06E1D2-53E5-4E67-A3E0-526FC567A3E6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大表的每一行、每一列，实际是什么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E77D6F-7667-476E-BA4A-ED0B58247477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2026Q2五天模型：49,881行 × 100列输入，另有49,881个答案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E2809EB-66E1-41C2-AD71-57C0A636083E}"/>
              </a:ext>
            </a:extLst>
          </p:cNvPr>
          <p:cNvGraphicFramePr/>
          <p:nvPr/>
        </p:nvGraphicFramePr>
        <p:xfrm>
          <a:off x="571500" y="2190750"/>
          <a:ext cx="11049000" cy="219075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日期／股票，仅对齐行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046输入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063输入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其余98列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训练答案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2024-03-01／920001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−0.15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同日该股票指标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−0.49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2024-03-01／920021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同日该股票指标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2024-03-04／920001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−0.22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同日该股票指标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−0.43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7F30FB9-EFB3-4F53-B362-DAB59F4BF593}"/>
              </a:ext>
            </a:extLst>
          </p:cNvPr>
          <p:cNvSpPr>
            <a:spLocks noGrp="1"/>
          </p:cNvSpPr>
          <p:nvPr/>
        </p:nvSpPr>
        <p:spPr>
          <a:xfrm>
            <a:off x="571500" y="4600575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每个输入先按当天股票排序，再算“名次÷有值股票数−0.5”。</a:t>
            </a:r>
          </a:p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第一行046排第35／100，得到−0.15；五天收益排第1／100，答案为−0.49。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69BBB6-48FD-4C1C-8FDB-FD8C3CFBF869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499天×100只−19条缺答案=49,881行。日期、股票代码和未来收益不放进100列输入。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8BE60A-A7EF-4DED-BFF7-4D9D0B036590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6316672-0362-4759-AEBA-F6ED9A7F8F82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LightGBM如何在这张表上训练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366E75-0DDF-488C-A948-0CA21B405AF8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输入X有49,881行、100列，答案y有49,881个数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BD5CE4-5C51-4D16-AFC7-9ADB6AB7AC0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初始预测p = 全部答案的平均 = 0.0050019045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BD59C5-D6A4-4640-BB53-99A58189CF6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重复180轮，每一轮都使用这批已知历史：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7A426D-F78F-4B48-B0D5-74D55E0A84BF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每行误差e = 真实答案y − 当前预测p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FE0286-DE28-4184-A532-DB36066C9D65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抽取80%的输入列，尝试有限个“输入 &lt;= 分界点”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1C73D4-8B90-44AD-BE5B-6E709FC7DC2E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选最能减小整体误差的合法分组，保存if/else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F840A0-E2CA-455F-B663-181359AE942D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每组至少160行，树深最多5层，末端组最多15个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C381F7-FA0D-4584-9FE2-0EA74BFA05F5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每个末端组修正 = 0.035 × 组内误差和 ÷ (行数+12)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F3F761-5893-4CB8-BE4C-6EE25BC818D0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每行p加上自己所在末端组的修正，再进入下一轮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E18D89-37B5-4629-96C0-54DD9692D1B3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新股票评分：初始值 + 180棵树各自给出的一个修正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76FCAA-A2F0-4AE4-BB97-856EBDEBF651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100列、180轮、0.035等是当前预设，未证明最优。没有按日期逐天在线更新，也未设置提前停训。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245065-D96A-46E4-8387-76B17DE1AF53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DA0111A-505D-4545-9423-A91C8D8D53A2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五天模型每个季度何时重新训练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055801C-01E2-413E-9C15-9843C74BE344}"/>
              </a:ext>
            </a:extLst>
          </p:cNvPr>
          <p:cNvGraphicFramePr/>
          <p:nvPr/>
        </p:nvGraphicFramePr>
        <p:xfrm>
          <a:off x="571500" y="1381125"/>
          <a:ext cx="11049000" cy="4191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训练输入起日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最后输入日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最后答案日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训练行数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2024-10-08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2022-09-01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2024-09-23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2024-09-30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2025-01-02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2022-12-05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2024-12-24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2024-12-31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49,889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2025-04-01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2023-03-02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2025-03-24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2025-03-31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49,889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2025-07-01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2023-05-31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2025-06-23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2025-06-30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49,886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2025-10-09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2023-09-04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2025-09-23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2025-09-30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2026-01-05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2023-12-05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2025-12-24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2025-12-31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49,886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2026-03-24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2026-03-31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2026-07-01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2024-05-31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2026-06-23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2026-06-30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49,872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2026-10-08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2024-09-02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2026-09-30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49,872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049F3110-DF7D-4DDB-AF02-6F90D6D21290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每次重新筛列并创建新模型，最后答案日均早于启用日。季度内每天沿用该季度参数。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871343-57D9-455D-BC06-1F9316634A2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92727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618FD99-9DEF-4F17-905E-007DAF09199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新答案每天出现，模型何时再学习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0D93252-DD6F-4D75-B765-E51E594D63D1}"/>
              </a:ext>
            </a:extLst>
          </p:cNvPr>
          <p:cNvGraphicFramePr/>
          <p:nvPr/>
        </p:nvGraphicFramePr>
        <p:xfrm>
          <a:off x="571500" y="1381125"/>
          <a:ext cx="11049000" cy="363347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事情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主流程频率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具体含义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股票池和指标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交易与价格变化会改变输入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用固定模型算分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输入变化，分数可以变化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筛因子与训练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每季度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最近504交易日内，答案成熟的记录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等权训练，再替换旧模型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市场状态模型HMM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每月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估计市场环境，调整股票仓位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逐因子衰减触发重训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尚未实现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当前没有自动按因子失效速度更新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ACC3BAA-AD92-4C1B-8EB8-8DEED02B8DD9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2026年Q1与Q2因子重合94／100列，Q2与Q3重合93／100列。重训不等于每次换掉大量因子。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62E3CE-0DEA-45AE-A400-518E0A94417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63060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CA713DB-D79D-484A-9FEB-299CF5C6B6A8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1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模型的参数随着日期有漂移</a:t>
            </a:r>
            <a:r>
              <a:rPr sz="31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31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漂移</a:t>
            </a:r>
            <a:r>
              <a:rPr sz="31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31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变的是什么</a:t>
            </a:r>
            <a:endParaRPr sz="31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3C7EBA-1299-420B-A135-95A82DB45D67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固定模型的分界值不会自己变化。可能变化的是：同一种输入条件</a:t>
            </a:r>
            <a:r>
              <a:rPr sz="20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在不同月份对应的后续收益关系。重训才会重新学到分界值和修正值</a:t>
            </a:r>
            <a:r>
              <a:rPr sz="20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6A83-4F2D-46AD-ADC4-73F0A01637D4}"/>
              </a:ext>
            </a:extLst>
          </p:cNvPr>
          <p:cNvSpPr>
            <a:spLocks noGrp="1"/>
          </p:cNvSpPr>
          <p:nvPr/>
        </p:nvSpPr>
        <p:spPr>
          <a:xfrm>
            <a:off x="571500" y="224790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举例（假设</a:t>
            </a:r>
            <a:r>
              <a:rPr sz="20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）：同一条件过去对应+0.20分，近期对应−0.10分。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等权混合新旧记录，可能学出过时的折中关系。单纯把行按日期排好并不能解决</a:t>
            </a:r>
            <a:r>
              <a:rPr sz="20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B38332F2-5A73-4D76-BB48-6D79B58C2E44}"/>
              </a:ext>
            </a:extLst>
          </p:cNvPr>
          <p:cNvGraphicFramePr/>
          <p:nvPr/>
        </p:nvGraphicFramePr>
        <p:xfrm>
          <a:off x="571500" y="3133725"/>
          <a:ext cx="1104900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894F31D-CDF1-44CD-870B-4BF15BDD1635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实测五天LightGBM季度IC为0.173、0.014、0.176。表现变化是告警，不能单独证明漂移及其原因。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A6F5F5-4B5F-4DB6-87D5-8D34F8725F9D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4EF68B9-9178-40BD-855E-BAB0867120CB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因子衰减快慢，要分开测两件事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8D1E5C5-949D-4BAA-8EA4-09A0CE4C8D4F}"/>
              </a:ext>
            </a:extLst>
          </p:cNvPr>
          <p:cNvGraphicFramePr/>
          <p:nvPr/>
        </p:nvGraphicFramePr>
        <p:xfrm>
          <a:off x="571500" y="1381125"/>
          <a:ext cx="11049000" cy="24765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要测什么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怎样只用已知历史计算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对应调整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晚几天买，信号还有效吗</a:t>
                      </a:r>
                      <a:endParaRPr sz="1800" b="0" dirty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固定持有5天，分别延迟0、1、5天买</a:t>
                      </a:r>
                    </a:p>
                    <a:p>
                      <a:r>
                        <a:rPr sz="1800" b="0" dirty="0" err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比较因子与这些后续收益的逐日IC</a:t>
                      </a:r>
                      <a:endParaRPr sz="1800" b="0" dirty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决定执行延迟、持有期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不是直接决定重训频率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同一规律能维持几个月</a:t>
                      </a:r>
                      <a:endParaRPr sz="1800" b="0" dirty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固定同一种五天收益定义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分别看最近21、63、126个成熟日期IC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决定保留多少历史</a:t>
                      </a:r>
                      <a:endParaRPr sz="1800" b="0" dirty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800" b="0" dirty="0" err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旧记录降权与重训频率</a:t>
                      </a:r>
                      <a:endParaRPr sz="1800" b="0" dirty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783A81C7-7E78-4DD2-950C-BCDE505E460F}"/>
              </a:ext>
            </a:extLst>
          </p:cNvPr>
          <p:cNvSpPr>
            <a:spLocks noGrp="1"/>
          </p:cNvSpPr>
          <p:nvPr/>
        </p:nvSpPr>
        <p:spPr>
          <a:xfrm>
            <a:off x="571500" y="4143375"/>
            <a:ext cx="110490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4月1日当时可知的046：499日IC均值0.1523，最近63日0.1459，</a:t>
            </a:r>
          </a:p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最近21日0.0604（输入日期2月24日至3月24日，答案最晚3月31日）。</a:t>
            </a:r>
          </a:p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近期信息变弱值得检查，但不能把“21天”直接认定为因子的有效寿命。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13B3F1-56D9-4AFD-9489-6A64DD0B362C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五天答案要等结束价格出现。20天预测的反馈更迟；每天重训也不能提前获得尚未发生的答案。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43B422-DE0B-4EB6-9665-CC618533AB6D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63A682F-0FC6-4A88-9F5A-685C720BD48D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衰减适应方案：同时比较快、慢两条路径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E801-FFA5-42F0-B153-D34776FEF450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待验证方案，尚未接入主流程；以下数字是预先设定的候选值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6EBB0E3-CF5E-462B-A8A7-1FD649C13CC5}"/>
              </a:ext>
            </a:extLst>
          </p:cNvPr>
          <p:cNvGraphicFramePr/>
          <p:nvPr/>
        </p:nvGraphicFramePr>
        <p:xfrm>
          <a:off x="571500" y="2190750"/>
          <a:ext cx="11049000" cy="20193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保留的历史W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权重减半间隔B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重筛、重训间隔R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快路径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每5个交易日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慢路径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252个交易日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126个交易日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每21个交易日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当前基线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504个交易日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等权，不随年龄降低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每季度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B39225D-9024-435E-BEFA-CEA2C94F8846}"/>
              </a:ext>
            </a:extLst>
          </p:cNvPr>
          <p:cNvSpPr>
            <a:spLocks noGrp="1"/>
          </p:cNvSpPr>
          <p:nvPr/>
        </p:nvSpPr>
        <p:spPr>
          <a:xfrm>
            <a:off x="571500" y="4410075"/>
            <a:ext cx="11049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历史日权重u = 2^(−距训练日的交易日数 ÷ B)。B=21时，21天前权重0.5，42天前0.25。</a:t>
            </a:r>
          </a:p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只留成熟答案，筛选分数 = |加总(u×每日IC) ÷ 加总u|。</a:t>
            </a:r>
          </a:p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两条路径各自去重、选因子和加权重训，由此前验证决定采用哪条。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C13B54-3782-4E78-B630-585AF6A8372E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快路径反应更快但数据少、噪声更大。整行权重无法给同一模型的每一列单独设置“年龄”。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98FEC0-9050-471F-B5C3-AA1A7AEBAFB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F0E791B-AE4F-44B5-A332-CE92D60F3B16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怎样选择快慢方案，才能避免用未来挑参数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C9A76C-AA71-4662-AA2F-E3700727A84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先写定候选W、B、R和筛选规则，再做按时间顺序的验证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BCF38F-0CE0-4288-8BAA-6D93B4E1421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对每个历史验证日D：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E0D50D-C8F3-4600-9C71-16FAD2FC7ECA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如果到达该方案的更新日：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6C2378-462D-40EF-B467-61164A19A2F7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只用答案结束日</a:t>
            </a: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&lt; D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的历史行，重新筛因子并训练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5F3671-EF9D-40BA-9A8A-6E5F8A4E04E8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保存当天预测，不能看到当天记录的未来答案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4F62F5-7079-4B3D-B7D1-06EC12E8FA7E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价格出现后按约束模拟记账，答案成熟后评价旧预测的IC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89443C-01C5-4A3A-BBC0-54C847B91C49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用验证期的IC、扣费收益、回撤和换手比较方案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F1C124-7E25-4346-A084-D96CCD924877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锁定方案后进入下一段测试；不能因测试亏损再回头改它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402F2B-4BEA-4C41-9C62-A56F6C0D7DA3}"/>
              </a:ext>
            </a:extLst>
          </p:cNvPr>
          <p:cNvSpPr>
            <a:spLocks noGrp="1"/>
          </p:cNvSpPr>
          <p:nvPr/>
        </p:nvSpPr>
        <p:spPr>
          <a:xfrm>
            <a:off x="571500" y="4410075"/>
            <a:ext cx="110490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已有探索：63／126／252日窗口、每月更新，共480组账户。</a:t>
            </a:r>
          </a:p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全区间41组达标；最近一年、最近半年均0组达标。</a:t>
            </a:r>
          </a:p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短窗和更频繁训练尚未解决稳定性问题；上述周度加权方案仍需测试</a:t>
            </a: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B1473C-56AD-4E33-824E-9FD443D70DD1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周度加权方案尚无绩效结果。历史已反复查看，仍需冻结方案后用后续新数据检验。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A9D834-C3CA-44C6-96AA-DCED3D0164F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1E7227-3CA7-4B4F-B505-C1171EB8022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主流程五个期限均未同时达到双门槛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B44FBA-3A9A-46D3-9640-2A8F9D0BC96A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2024-10-08至2026-09-30，共485日。每边5bp，无风险年收益1.5%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8D8A173-657C-401A-B314-D135DFAC0D5A}"/>
              </a:ext>
            </a:extLst>
          </p:cNvPr>
          <p:cNvGraphicFramePr/>
          <p:nvPr/>
        </p:nvGraphicFramePr>
        <p:xfrm>
          <a:off x="571500" y="2190750"/>
          <a:ext cx="11049000" cy="32385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预测期限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累计收益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年化收益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最大回撤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65.57%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29.06%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1.061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28.00%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1.038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80.28%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34.74%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1.238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24.60%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1.412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49.23%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22.45%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23.87%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20.73%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0.515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22.75%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7.04%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0.228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14.78%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0.237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0B28169-E344-436D-8191-905210696727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各季度按此前验证选模型和仓位，并非五个纯LightGBM账户。验收要求夏普 &gt; 1且卡玛 &gt; 2。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5D689B-D82E-402E-B701-CE16ED33BB96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67233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5F9145E-F932-4F4E-A1F5-5A3AB899EB0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历史另选的五天候选：近期仍亏损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509A5A5-4BBA-43A2-BC68-5B6F64A683D6}"/>
              </a:ext>
            </a:extLst>
          </p:cNvPr>
          <p:cNvGraphicFramePr/>
          <p:nvPr/>
        </p:nvGraphicFramePr>
        <p:xfrm>
          <a:off x="571500" y="1381125"/>
          <a:ext cx="11049000" cy="2857500"/>
        </p:xfrm>
        <a:graphic>
          <a:graphicData uri="http://schemas.openxmlformats.org/drawingml/2006/table">
            <a:tbl>
              <a:tblPr/>
              <a:tblGrid>
                <a:gridCol w="466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时间段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累计收益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2024-10-08至2025-09-30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+28.02%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5.475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该段通过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2025-10-09至2026-09-30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−1.90%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−2.070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−0.774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该段失败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2026-04-01至2026-09-30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−1.10%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−1.875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−0.968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该段失败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70DC54D7-1341-473B-BD3E-120865F6C505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本页是历史搜索选出的IC组合、前20只、低仓位候选，非上一页的主流程账户。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最近半年包含在最近一年内。全历史达标不能证明近期稳定盈利。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36252E-0DD2-41F6-A7D8-47EF3376760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39721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541A83B-5EEB-4833-BBEA-A8FE813D356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五天主流程：亏损具体发生在哪一段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8B2909-7A24-4311-9DE4-250EA9689DE4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主流程连续账户，按季度验证选策略；本页不是后续另选的低仓位候选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6BC9FCE-5B40-48EF-AB58-99CDE49B5E35}"/>
              </a:ext>
            </a:extLst>
          </p:cNvPr>
          <p:cNvGraphicFramePr/>
          <p:nvPr/>
        </p:nvGraphicFramePr>
        <p:xfrm>
          <a:off x="571500" y="2190750"/>
          <a:ext cx="11049000" cy="3143250"/>
        </p:xfrm>
        <a:graphic>
          <a:graphicData uri="http://schemas.openxmlformats.org/drawingml/2006/table">
            <a:tbl>
              <a:tblPr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期间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资产减少（元）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该段收益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主要观察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2025-03-18至04-07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−340,451.92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−23.87%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全历史最大峰谷回撤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2026Q1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−17,840.86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−1.09%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本季亏损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2026Q2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−103,888.87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−6.43%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近期亏损最集中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2026Q3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−19,872.16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−1.31%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仍未转为盈利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2026-04-01至09-30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−123,761.03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−7.66%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半年合计，包含Q2和Q3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C481710-FF93-4AD3-911A-F077E457A4F2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Q2采用四模型组合，Q3采用LightGBM。季度或跨期有重叠，表中各行不能全部相加。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76F8A2-B2AA-4ECE-9629-A23BA6F547C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632C167-80D8-4D79-BAF8-7BACC87EEEF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最近半年：哪些股票和费用造成了亏损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16B56E-B6DA-4D69-930F-533E7BEE8885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2026-04-01至09-30，五天主流程；表中先列未扣费、未加分红的价格损益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BDA57C2-C751-412D-9C32-22851450A839}"/>
              </a:ext>
            </a:extLst>
          </p:cNvPr>
          <p:cNvGraphicFramePr/>
          <p:nvPr/>
        </p:nvGraphicFramePr>
        <p:xfrm>
          <a:off x="571500" y="2190750"/>
          <a:ext cx="11049000" cy="2286000"/>
        </p:xfrm>
        <a:graphic>
          <a:graphicData uri="http://schemas.openxmlformats.org/drawingml/2006/table">
            <a:tbl>
              <a:tblPr/>
              <a:tblGrid>
                <a:gridCol w="628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股票代码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价格损益（元）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BJ920575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-40,077.40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BJ920090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-22,656.07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BJ920405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-11,345.76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其他全部股票合计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-38,966.06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395AABC-C3D7-4577-A784-F08EBBB4E4FE}"/>
              </a:ext>
            </a:extLst>
          </p:cNvPr>
          <p:cNvSpPr>
            <a:spLocks noGrp="1"/>
          </p:cNvSpPr>
          <p:nvPr/>
        </p:nvSpPr>
        <p:spPr>
          <a:xfrm>
            <a:off x="571500" y="4648200"/>
            <a:ext cx="11049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价格损益合计−113,045.29 − 交易费用11,997.20 + 分红1,281.47</a:t>
            </a:r>
          </a:p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≈ −123,761.03元（分项显示到分，合计用原精度计算）。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D59BDF-77FD-489C-87B2-A61BD17624A8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账本买卖示例：920575于4月17日以7.94元买4,109股，4月23日以7.21元卖出。</a:t>
            </a:r>
          </a:p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价差亏2,999.57元，买卖费用31.13元，合计亏3,030.70元。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9E8294-387B-4980-8927-FC51FAEF37D4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0CF3A5B-59D8-44BA-AF61-77F5313048D1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HMM调整仓位，效果是否总会更好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053DA2-9958-47D3-B75D-894EE99EAAF8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HMM给不同市场环境估计概率，再调整股票仓位。</a:t>
            </a:r>
          </a:p>
          <a:p>
            <a:pPr algn="l"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对照区间2024-10-08至2026-10-09，每边5bp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9AE2291-FC53-4DE0-BE5D-52D582935161}"/>
              </a:ext>
            </a:extLst>
          </p:cNvPr>
          <p:cNvGraphicFramePr/>
          <p:nvPr/>
        </p:nvGraphicFramePr>
        <p:xfrm>
          <a:off x="571500" y="2190750"/>
          <a:ext cx="11049000" cy="28575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相同五天组合、前20只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年化收益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最大回撤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不加仓位控制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47.83%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44.84%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1.067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两状态防御仓位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73.17%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34.08%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2.147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三状态防御仓位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49.43%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24.66%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三状态波动预算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0.449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13.02%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A979A96-438C-44A1-80C9-3F6A9583D722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不同仓位规则改善不一致。降低仓位会同时减小风险和上涨收益；仓位调整不能代替个股模型重训。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77BD16-AAE9-4E6A-96FF-0A6139D3EBF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115741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F8224DF-E5A4-4342-A8A4-F2E989CC8A1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当前回答与接下来需要验证的事项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CA01A7-446E-448B-B357-F329AA25E5BC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当前如何应对变化：每季度重筛因子并重训，移除较旧记录。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目前没有按逐因子衰减自动更新，也没有对旧样本降低权重。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631738-28F2-4BC8-A6C7-6E8E7DC3D0D6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下一步检验快慢路径，并同时核对排序信息和扣费账户。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模型IC恢复不保证赚钱：2026Q3五天LightGBM的IC为0.176，主账户仍亏1.31%。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5E54FA-1449-44BF-8C0B-3699E8DACAF9}"/>
              </a:ext>
            </a:extLst>
          </p:cNvPr>
          <p:cNvSpPr>
            <a:spLocks noGrp="1"/>
          </p:cNvSpPr>
          <p:nvPr/>
        </p:nvSpPr>
        <p:spPr>
          <a:xfrm>
            <a:off x="571500" y="3200400"/>
            <a:ext cx="11049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重跑前先统一老师的收益和调仓定义：原建议用t+6收盘／t+1开盘，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当前五天代码用t+5收盘／t+1开盘，且每天开新批次。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每边2bp简化对照、每五日调仓，应按统一口径另做。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E16648-A53E-4358-825B-E8E650A0A7D6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11049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修正IC缺失股票集合，核验供应商发布时间与开盘成交标记。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将行业、市场、价格和公司行为逐项对照后，再判断亏损原因。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这些完成后冻结方案，用后续新数据检验稳定性。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50BC18-9BE9-4F2B-9A42-3480DFFAA81B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日期边界已核对，不代表全部数据与成交环节都已无未来信息。现有收益均为历史模拟。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688C15-3953-461D-8EEE-D63D92AAECE3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4636</Words>
  <Application>Microsoft Office PowerPoint</Application>
  <DocSecurity>0</DocSecurity>
  <PresentationFormat>宽屏</PresentationFormat>
  <Paragraphs>691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7" baseType="lpstr"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志阳 翟</cp:lastModifiedBy>
  <cp:revision>1</cp:revision>
  <dcterms:created xsi:type="dcterms:W3CDTF">2026-10-16T02:33:29Z</dcterms:created>
  <dcterms:modified xsi:type="dcterms:W3CDTF">2026-10-16T02:49:58Z</dcterms:modified>
</cp:coreProperties>
</file>