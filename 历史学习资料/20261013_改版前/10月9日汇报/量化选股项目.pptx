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2a2a314a647ce" /><Relationship Type="http://schemas.openxmlformats.org/officeDocument/2006/relationships/extended-properties" Target="/docProps/app.xml" Id="R9a25ba85309749a1" /><Relationship Type="http://schemas.openxmlformats.org/officeDocument/2006/relationships/officeDocument" Target="/ppt/presentation.xml" Id="R2369b732925e48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f2934cc2c4975"/>
  </p:sldMasterIdLst>
  <p:sldIdLst>
    <p:sldId xmlns:r="http://schemas.openxmlformats.org/officeDocument/2006/relationships" id="256" r:id="R0daa166085de43a8"/>
    <p:sldId xmlns:r="http://schemas.openxmlformats.org/officeDocument/2006/relationships" id="257" r:id="Rfed1e6d555714de1"/>
    <p:sldId xmlns:r="http://schemas.openxmlformats.org/officeDocument/2006/relationships" id="258" r:id="Rcca3fecd95bb4ba5"/>
    <p:sldId xmlns:r="http://schemas.openxmlformats.org/officeDocument/2006/relationships" id="259" r:id="Rbef33e834b3d4de1"/>
    <p:sldId xmlns:r="http://schemas.openxmlformats.org/officeDocument/2006/relationships" id="260" r:id="R538a02353d52464a"/>
    <p:sldId xmlns:r="http://schemas.openxmlformats.org/officeDocument/2006/relationships" id="261" r:id="Re1d22c7959e54811"/>
    <p:sldId xmlns:r="http://schemas.openxmlformats.org/officeDocument/2006/relationships" id="262" r:id="Rc828ce2b4f4c4149"/>
    <p:sldId xmlns:r="http://schemas.openxmlformats.org/officeDocument/2006/relationships" id="263" r:id="Re362d43402b14137"/>
    <p:sldId xmlns:r="http://schemas.openxmlformats.org/officeDocument/2006/relationships" id="264" r:id="R6df31c568d654a9e"/>
    <p:sldId xmlns:r="http://schemas.openxmlformats.org/officeDocument/2006/relationships" id="265" r:id="Rd39e5796146141e8"/>
    <p:sldId xmlns:r="http://schemas.openxmlformats.org/officeDocument/2006/relationships" id="266" r:id="R45abe8f7fa32443b"/>
    <p:sldId xmlns:r="http://schemas.openxmlformats.org/officeDocument/2006/relationships" id="267" r:id="R4913576a4fec49f9"/>
    <p:sldId xmlns:r="http://schemas.openxmlformats.org/officeDocument/2006/relationships" id="268" r:id="R97011fd114c349a1"/>
    <p:sldId xmlns:r="http://schemas.openxmlformats.org/officeDocument/2006/relationships" id="269" r:id="Rc77ffe8c809f4ff0"/>
    <p:sldId xmlns:r="http://schemas.openxmlformats.org/officeDocument/2006/relationships" id="270" r:id="Reed7d9e6832c4f02"/>
    <p:sldId xmlns:r="http://schemas.openxmlformats.org/officeDocument/2006/relationships" id="271" r:id="R74d0928e018849c3"/>
    <p:sldId xmlns:r="http://schemas.openxmlformats.org/officeDocument/2006/relationships" id="272" r:id="Rf62f7fa4425a47e9"/>
    <p:sldId xmlns:r="http://schemas.openxmlformats.org/officeDocument/2006/relationships" id="273" r:id="R877835034c6044cf"/>
    <p:sldId xmlns:r="http://schemas.openxmlformats.org/officeDocument/2006/relationships" id="274" r:id="R4784bbbb864b44d3"/>
    <p:sldId xmlns:r="http://schemas.openxmlformats.org/officeDocument/2006/relationships" id="275" r:id="Ra8390dff7c5c4e4c"/>
    <p:sldId xmlns:r="http://schemas.openxmlformats.org/officeDocument/2006/relationships" id="276" r:id="R47e32f4f98844341"/>
    <p:sldId xmlns:r="http://schemas.openxmlformats.org/officeDocument/2006/relationships" id="277" r:id="Reaf15125662248f8"/>
    <p:sldId xmlns:r="http://schemas.openxmlformats.org/officeDocument/2006/relationships" id="278" r:id="Rcaf08dd903fa4f95"/>
    <p:sldId xmlns:r="http://schemas.openxmlformats.org/officeDocument/2006/relationships" id="279" r:id="R0600de8020e34e52"/>
    <p:sldId xmlns:r="http://schemas.openxmlformats.org/officeDocument/2006/relationships" id="280" r:id="R796801400230497e"/>
    <p:sldId xmlns:r="http://schemas.openxmlformats.org/officeDocument/2006/relationships" id="281" r:id="R4fa251a38baa4392"/>
    <p:sldId xmlns:r="http://schemas.openxmlformats.org/officeDocument/2006/relationships" id="282" r:id="R23a8e8c0905d4a01"/>
    <p:sldId xmlns:r="http://schemas.openxmlformats.org/officeDocument/2006/relationships" id="283" r:id="R8574f6f73b074584"/>
    <p:sldId xmlns:r="http://schemas.openxmlformats.org/officeDocument/2006/relationships" id="284" r:id="R2a02a3e063f14457"/>
    <p:sldId xmlns:r="http://schemas.openxmlformats.org/officeDocument/2006/relationships" id="285" r:id="R9852750a4bd8451f"/>
    <p:sldId xmlns:r="http://schemas.openxmlformats.org/officeDocument/2006/relationships" id="286" r:id="R89adefe5474349b4"/>
    <p:sldId xmlns:r="http://schemas.openxmlformats.org/officeDocument/2006/relationships" id="287" r:id="R52bd9e671d0443e0"/>
    <p:sldId xmlns:r="http://schemas.openxmlformats.org/officeDocument/2006/relationships" id="288" r:id="Rfc235d5bdc404eab"/>
    <p:sldId xmlns:r="http://schemas.openxmlformats.org/officeDocument/2006/relationships" id="289" r:id="Raf4cbd2fbb084f06"/>
    <p:sldId xmlns:r="http://schemas.openxmlformats.org/officeDocument/2006/relationships" id="290" r:id="R392ddd353ac44301"/>
    <p:sldId xmlns:r="http://schemas.openxmlformats.org/officeDocument/2006/relationships" id="291" r:id="R9373fec1680b4eff"/>
    <p:sldId xmlns:r="http://schemas.openxmlformats.org/officeDocument/2006/relationships" id="292" r:id="R0fcd8c96a3924e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f2934cc2c4975" /><Relationship Type="http://schemas.openxmlformats.org/officeDocument/2006/relationships/theme" Target="/ppt/theme/theme1.xml" Id="Rdd16a0ac018b4b4b" /><Relationship Type="http://schemas.openxmlformats.org/officeDocument/2006/relationships/presProps" Target="/ppt/presProps.xml" Id="Rb9797fc34f5848a8" /><Relationship Type="http://schemas.openxmlformats.org/officeDocument/2006/relationships/viewProps" Target="/ppt/viewProps.xml" Id="R62f34662e3804d0c" /><Relationship Type="http://schemas.openxmlformats.org/officeDocument/2006/relationships/tableStyles" Target="/ppt/tableStyles.xml" Id="R4af755a706fb462d" /><Relationship Type="http://schemas.openxmlformats.org/officeDocument/2006/relationships/slide" Target="/ppt/slides/slide1.xml" Id="R0daa166085de43a8" /><Relationship Type="http://schemas.openxmlformats.org/officeDocument/2006/relationships/slide" Target="/ppt/slides/slide2.xml" Id="Rfed1e6d555714de1" /><Relationship Type="http://schemas.openxmlformats.org/officeDocument/2006/relationships/slide" Target="/ppt/slides/slide3.xml" Id="Rcca3fecd95bb4ba5" /><Relationship Type="http://schemas.openxmlformats.org/officeDocument/2006/relationships/slide" Target="/ppt/slides/slide4.xml" Id="Rbef33e834b3d4de1" /><Relationship Type="http://schemas.openxmlformats.org/officeDocument/2006/relationships/slide" Target="/ppt/slides/slide5.xml" Id="R538a02353d52464a" /><Relationship Type="http://schemas.openxmlformats.org/officeDocument/2006/relationships/slide" Target="/ppt/slides/slide6.xml" Id="Re1d22c7959e54811" /><Relationship Type="http://schemas.openxmlformats.org/officeDocument/2006/relationships/slide" Target="/ppt/slides/slide7.xml" Id="Rc828ce2b4f4c4149" /><Relationship Type="http://schemas.openxmlformats.org/officeDocument/2006/relationships/slide" Target="/ppt/slides/slide8.xml" Id="Re362d43402b14137" /><Relationship Type="http://schemas.openxmlformats.org/officeDocument/2006/relationships/slide" Target="/ppt/slides/slide9.xml" Id="R6df31c568d654a9e" /><Relationship Type="http://schemas.openxmlformats.org/officeDocument/2006/relationships/slide" Target="/ppt/slides/slide10.xml" Id="Rd39e5796146141e8" /><Relationship Type="http://schemas.openxmlformats.org/officeDocument/2006/relationships/slide" Target="/ppt/slides/slide11.xml" Id="R45abe8f7fa32443b" /><Relationship Type="http://schemas.openxmlformats.org/officeDocument/2006/relationships/slide" Target="/ppt/slides/slide12.xml" Id="R4913576a4fec49f9" /><Relationship Type="http://schemas.openxmlformats.org/officeDocument/2006/relationships/slide" Target="/ppt/slides/slide13.xml" Id="R97011fd114c349a1" /><Relationship Type="http://schemas.openxmlformats.org/officeDocument/2006/relationships/slide" Target="/ppt/slides/slide14.xml" Id="Rc77ffe8c809f4ff0" /><Relationship Type="http://schemas.openxmlformats.org/officeDocument/2006/relationships/slide" Target="/ppt/slides/slide15.xml" Id="Reed7d9e6832c4f02" /><Relationship Type="http://schemas.openxmlformats.org/officeDocument/2006/relationships/slide" Target="/ppt/slides/slide16.xml" Id="R74d0928e018849c3" /><Relationship Type="http://schemas.openxmlformats.org/officeDocument/2006/relationships/slide" Target="/ppt/slides/slide17.xml" Id="Rf62f7fa4425a47e9" /><Relationship Type="http://schemas.openxmlformats.org/officeDocument/2006/relationships/slide" Target="/ppt/slides/slide18.xml" Id="R877835034c6044cf" /><Relationship Type="http://schemas.openxmlformats.org/officeDocument/2006/relationships/slide" Target="/ppt/slides/slide19.xml" Id="R4784bbbb864b44d3" /><Relationship Type="http://schemas.openxmlformats.org/officeDocument/2006/relationships/slide" Target="/ppt/slides/slide20.xml" Id="Ra8390dff7c5c4e4c" /><Relationship Type="http://schemas.openxmlformats.org/officeDocument/2006/relationships/slide" Target="/ppt/slides/slide21.xml" Id="R47e32f4f98844341" /><Relationship Type="http://schemas.openxmlformats.org/officeDocument/2006/relationships/slide" Target="/ppt/slides/slide22.xml" Id="Reaf15125662248f8" /><Relationship Type="http://schemas.openxmlformats.org/officeDocument/2006/relationships/slide" Target="/ppt/slides/slide23.xml" Id="Rcaf08dd903fa4f95" /><Relationship Type="http://schemas.openxmlformats.org/officeDocument/2006/relationships/slide" Target="/ppt/slides/slide24.xml" Id="R0600de8020e34e52" /><Relationship Type="http://schemas.openxmlformats.org/officeDocument/2006/relationships/slide" Target="/ppt/slides/slide25.xml" Id="R796801400230497e" /><Relationship Type="http://schemas.openxmlformats.org/officeDocument/2006/relationships/slide" Target="/ppt/slides/slide26.xml" Id="R4fa251a38baa4392" /><Relationship Type="http://schemas.openxmlformats.org/officeDocument/2006/relationships/slide" Target="/ppt/slides/slide27.xml" Id="R23a8e8c0905d4a01" /><Relationship Type="http://schemas.openxmlformats.org/officeDocument/2006/relationships/slide" Target="/ppt/slides/slide28.xml" Id="R8574f6f73b074584" /><Relationship Type="http://schemas.openxmlformats.org/officeDocument/2006/relationships/slide" Target="/ppt/slides/slide29.xml" Id="R2a02a3e063f14457" /><Relationship Type="http://schemas.openxmlformats.org/officeDocument/2006/relationships/slide" Target="/ppt/slides/slide30.xml" Id="R9852750a4bd8451f" /><Relationship Type="http://schemas.openxmlformats.org/officeDocument/2006/relationships/slide" Target="/ppt/slides/slide31.xml" Id="R89adefe5474349b4" /><Relationship Type="http://schemas.openxmlformats.org/officeDocument/2006/relationships/slide" Target="/ppt/slides/slide32.xml" Id="R52bd9e671d0443e0" /><Relationship Type="http://schemas.openxmlformats.org/officeDocument/2006/relationships/slide" Target="/ppt/slides/slide33.xml" Id="Rfc235d5bdc404eab" /><Relationship Type="http://schemas.openxmlformats.org/officeDocument/2006/relationships/slide" Target="/ppt/slides/slide34.xml" Id="Raf4cbd2fbb084f06" /><Relationship Type="http://schemas.openxmlformats.org/officeDocument/2006/relationships/slide" Target="/ppt/slides/slide35.xml" Id="R392ddd353ac44301" /><Relationship Type="http://schemas.openxmlformats.org/officeDocument/2006/relationships/slide" Target="/ppt/slides/slide36.xml" Id="R9373fec1680b4eff" /><Relationship Type="http://schemas.openxmlformats.org/officeDocument/2006/relationships/slide" Target="/ppt/slides/slide37.xml" Id="R0fcd8c96a392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c1bbf1c6b49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b1d04980fa4944" /><Relationship Type="http://schemas.openxmlformats.org/officeDocument/2006/relationships/slideLayout" Target="/ppt/slideLayouts/slideLayout2.xml" Id="R30f4df7aa515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4df7aa515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9ae3033fc243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7cd79161145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0f45f2a04243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f33f42cf4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cbc527bd049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72bdda00d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69d2ddf6a4f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0af7f02044d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b9ddd21cb42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465f5605441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8bc02608a24e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7f32e47ee48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633195a3d4f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f453a25ddd4d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15c7068de470b" /><Relationship Type="http://schemas.openxmlformats.org/officeDocument/2006/relationships/image" Target="/ppt/media/image.png" Id="Rec22e86d80d849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6b3d82177406e" /><Relationship Type="http://schemas.openxmlformats.org/officeDocument/2006/relationships/image" Target="/ppt/media/image2.png" Id="R317c92e33d4844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60e9fe43d423d" /><Relationship Type="http://schemas.openxmlformats.org/officeDocument/2006/relationships/image" Target="/ppt/media/image3.png" Id="R84aeb68212144b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606bae71a47bb" /><Relationship Type="http://schemas.openxmlformats.org/officeDocument/2006/relationships/image" Target="/ppt/media/image4.png" Id="Rba198d3fdc864b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764b93303e4578" /><Relationship Type="http://schemas.openxmlformats.org/officeDocument/2006/relationships/image" Target="/ppt/media/image5.png" Id="Rbc38e03a36f542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3e040abd2476e" /><Relationship Type="http://schemas.openxmlformats.org/officeDocument/2006/relationships/image" Target="/ppt/media/image6.png" Id="Ra1f041c2d5a14c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a50ca0bf5e43b3" /><Relationship Type="http://schemas.openxmlformats.org/officeDocument/2006/relationships/image" Target="/ppt/media/image7.png" Id="R57447b4ef9484f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dca2e2835d42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9ce30b1f841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1937a8d9ce48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e40f82c63459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2eb582f7f4e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404cd4d3644f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f906e3fd943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659ea9ebf142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b229d825e4d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fe322935d477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7575c2eb145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811a1ac9c49ed" /><Relationship Type="http://schemas.openxmlformats.org/officeDocument/2006/relationships/image" Target="/ppt/media/image8.png" Id="R2bc54d2bd2714d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e8dd280be4fa9" /><Relationship Type="http://schemas.openxmlformats.org/officeDocument/2006/relationships/image" Target="/ppt/media/image9.png" Id="R853581fe42c1415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40afd7b584440" /><Relationship Type="http://schemas.openxmlformats.org/officeDocument/2006/relationships/image" Target="/ppt/media/image10.png" Id="Reea159f0b1b74b5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4bc7314da4f9d" /><Relationship Type="http://schemas.openxmlformats.org/officeDocument/2006/relationships/image" Target="/ppt/media/image11.png" Id="R4854a42994384e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48c93c742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CA4514-7244-41A1-B81F-CA89FB12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924D03-AAA9-473E-A8EE-2C28F32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首次完整汇报 · 2026年10月9日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3D7B558B-C96E-47E1-AD17-2B19116A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北交所量化选股项目：从数据到交易验证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0D10CCBB-3D45-4FA0-AC30-61DACD3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EDFBE88-3079-4386-91F6-E1842E6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360976ED-73A3-481E-874E-BF34A84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项目规划（背景）；本地研究代码与冻结结果  |  01 / 37</a:t>
            </a:r>
          </a:p>
        </p:txBody>
      </p:sp>
      <p:sp>
        <p:nvSpPr>
          <p:cNvPr id="7" name="cover-subtitle-7">
            <a:extLst xmlns:a="http://schemas.openxmlformats.org/drawingml/2006/main">
              <a:ext uri="{FF2B5EF4-FFF2-40B4-BE49-F238E27FC236}">
                <a16:creationId xmlns:a16="http://schemas.microsoft.com/office/drawing/2014/main" id="{9CB54E1D-788D-483E-8F2C-159F127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近一个月的研究工作、实验结果与九项建议落实情况</a:t>
            </a:r>
          </a:p>
        </p:txBody>
      </p:sp>
      <p:sp>
        <p:nvSpPr>
          <p:cNvPr id="8" name="cover-body-0-8">
            <a:extLst xmlns:a="http://schemas.openxmlformats.org/drawingml/2006/main">
              <a:ext uri="{FF2B5EF4-FFF2-40B4-BE49-F238E27FC236}">
                <a16:creationId xmlns:a16="http://schemas.microsoft.com/office/drawing/2014/main" id="{AB31BDB5-8D01-4C67-BCDB-65E3185F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研究主线：每天给股票排序，再验证买卖后的资金变化。</a:t>
            </a:r>
          </a:p>
        </p:txBody>
      </p:sp>
      <p:sp>
        <p:nvSpPr>
          <p:cNvPr id="9" name="cover-body-1-9">
            <a:extLst xmlns:a="http://schemas.openxmlformats.org/drawingml/2006/main">
              <a:ext uri="{FF2B5EF4-FFF2-40B4-BE49-F238E27FC236}">
                <a16:creationId xmlns:a16="http://schemas.microsoft.com/office/drawing/2014/main" id="{EDBB340D-33E4-4007-8B86-078672B8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汇报范围：北交所为主，沪深样本作补充验证。</a:t>
            </a:r>
          </a:p>
        </p:txBody>
      </p:sp>
      <p:sp>
        <p:nvSpPr>
          <p:cNvPr id="10" name="cover-body-2-10">
            <a:extLst xmlns:a="http://schemas.openxmlformats.org/drawingml/2006/main">
              <a:ext uri="{FF2B5EF4-FFF2-40B4-BE49-F238E27FC236}">
                <a16:creationId xmlns:a16="http://schemas.microsoft.com/office/drawing/2014/main" id="{1232D7B4-81A7-4AB9-A324-1DE92E9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内容顺序：项目全貌 → 工作过程 → 图表结果 → 九项建议。</a:t>
            </a:r>
          </a:p>
        </p:txBody>
      </p:sp>
      <p:sp>
        <p:nvSpPr>
          <p:cNvPr id="11" name="support-note-11">
            <a:extLst xmlns:a="http://schemas.openxmlformats.org/drawingml/2006/main">
              <a:ext uri="{FF2B5EF4-FFF2-40B4-BE49-F238E27FC236}">
                <a16:creationId xmlns:a16="http://schemas.microsoft.com/office/drawing/2014/main" id="{FD07BC3A-2C2E-407C-ABA0-2862F33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资料截至10月8日晚间；账户结果按各自固定实验区间报告。</a:t>
            </a:r>
          </a:p>
        </p:txBody>
      </p:sp>
    </p:spTree>
    <p:extLst>
      <p:ext uri="{BB962C8B-B14F-4D97-AF65-F5344CB8AC3E}">
        <p14:creationId xmlns:p14="http://schemas.microsoft.com/office/powerpoint/2010/main" val="178142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0C9AE1-46F7-4BF0-838E-2D458790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D01ED3-572E-487C-A2C7-322A8F24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96FEA2A-A843-487C-AB3C-C71C531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把“这只股票值得关注”变成可以检验的规则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B364CB4-850F-43F4-92B4-D75DF17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C303074A-8C1B-4FFB-8D2F-59E102A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95AAA47-1C71-468F-8E39-12A7BAE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项目规划；tools/research_20260930/README.md  |  02 / 37</a:t>
            </a:r>
          </a:p>
        </p:txBody>
      </p:sp>
      <p:sp>
        <p:nvSpPr>
          <p:cNvPr id="7" name="section-heading-0-7">
            <a:extLst xmlns:a="http://schemas.openxmlformats.org/drawingml/2006/main">
              <a:ext uri="{FF2B5EF4-FFF2-40B4-BE49-F238E27FC236}">
                <a16:creationId xmlns:a16="http://schemas.microsoft.com/office/drawing/2014/main" id="{32BB9B1D-6D54-43AE-8C88-41BD939A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要回答的问题</a:t>
            </a:r>
          </a:p>
        </p:txBody>
      </p:sp>
      <p:sp>
        <p:nvSpPr>
          <p:cNvPr id="8" name="section-copy-0-8">
            <a:extLst xmlns:a="http://schemas.openxmlformats.org/drawingml/2006/main">
              <a:ext uri="{FF2B5EF4-FFF2-40B4-BE49-F238E27FC236}">
                <a16:creationId xmlns:a16="http://schemas.microsoft.com/office/drawing/2014/main" id="{57ACAD20-66CB-4BB4-84FE-84E8340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过去的价格与成交记录，能否帮助挑出后续相对更好的股票？</a:t>
            </a:r>
          </a:p>
        </p:txBody>
      </p:sp>
      <p:sp>
        <p:nvSpPr>
          <p:cNvPr id="9" name="section-heading-1-9">
            <a:extLst xmlns:a="http://schemas.openxmlformats.org/drawingml/2006/main">
              <a:ext uri="{FF2B5EF4-FFF2-40B4-BE49-F238E27FC236}">
                <a16:creationId xmlns:a16="http://schemas.microsoft.com/office/drawing/2014/main" id="{31CB4820-D58F-44B0-94AF-F4948EF4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要检验的价值</a:t>
            </a:r>
          </a:p>
        </p:txBody>
      </p:sp>
      <p:sp>
        <p:nvSpPr>
          <p:cNvPr id="10" name="section-copy-1-10">
            <a:extLst xmlns:a="http://schemas.openxmlformats.org/drawingml/2006/main">
              <a:ext uri="{FF2B5EF4-FFF2-40B4-BE49-F238E27FC236}">
                <a16:creationId xmlns:a16="http://schemas.microsoft.com/office/drawing/2014/main" id="{4827C8BA-A307-4987-9BDB-094DFCF4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比较实际资金变化、下跌幅度和交易成本，不能只看预测分数。</a:t>
            </a:r>
          </a:p>
        </p:txBody>
      </p:sp>
      <p:sp>
        <p:nvSpPr>
          <p:cNvPr id="11" name="section-heading-2-11">
            <a:extLst xmlns:a="http://schemas.openxmlformats.org/drawingml/2006/main">
              <a:ext uri="{FF2B5EF4-FFF2-40B4-BE49-F238E27FC236}">
                <a16:creationId xmlns:a16="http://schemas.microsoft.com/office/drawing/2014/main" id="{2B0F704F-DBAF-4770-9EC4-C0EF0D89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本阶段的范围</a:t>
            </a:r>
          </a:p>
        </p:txBody>
      </p:sp>
      <p:sp>
        <p:nvSpPr>
          <p:cNvPr id="12" name="section-copy-2-12">
            <a:extLst xmlns:a="http://schemas.openxmlformats.org/drawingml/2006/main">
              <a:ext uri="{FF2B5EF4-FFF2-40B4-BE49-F238E27FC236}">
                <a16:creationId xmlns:a16="http://schemas.microsoft.com/office/drawing/2014/main" id="{E85FCA46-C18E-4BD4-83B5-83F6C0A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数据核查、动态股票池、因子筛选、模型训练、历史买卖与执行验证。</a:t>
            </a:r>
          </a:p>
        </p:txBody>
      </p:sp>
      <p:sp>
        <p:nvSpPr>
          <p:cNvPr id="13" name="support-note-13">
            <a:extLst xmlns:a="http://schemas.openxmlformats.org/drawingml/2006/main">
              <a:ext uri="{FF2B5EF4-FFF2-40B4-BE49-F238E27FC236}">
                <a16:creationId xmlns:a16="http://schemas.microsoft.com/office/drawing/2014/main" id="{184898F8-BD92-4FF5-8ADC-95314B0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团队整体目标更广；本汇报聚焦已经实际完成的选股研究工作。</a:t>
            </a:r>
          </a:p>
        </p:txBody>
      </p:sp>
    </p:spTree>
    <p:extLst>
      <p:ext uri="{BB962C8B-B14F-4D97-AF65-F5344CB8AC3E}">
        <p14:creationId xmlns:p14="http://schemas.microsoft.com/office/powerpoint/2010/main" val="240732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699EA5-AE0C-406A-87B8-C3873AE0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EF8328-F945-4FC6-A3E8-4EE2B8C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项目全貌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86010AEE-2E6A-42E9-9378-C57568E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项目是一套“选股 + 买卖 + 记账”的连续流程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D716B1F2-7666-478E-8A07-82630B3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9C4C9B6-997B-4EBA-856D-D981113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50F0BEA5-7B24-4939-878B-838A19E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prepare.py；train.py；accounts.py；minute_account.py  |  03 / 37</a:t>
            </a:r>
          </a:p>
        </p:txBody>
      </p:sp>
      <p:sp>
        <p:nvSpPr>
          <p:cNvPr id="7" name="step-number-0-7">
            <a:extLst xmlns:a="http://schemas.openxmlformats.org/drawingml/2006/main">
              <a:ext uri="{FF2B5EF4-FFF2-40B4-BE49-F238E27FC236}">
                <a16:creationId xmlns:a16="http://schemas.microsoft.com/office/drawing/2014/main" id="{4C5E6B7F-DACF-413D-965D-3F81A42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tep-title-0-8">
            <a:extLst xmlns:a="http://schemas.openxmlformats.org/drawingml/2006/main">
              <a:ext uri="{FF2B5EF4-FFF2-40B4-BE49-F238E27FC236}">
                <a16:creationId xmlns:a16="http://schemas.microsoft.com/office/drawing/2014/main" id="{297C34D8-F9F8-48D7-945D-5F1365A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step-copy-0-9">
            <a:extLst xmlns:a="http://schemas.openxmlformats.org/drawingml/2006/main">
              <a:ext uri="{FF2B5EF4-FFF2-40B4-BE49-F238E27FC236}">
                <a16:creationId xmlns:a16="http://schemas.microsoft.com/office/drawing/2014/main" id="{F402ABE0-6012-477A-B818-A7EAD4A7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行情与因子 公司事件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169A9C50-3172-441D-9AF8-5CD09A7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1-11">
            <a:extLst xmlns:a="http://schemas.openxmlformats.org/drawingml/2006/main">
              <a:ext uri="{FF2B5EF4-FFF2-40B4-BE49-F238E27FC236}">
                <a16:creationId xmlns:a16="http://schemas.microsoft.com/office/drawing/2014/main" id="{D79FEEDB-8F8B-45C7-A4E5-19062C13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step-title-1-12">
            <a:extLst xmlns:a="http://schemas.openxmlformats.org/drawingml/2006/main">
              <a:ext uri="{FF2B5EF4-FFF2-40B4-BE49-F238E27FC236}">
                <a16:creationId xmlns:a16="http://schemas.microsoft.com/office/drawing/2014/main" id="{3C3AF6DF-47B5-4317-8E4A-8D6AC44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股票池</a:t>
            </a:r>
          </a:p>
        </p:txBody>
      </p:sp>
      <p:sp>
        <p:nvSpPr>
          <p:cNvPr id="13" name="step-copy-1-13">
            <a:extLst xmlns:a="http://schemas.openxmlformats.org/drawingml/2006/main">
              <a:ext uri="{FF2B5EF4-FFF2-40B4-BE49-F238E27FC236}">
                <a16:creationId xmlns:a16="http://schemas.microsoft.com/office/drawing/2014/main" id="{737CC78E-DA5C-4CE2-BB5F-876C608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每天最多100只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FC4052B-5D80-4CA2-B08C-2AC968D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2-15">
            <a:extLst xmlns:a="http://schemas.openxmlformats.org/drawingml/2006/main">
              <a:ext uri="{FF2B5EF4-FFF2-40B4-BE49-F238E27FC236}">
                <a16:creationId xmlns:a16="http://schemas.microsoft.com/office/drawing/2014/main" id="{2BDBFCCB-24DC-48A1-8F0E-F0D6A3E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tep-title-2-16">
            <a:extLst xmlns:a="http://schemas.openxmlformats.org/drawingml/2006/main">
              <a:ext uri="{FF2B5EF4-FFF2-40B4-BE49-F238E27FC236}">
                <a16:creationId xmlns:a16="http://schemas.microsoft.com/office/drawing/2014/main" id="{0C045745-5BBC-4092-96CA-D7C5FFFA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17" name="step-copy-2-17">
            <a:extLst xmlns:a="http://schemas.openxmlformats.org/drawingml/2006/main">
              <a:ext uri="{FF2B5EF4-FFF2-40B4-BE49-F238E27FC236}">
                <a16:creationId xmlns:a16="http://schemas.microsoft.com/office/drawing/2014/main" id="{D819191F-8DB0-49AB-B311-94BBA10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只用过去的答案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C1279EE9-17DC-4657-82CE-6CF775E7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umber-3-19">
            <a:extLst xmlns:a="http://schemas.openxmlformats.org/drawingml/2006/main">
              <a:ext uri="{FF2B5EF4-FFF2-40B4-BE49-F238E27FC236}">
                <a16:creationId xmlns:a16="http://schemas.microsoft.com/office/drawing/2014/main" id="{8F079638-3BC3-455D-B983-1B0278E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step-title-3-20">
            <a:extLst xmlns:a="http://schemas.openxmlformats.org/drawingml/2006/main">
              <a:ext uri="{FF2B5EF4-FFF2-40B4-BE49-F238E27FC236}">
                <a16:creationId xmlns:a16="http://schemas.microsoft.com/office/drawing/2014/main" id="{41797C0C-2644-4613-A157-38340FDE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21" name="step-copy-3-21">
            <a:extLst xmlns:a="http://schemas.openxmlformats.org/drawingml/2006/main">
              <a:ext uri="{FF2B5EF4-FFF2-40B4-BE49-F238E27FC236}">
                <a16:creationId xmlns:a16="http://schemas.microsoft.com/office/drawing/2014/main" id="{54080AEC-35C5-4C4A-8411-8072DF39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给股票排顺序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C6191ADC-8CC7-491C-957E-88D8E791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number-4-23">
            <a:extLst xmlns:a="http://schemas.openxmlformats.org/drawingml/2006/main">
              <a:ext uri="{FF2B5EF4-FFF2-40B4-BE49-F238E27FC236}">
                <a16:creationId xmlns:a16="http://schemas.microsoft.com/office/drawing/2014/main" id="{09FA3F1B-EDBD-49BF-87C2-359F693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step-title-4-24">
            <a:extLst xmlns:a="http://schemas.openxmlformats.org/drawingml/2006/main">
              <a:ext uri="{FF2B5EF4-FFF2-40B4-BE49-F238E27FC236}">
                <a16:creationId xmlns:a16="http://schemas.microsoft.com/office/drawing/2014/main" id="{FE84609E-128C-4657-9305-29B028E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5" name="step-copy-4-25">
            <a:extLst xmlns:a="http://schemas.openxmlformats.org/drawingml/2006/main">
              <a:ext uri="{FF2B5EF4-FFF2-40B4-BE49-F238E27FC236}">
                <a16:creationId xmlns:a16="http://schemas.microsoft.com/office/drawing/2014/main" id="{3C0F3CB1-D559-49C2-A0A5-E4174AD9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费用与数量 成交与延期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A8B69BB2-E29A-4739-90B5-637EAE5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ep-number-5-27">
            <a:extLst xmlns:a="http://schemas.openxmlformats.org/drawingml/2006/main">
              <a:ext uri="{FF2B5EF4-FFF2-40B4-BE49-F238E27FC236}">
                <a16:creationId xmlns:a16="http://schemas.microsoft.com/office/drawing/2014/main" id="{3AFC21C4-45AA-4367-A429-AA8426DD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step-title-5-28">
            <a:extLst xmlns:a="http://schemas.openxmlformats.org/drawingml/2006/main">
              <a:ext uri="{FF2B5EF4-FFF2-40B4-BE49-F238E27FC236}">
                <a16:creationId xmlns:a16="http://schemas.microsoft.com/office/drawing/2014/main" id="{66DB1709-46BA-41F6-B7BD-B36F89E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核对</a:t>
            </a:r>
          </a:p>
        </p:txBody>
      </p:sp>
      <p:sp>
        <p:nvSpPr>
          <p:cNvPr id="29" name="step-copy-5-29">
            <a:extLst xmlns:a="http://schemas.openxmlformats.org/drawingml/2006/main">
              <a:ext uri="{FF2B5EF4-FFF2-40B4-BE49-F238E27FC236}">
                <a16:creationId xmlns:a16="http://schemas.microsoft.com/office/drawing/2014/main" id="{DC32C7C9-E96F-48D8-88B8-42153A78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现金与持股 回撤与基准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5D4D6649-FB3D-49B6-AB23-FCDD7C1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low-note-0-31">
            <a:extLst xmlns:a="http://schemas.openxmlformats.org/drawingml/2006/main">
              <a:ext uri="{FF2B5EF4-FFF2-40B4-BE49-F238E27FC236}">
                <a16:creationId xmlns:a16="http://schemas.microsoft.com/office/drawing/2014/main" id="{D3F23BCB-705A-4773-A3F1-5A12359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程序每天运行，模型按季度重新学习；资金账户跨季度连续。</a:t>
            </a:r>
          </a:p>
        </p:txBody>
      </p:sp>
      <p:sp>
        <p:nvSpPr>
          <p:cNvPr id="32" name="flow-note-1-32">
            <a:extLst xmlns:a="http://schemas.openxmlformats.org/drawingml/2006/main">
              <a:ext uri="{FF2B5EF4-FFF2-40B4-BE49-F238E27FC236}">
                <a16:creationId xmlns:a16="http://schemas.microsoft.com/office/drawing/2014/main" id="{8DE0BFEF-D966-492F-BB12-5EE3434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当前完整走通了历史研究流程；真实数据时点和实盘执行仍待验证。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1793496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170B4E-A29C-4941-BE0B-1BA7FEE9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4D9C3B-E487-41B4-9B51-ED320EB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工作过程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2ABF6BD2-870A-460A-B1D5-35098D8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近一个月的工作：从首轮模型推进到可核对的实验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0824AEB-ED95-4322-98E8-759DD95B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72D7561-B983-444E-9828-6054F045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ECB3EB67-AC9A-4A07-8D60-2FF9AED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9/20 report.md；9/25方案记录；9/30与10/8研究目录  |  04 / 37</a:t>
            </a:r>
          </a:p>
        </p:txBody>
      </p:sp>
      <p:sp>
        <p:nvSpPr>
          <p:cNvPr id="7" name="date-0-7">
            <a:extLst xmlns:a="http://schemas.openxmlformats.org/drawingml/2006/main">
              <a:ext uri="{FF2B5EF4-FFF2-40B4-BE49-F238E27FC236}">
                <a16:creationId xmlns:a16="http://schemas.microsoft.com/office/drawing/2014/main" id="{08812BF4-A5A9-4729-A2F3-5BCAEDE1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9月20日</a:t>
            </a:r>
          </a:p>
        </p:txBody>
      </p:sp>
      <p:sp>
        <p:nvSpPr>
          <p:cNvPr id="8" name="milestone-0-8">
            <a:extLst xmlns:a="http://schemas.openxmlformats.org/drawingml/2006/main">
              <a:ext uri="{FF2B5EF4-FFF2-40B4-BE49-F238E27FC236}">
                <a16:creationId xmlns:a16="http://schemas.microsoft.com/office/drawing/2014/main" id="{12ED60F4-C9A7-4D8F-8A6E-BB0F19F7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0497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跑通首轮</a:t>
            </a:r>
          </a:p>
        </p:txBody>
      </p:sp>
      <p:sp>
        <p:nvSpPr>
          <p:cNvPr id="9" name="work-0-9">
            <a:extLst xmlns:a="http://schemas.openxmlformats.org/drawingml/2006/main">
              <a:ext uri="{FF2B5EF4-FFF2-40B4-BE49-F238E27FC236}">
                <a16:creationId xmlns:a16="http://schemas.microsoft.com/office/drawing/2014/main" id="{F6459E8F-6B5E-417F-B065-F4084056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LightGBM选股；HMM仓位尝试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2BF995A6-CD1A-43B0-8C5B-A8C9AB7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ate-1-11">
            <a:extLst xmlns:a="http://schemas.openxmlformats.org/drawingml/2006/main">
              <a:ext uri="{FF2B5EF4-FFF2-40B4-BE49-F238E27FC236}">
                <a16:creationId xmlns:a16="http://schemas.microsoft.com/office/drawing/2014/main" id="{F3AB9C02-910F-4FF0-887E-00B6D35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9月25日前后</a:t>
            </a:r>
          </a:p>
        </p:txBody>
      </p:sp>
      <p:sp>
        <p:nvSpPr>
          <p:cNvPr id="12" name="milestone-1-12">
            <a:extLst xmlns:a="http://schemas.openxmlformats.org/drawingml/2006/main">
              <a:ext uri="{FF2B5EF4-FFF2-40B4-BE49-F238E27FC236}">
                <a16:creationId xmlns:a16="http://schemas.microsoft.com/office/drawing/2014/main" id="{753D23BE-193F-4421-914A-44123DA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8602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整理问题</a:t>
            </a:r>
          </a:p>
        </p:txBody>
      </p:sp>
      <p:sp>
        <p:nvSpPr>
          <p:cNvPr id="13" name="work-1-13">
            <a:extLst xmlns:a="http://schemas.openxmlformats.org/drawingml/2006/main">
              <a:ext uri="{FF2B5EF4-FFF2-40B4-BE49-F238E27FC236}">
                <a16:creationId xmlns:a16="http://schemas.microsoft.com/office/drawing/2014/main" id="{B3148BEA-402E-4803-BD95-048B9063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九项建议方案；数据口径核查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89F46B7C-25ED-452B-8DBF-F32692DF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ate-2-15">
            <a:extLst xmlns:a="http://schemas.openxmlformats.org/drawingml/2006/main">
              <a:ext uri="{FF2B5EF4-FFF2-40B4-BE49-F238E27FC236}">
                <a16:creationId xmlns:a16="http://schemas.microsoft.com/office/drawing/2014/main" id="{13463270-7E39-404E-8127-C422FB4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9月30日</a:t>
            </a:r>
          </a:p>
        </p:txBody>
      </p:sp>
      <p:sp>
        <p:nvSpPr>
          <p:cNvPr id="16" name="milestone-2-16">
            <a:extLst xmlns:a="http://schemas.openxmlformats.org/drawingml/2006/main">
              <a:ext uri="{FF2B5EF4-FFF2-40B4-BE49-F238E27FC236}">
                <a16:creationId xmlns:a16="http://schemas.microsoft.com/office/drawing/2014/main" id="{2CDDB32B-F0A5-4423-9E64-D8B1E4AE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形成流程</a:t>
            </a:r>
          </a:p>
        </p:txBody>
      </p:sp>
      <p:sp>
        <p:nvSpPr>
          <p:cNvPr id="17" name="work-2-17">
            <a:extLst xmlns:a="http://schemas.openxmlformats.org/drawingml/2006/main">
              <a:ext uri="{FF2B5EF4-FFF2-40B4-BE49-F238E27FC236}">
                <a16:creationId xmlns:a16="http://schemas.microsoft.com/office/drawing/2014/main" id="{1EAB0B5A-CA2E-45D6-87BF-3987B92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动态Top100；滚动训练与资金账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E1E9F425-FDC7-4346-AE71-35C99E4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ate-3-19">
            <a:extLst xmlns:a="http://schemas.openxmlformats.org/drawingml/2006/main">
              <a:ext uri="{FF2B5EF4-FFF2-40B4-BE49-F238E27FC236}">
                <a16:creationId xmlns:a16="http://schemas.microsoft.com/office/drawing/2014/main" id="{F9BB427D-7CFF-429F-B7D0-DF6DA044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10月1—8日</a:t>
            </a:r>
          </a:p>
        </p:txBody>
      </p:sp>
      <p:sp>
        <p:nvSpPr>
          <p:cNvPr id="20" name="milestone-3-20">
            <a:extLst xmlns:a="http://schemas.openxmlformats.org/drawingml/2006/main">
              <a:ext uri="{FF2B5EF4-FFF2-40B4-BE49-F238E27FC236}">
                <a16:creationId xmlns:a16="http://schemas.microsoft.com/office/drawing/2014/main" id="{23C4EE81-F369-48E0-807A-04EA7D9C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4812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完成扩展</a:t>
            </a:r>
          </a:p>
        </p:txBody>
      </p:sp>
      <p:sp>
        <p:nvSpPr>
          <p:cNvPr id="21" name="work-3-21">
            <a:extLst xmlns:a="http://schemas.openxmlformats.org/drawingml/2006/main">
              <a:ext uri="{FF2B5EF4-FFF2-40B4-BE49-F238E27FC236}">
                <a16:creationId xmlns:a16="http://schemas.microsoft.com/office/drawing/2014/main" id="{7EB12848-1D14-404C-8499-F13B51BB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5765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五档因子；分钟、沪深、分红对照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AF4256FB-C5BF-4565-B467-F0D9C36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ate-4-23">
            <a:extLst xmlns:a="http://schemas.openxmlformats.org/drawingml/2006/main">
              <a:ext uri="{FF2B5EF4-FFF2-40B4-BE49-F238E27FC236}">
                <a16:creationId xmlns:a16="http://schemas.microsoft.com/office/drawing/2014/main" id="{358A825B-51B3-469A-B43A-A6E61917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10月9日</a:t>
            </a:r>
          </a:p>
        </p:txBody>
      </p:sp>
      <p:sp>
        <p:nvSpPr>
          <p:cNvPr id="24" name="milestone-4-24">
            <a:extLst xmlns:a="http://schemas.openxmlformats.org/drawingml/2006/main">
              <a:ext uri="{FF2B5EF4-FFF2-40B4-BE49-F238E27FC236}">
                <a16:creationId xmlns:a16="http://schemas.microsoft.com/office/drawing/2014/main" id="{7D319623-1D8D-46C7-8343-421B35A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2917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整理与汇报</a:t>
            </a:r>
          </a:p>
        </p:txBody>
      </p:sp>
      <p:sp>
        <p:nvSpPr>
          <p:cNvPr id="25" name="work-4-25">
            <a:extLst xmlns:a="http://schemas.openxmlformats.org/drawingml/2006/main">
              <a:ext uri="{FF2B5EF4-FFF2-40B4-BE49-F238E27FC236}">
                <a16:creationId xmlns:a16="http://schemas.microsoft.com/office/drawing/2014/main" id="{23FB0EDA-502D-4B61-AC20-7EDE30D1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3870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冻结代码与结果；解释效果和缺口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A875A16E-9E02-4CD4-8C5E-0A55E25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pport-note-27">
            <a:extLst xmlns:a="http://schemas.openxmlformats.org/drawingml/2006/main">
              <a:ext uri="{FF2B5EF4-FFF2-40B4-BE49-F238E27FC236}">
                <a16:creationId xmlns:a16="http://schemas.microsoft.com/office/drawing/2014/main" id="{21596001-0D00-4091-94A0-EBAD9F23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已确认的主要成果日期从9月20日至10月9日；不把不同版本收益串成“持续提升”。</a:t>
            </a:r>
          </a:p>
        </p:txBody>
      </p:sp>
    </p:spTree>
    <p:extLst>
      <p:ext uri="{BB962C8B-B14F-4D97-AF65-F5344CB8AC3E}">
        <p14:creationId xmlns:p14="http://schemas.microsoft.com/office/powerpoint/2010/main" val="694758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53E3B9-2F7F-465B-A9FA-61CD4BF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F62CE2-7CD2-4C1E-8772-8EE5AB9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工作贡献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520A4EB1-942E-43B1-9DDA-439DF83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本阶段把现有数据和示例，整理成一条研究主线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153EA33-8857-4A4D-99E0-B9E720A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63AEB70C-E47C-4923-BD95-0A5217D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2F3DC239-BA61-408B-ADC5-8E5D91D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源代码快照；tools/research_20260930/；tools/research_20261008/  |  05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6AE18424-35BA-497F-8001-EDF12966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65A937A8-7A71-401B-9AB9-AC3BFAEB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52704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FE822DE1-BB1B-4AF1-8DF4-6FA7FD5E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1724025"/>
            <a:ext cx="306324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11D09692-85AF-4922-B418-383F199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1724025"/>
            <a:ext cx="569671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本阶段完成的工作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96ED6AAC-AE96-4E69-89A6-9A65C3C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6D47F91E-8571-40B9-8CC7-969DDE73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227647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供应商行情与因子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A22E2C78-B190-475B-8BFA-89859E5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227647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核查日期、代码、字段、单位和文件内容；冻结输入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18058A9-AAB9-47E9-9203-9896C02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A7A279B1-3ADA-4E46-B510-7BA2523A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066F6C6C-8C6B-46D0-BF3F-81957F7D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298132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LightGBM、Ridge、HMM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B91CA44D-3B42-4B88-BFF1-C20EDF2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298132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训练内筛选；季度更新；简单方法与敏感性对照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30D65486-E050-4194-868E-839914C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90BE3B1C-5E73-4237-9F4C-A244D03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交易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8028C03D-ACD9-4043-9BDC-4A0FCB3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368617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示例回测逻辑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7EF616DF-641A-4ABB-8FD1-9BFB0E1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368617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连续现金和持股；费用；部分成交与延期处理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AA22389D-7466-490F-9764-2476E3E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6F937F4C-0B46-41AA-A890-880B1D7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13075643-63A9-4C84-A823-3B4ED64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439102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首轮研究输出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D23A364A-848A-4F11-88C4-59AADE0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439102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跨市场实验、实际数据图、核查结果和版本留存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DFFDAFCD-3562-42A3-932D-E53D100D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pport-note-27">
            <a:extLst xmlns:a="http://schemas.openxmlformats.org/drawingml/2006/main">
              <a:ext uri="{FF2B5EF4-FFF2-40B4-BE49-F238E27FC236}">
                <a16:creationId xmlns:a16="http://schemas.microsoft.com/office/drawing/2014/main" id="{A3952523-AE63-4F2E-B9B7-14F1F49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本阶段的产出是研究实现与验证证据；尚未交付可实盘交易的完整系统。</a:t>
            </a:r>
          </a:p>
        </p:txBody>
      </p:sp>
    </p:spTree>
    <p:extLst>
      <p:ext uri="{BB962C8B-B14F-4D97-AF65-F5344CB8AC3E}">
        <p14:creationId xmlns:p14="http://schemas.microsoft.com/office/powerpoint/2010/main" val="147995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70802C-C6B9-4AC8-B4D3-CC9111F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162B1F4-EB47-4780-B0A0-AB4FEC3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5C0B33B0-F0DC-455F-B533-7C4350E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先把股票、日期和单位对齐，再谈模型效果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9C6B2DE8-DEE2-4166-AFCE-F7A5C656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F670F57-F28F-4BF2-B6E1-438A220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D4688658-CAA2-4EBF-8C36-8F581525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数据快照与清单；dictionary_summary.json；shsz_alpha/data_summary.json  |  06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EB7FD9EB-3057-4105-AD3F-64821E4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089E1D65-7095-4D64-845F-D9209FBD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96596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378F657B-B589-4206-BDBB-BB23499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724025"/>
            <a:ext cx="40507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本项目实际使用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88ABFB7E-8439-4A2B-BF4D-2FBF976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1724025"/>
            <a:ext cx="427024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338E5FF0-1C3E-4631-B26E-ADB2006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日线行情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45251968-09C4-41BE-ACAC-2AC161A8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2764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北交所350只文件；348只更新到10/8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2D359767-A418-4DBC-A916-9C7F7A14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227647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每日股票池、价格线索、买卖参照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6A1F152-FD75-452E-BBB3-2F54ED1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03214BCA-C0DE-4483-B2A7-DA8961C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746E281F-A648-47F2-87C0-1A9D8C8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813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北交所292个Alpha + 12个价格线索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09A29312-F5A3-4419-9AD0-C1B49E7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298132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为模型提供同日股票比较的输入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1A4C04F2-AF36-4AE0-AD85-6A14CF6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B3262172-0863-452E-BB4F-34EDE51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分钟行情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13E79739-E227-44F4-A994-D1DC973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6861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两段独立历史；每分钟成交量与价格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23FE4703-8351-424C-923D-B4A6A38A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368617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检查买得到多少、卖不完怎么办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FD0CBC23-8195-4EE7-B186-C2ECF754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528C26E1-1142-4C53-8F63-12DF43F0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分红 / 后复权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AD29DE2A-2A6E-4F67-B07F-CCDB83D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3910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2187条原始事件；348只后复权文件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768D5A0E-0514-455C-B984-265F40A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439102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检查价格变化与股东财富的差别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82500D5A-9FC6-4052-8CE8-CCFD0D3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4-0-27">
            <a:extLst xmlns:a="http://schemas.openxmlformats.org/drawingml/2006/main">
              <a:ext uri="{FF2B5EF4-FFF2-40B4-BE49-F238E27FC236}">
                <a16:creationId xmlns:a16="http://schemas.microsoft.com/office/drawing/2014/main" id="{B7790C4E-9C24-41E7-950E-6BD5B90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沪深样本</a:t>
            </a:r>
          </a:p>
        </p:txBody>
      </p:sp>
      <p:sp>
        <p:nvSpPr>
          <p:cNvPr id="28" name="cell-4-1-28">
            <a:extLst xmlns:a="http://schemas.openxmlformats.org/drawingml/2006/main">
              <a:ext uri="{FF2B5EF4-FFF2-40B4-BE49-F238E27FC236}">
                <a16:creationId xmlns:a16="http://schemas.microsoft.com/office/drawing/2014/main" id="{CAC2C05E-5DCC-4825-97AB-ED83C693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0958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496只来源；101个Alpha + 12个价格线索</a:t>
            </a:r>
          </a:p>
        </p:txBody>
      </p:sp>
      <p:sp>
        <p:nvSpPr>
          <p:cNvPr id="29" name="cell-4-2-29">
            <a:extLst xmlns:a="http://schemas.openxmlformats.org/drawingml/2006/main">
              <a:ext uri="{FF2B5EF4-FFF2-40B4-BE49-F238E27FC236}">
                <a16:creationId xmlns:a16="http://schemas.microsoft.com/office/drawing/2014/main" id="{D66A31CD-DCC1-47E2-8CFB-91B6942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509587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换更长历史与另一市场检验方法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64865A76-C683-4962-9921-6C3B622D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note-31">
            <a:extLst xmlns:a="http://schemas.openxmlformats.org/drawingml/2006/main">
              <a:ext uri="{FF2B5EF4-FFF2-40B4-BE49-F238E27FC236}">
                <a16:creationId xmlns:a16="http://schemas.microsoft.com/office/drawing/2014/main" id="{9EA9DD43-5E56-4824-9B03-C880EA0D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文件数量、候选因子数量、每日入池股票数，是三种不同的数量。</a:t>
            </a:r>
          </a:p>
        </p:txBody>
      </p:sp>
    </p:spTree>
    <p:extLst>
      <p:ext uri="{BB962C8B-B14F-4D97-AF65-F5344CB8AC3E}">
        <p14:creationId xmlns:p14="http://schemas.microsoft.com/office/powerpoint/2010/main" val="33141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0A86F1-4A65-444D-BD0D-A1E73CF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D46E32-A72A-40EE-9E4B-A5563468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1/6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61CB7176-D462-41EB-B455-3A11A6C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每天先挑较活跃的股票，形成动态股票池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1B47D1C-3075-442C-8C6E-B89BF6B5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CFB8A7E-1892-4806-B0D5-8AA456E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9FAAD052-BB85-48E5-8341-AE591DF8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prepare.py；bj_pool_summary.json；从零讲义第9节  |  07 / 37</a:t>
            </a:r>
          </a:p>
        </p:txBody>
      </p:sp>
      <p:sp>
        <p:nvSpPr>
          <p:cNvPr id="7" name="section-heading-0-7">
            <a:extLst xmlns:a="http://schemas.openxmlformats.org/drawingml/2006/main">
              <a:ext uri="{FF2B5EF4-FFF2-40B4-BE49-F238E27FC236}">
                <a16:creationId xmlns:a16="http://schemas.microsoft.com/office/drawing/2014/main" id="{78E80DC1-E7B2-4B1C-B1F0-BE92889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先确认可用记录</a:t>
            </a:r>
          </a:p>
        </p:txBody>
      </p:sp>
      <p:sp>
        <p:nvSpPr>
          <p:cNvPr id="8" name="section-copy-0-8">
            <a:extLst xmlns:a="http://schemas.openxmlformats.org/drawingml/2006/main">
              <a:ext uri="{FF2B5EF4-FFF2-40B4-BE49-F238E27FC236}">
                <a16:creationId xmlns:a16="http://schemas.microsoft.com/office/drawing/2014/main" id="{C2F710EB-DB04-41CB-94D9-3556B47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至少60个有效交易日；近20日至少16日有效成交。</a:t>
            </a:r>
          </a:p>
        </p:txBody>
      </p:sp>
      <p:sp>
        <p:nvSpPr>
          <p:cNvPr id="9" name="section-heading-1-9">
            <a:extLst xmlns:a="http://schemas.openxmlformats.org/drawingml/2006/main">
              <a:ext uri="{FF2B5EF4-FFF2-40B4-BE49-F238E27FC236}">
                <a16:creationId xmlns:a16="http://schemas.microsoft.com/office/drawing/2014/main" id="{B36554AF-C071-436A-9FBE-E67AEA6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再比较交易活跃程度</a:t>
            </a:r>
          </a:p>
        </p:txBody>
      </p:sp>
      <p:sp>
        <p:nvSpPr>
          <p:cNvPr id="10" name="section-copy-1-10">
            <a:extLst xmlns:a="http://schemas.openxmlformats.org/drawingml/2006/main">
              <a:ext uri="{FF2B5EF4-FFF2-40B4-BE49-F238E27FC236}">
                <a16:creationId xmlns:a16="http://schemas.microsoft.com/office/drawing/2014/main" id="{4CC975AA-CCE7-4C05-89F9-4E3E47C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按过去20日平均成交额排序，每天最多保留100只。</a:t>
            </a:r>
          </a:p>
        </p:txBody>
      </p:sp>
      <p:sp>
        <p:nvSpPr>
          <p:cNvPr id="11" name="section-heading-2-11">
            <a:extLst xmlns:a="http://schemas.openxmlformats.org/drawingml/2006/main">
              <a:ext uri="{FF2B5EF4-FFF2-40B4-BE49-F238E27FC236}">
                <a16:creationId xmlns:a16="http://schemas.microsoft.com/office/drawing/2014/main" id="{07704D34-7A6C-4E5A-BA81-F8BC7963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保留真实不足和排除原因</a:t>
            </a:r>
          </a:p>
        </p:txBody>
      </p:sp>
      <p:sp>
        <p:nvSpPr>
          <p:cNvPr id="12" name="section-copy-2-12">
            <a:extLst xmlns:a="http://schemas.openxmlformats.org/drawingml/2006/main">
              <a:ext uri="{FF2B5EF4-FFF2-40B4-BE49-F238E27FC236}">
                <a16:creationId xmlns:a16="http://schemas.microsoft.com/office/drawing/2014/main" id="{1052C285-71C0-41FB-974A-B89BF917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名单为75—100只；累计301只曾入池，155天不足100只。</a:t>
            </a:r>
          </a:p>
        </p:txBody>
      </p:sp>
      <p:sp>
        <p:nvSpPr>
          <p:cNvPr id="13" name="support-note-13">
            <a:extLst xmlns:a="http://schemas.openxmlformats.org/drawingml/2006/main">
              <a:ext uri="{FF2B5EF4-FFF2-40B4-BE49-F238E27FC236}">
                <a16:creationId xmlns:a16="http://schemas.microsoft.com/office/drawing/2014/main" id="{18A91606-704D-4E7A-ACD3-3A79D4E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已实现每日重建；完整历史上市、退市、停牌和特殊状态仍需正式资料核对。</a:t>
            </a:r>
          </a:p>
        </p:txBody>
      </p:sp>
    </p:spTree>
    <p:extLst>
      <p:ext uri="{BB962C8B-B14F-4D97-AF65-F5344CB8AC3E}">
        <p14:creationId xmlns:p14="http://schemas.microsoft.com/office/powerpoint/2010/main" val="729767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B414DB-E4DD-4A11-8CFF-BA91090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3CFA8A-2D76-48ED-A801-932A132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2/6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1B315D61-688B-4FDF-931D-C96D05E6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因子是帮助排序的线索，重复线索需要筛掉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17EF57FA-5456-4170-A5BD-406B1955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1086F338-E555-4DF0-BB7E-79F29AF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C28563E1-9821-402B-9E16-6E91F90F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prepare.PRICE_FEATURES；train.py；bj/*/selection.json  |  08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3C85262E-E523-4A03-8EE6-E5B9297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28991B7C-17FC-4554-A24B-ABB1249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350215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先用普通话理解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5E4AFD2F-D8F3-42F1-B099-D0F7E7B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1724025"/>
            <a:ext cx="229514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专业名称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0042AB16-9823-4FC8-8691-2F07EE7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1724025"/>
            <a:ext cx="44897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本项目怎样处理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F131D62A-B28D-435A-AA93-0AE7854E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过去一段时间涨了多少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AB6A1199-A32F-41C0-8F91-BB640ED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227647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动量类价格特征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20BB982E-6B80-4D3E-A0B8-51FD8F5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227647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计算不同回看窗口的价格变化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D5E50158-934C-4819-B313-23DF088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2E60D8FA-001E-4BC1-A83E-0B6910DD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最近价格起伏有多大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83EFEADA-DDEC-4702-8439-6D6CB4D2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298132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波动类特征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76048527-20E6-4E6F-85F5-755C3EA3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298132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描述幅度，不直接等于未来下跌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16275933-6906-4533-A94C-D05B165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FE412796-D906-4B92-A7A4-E11FA1E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交易是否活跃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5EBA4323-A14D-469D-89C8-1CEA61B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368617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成交额类特征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9FCA0980-0A4B-4800-9553-92B4A7A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368617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统一金额和数量口径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2AE94607-CCEA-49ED-8E54-1538773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EEEAFED6-EDB9-4747-ACA6-407A199D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几条线索是否重复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DE2956D6-9B21-4ABF-87D1-826DD05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439102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因子相关与去重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DD629C91-98F7-46ED-9D51-453912C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439102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只在训练资料中判断，阈值0.85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530961AC-2916-46D9-A06B-6B0130A9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4-0-27">
            <a:extLst xmlns:a="http://schemas.openxmlformats.org/drawingml/2006/main">
              <a:ext uri="{FF2B5EF4-FFF2-40B4-BE49-F238E27FC236}">
                <a16:creationId xmlns:a16="http://schemas.microsoft.com/office/drawing/2014/main" id="{4634A505-3FC1-46E8-884A-B23F2545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最后给模型多少条线索</a:t>
            </a:r>
          </a:p>
        </p:txBody>
      </p:sp>
      <p:sp>
        <p:nvSpPr>
          <p:cNvPr id="28" name="cell-4-1-28">
            <a:extLst xmlns:a="http://schemas.openxmlformats.org/drawingml/2006/main">
              <a:ext uri="{FF2B5EF4-FFF2-40B4-BE49-F238E27FC236}">
                <a16:creationId xmlns:a16="http://schemas.microsoft.com/office/drawing/2014/main" id="{2D3038D5-65CA-4A51-A0F7-2292C676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509587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因子数量选择</a:t>
            </a:r>
          </a:p>
        </p:txBody>
      </p:sp>
      <p:sp>
        <p:nvSpPr>
          <p:cNvPr id="29" name="cell-4-2-29">
            <a:extLst xmlns:a="http://schemas.openxmlformats.org/drawingml/2006/main">
              <a:ext uri="{FF2B5EF4-FFF2-40B4-BE49-F238E27FC236}">
                <a16:creationId xmlns:a16="http://schemas.microsoft.com/office/drawing/2014/main" id="{195A90E7-08B1-4B82-A313-F2ADE30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509587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304候选；实际测试20至100五档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17C68F36-F5B4-455F-AB41-7059D4D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note-31">
            <a:extLst xmlns:a="http://schemas.openxmlformats.org/drawingml/2006/main">
              <a:ext uri="{FF2B5EF4-FFF2-40B4-BE49-F238E27FC236}">
                <a16:creationId xmlns:a16="http://schemas.microsoft.com/office/drawing/2014/main" id="{E1C15CCB-016F-4F66-A584-15B7DC94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每季去重后仍有217—223个候选，五档数量都实际选足。</a:t>
            </a:r>
          </a:p>
        </p:txBody>
      </p:sp>
    </p:spTree>
    <p:extLst>
      <p:ext uri="{BB962C8B-B14F-4D97-AF65-F5344CB8AC3E}">
        <p14:creationId xmlns:p14="http://schemas.microsoft.com/office/powerpoint/2010/main" val="325706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EE0782-06A3-4AEC-945C-D65733C9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F046C3-26A2-4853-A029-03144842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3/6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51A99BB-3991-4103-9D94-18AD3B45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今天收盘后的信息，最早用于下一交易日的买入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DA7941F-942B-48D8-9CB6-ED61BF2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3810FF4-FE00-486A-B948-4515DB0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CD7A0C9D-23CD-431D-AF9F-7086EED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prepare.py标签定义；accounts.py执行日期规则  |  09 / 37</a:t>
            </a:r>
          </a:p>
        </p:txBody>
      </p:sp>
      <p:sp>
        <p:nvSpPr>
          <p:cNvPr id="7" name="time-number-0-7">
            <a:extLst xmlns:a="http://schemas.openxmlformats.org/drawingml/2006/main">
              <a:ext uri="{FF2B5EF4-FFF2-40B4-BE49-F238E27FC236}">
                <a16:creationId xmlns:a16="http://schemas.microsoft.com/office/drawing/2014/main" id="{755E5B0C-F69C-46C5-BF4D-17FC6A80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ime-title-0-8">
            <a:extLst xmlns:a="http://schemas.openxmlformats.org/drawingml/2006/main">
              <a:ext uri="{FF2B5EF4-FFF2-40B4-BE49-F238E27FC236}">
                <a16:creationId xmlns:a16="http://schemas.microsoft.com/office/drawing/2014/main" id="{14EB211F-4BF5-4EE1-987F-D4A1B826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3375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t日收盘后</a:t>
            </a:r>
          </a:p>
        </p:txBody>
      </p:sp>
      <p:sp>
        <p:nvSpPr>
          <p:cNvPr id="9" name="time-copy-0-9">
            <a:extLst xmlns:a="http://schemas.openxmlformats.org/drawingml/2006/main">
              <a:ext uri="{FF2B5EF4-FFF2-40B4-BE49-F238E27FC236}">
                <a16:creationId xmlns:a16="http://schemas.microsoft.com/office/drawing/2014/main" id="{57B877BB-7822-47B4-ABEF-7E0809C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333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读取当日线索，给股票评分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CFC28EEB-0963-4BEA-95D4-0C8AF15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-number-1-11">
            <a:extLst xmlns:a="http://schemas.openxmlformats.org/drawingml/2006/main">
              <a:ext uri="{FF2B5EF4-FFF2-40B4-BE49-F238E27FC236}">
                <a16:creationId xmlns:a16="http://schemas.microsoft.com/office/drawing/2014/main" id="{9F0A8204-DA64-4A7A-BDE3-D4C1266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ime-title-1-12">
            <a:extLst xmlns:a="http://schemas.openxmlformats.org/drawingml/2006/main">
              <a:ext uri="{FF2B5EF4-FFF2-40B4-BE49-F238E27FC236}">
                <a16:creationId xmlns:a16="http://schemas.microsoft.com/office/drawing/2014/main" id="{4F8B5DD7-4361-4D6E-AF6E-70CDDDA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62200"/>
            <a:ext cx="333375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t+1开盘</a:t>
            </a:r>
          </a:p>
        </p:txBody>
      </p:sp>
      <p:sp>
        <p:nvSpPr>
          <p:cNvPr id="13" name="time-copy-1-13">
            <a:extLst xmlns:a="http://schemas.openxmlformats.org/drawingml/2006/main">
              <a:ext uri="{FF2B5EF4-FFF2-40B4-BE49-F238E27FC236}">
                <a16:creationId xmlns:a16="http://schemas.microsoft.com/office/drawing/2014/main" id="{FE1523C5-9242-472C-AB00-258FFC66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28950"/>
            <a:ext cx="3333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按已确定分数与资金规则买入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72D8596D-CFC1-4B5E-A2EA-E05A1B77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957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-number-2-15">
            <a:extLst xmlns:a="http://schemas.openxmlformats.org/drawingml/2006/main">
              <a:ext uri="{FF2B5EF4-FFF2-40B4-BE49-F238E27FC236}">
                <a16:creationId xmlns:a16="http://schemas.microsoft.com/office/drawing/2014/main" id="{6545582B-3727-4F4D-8119-6A7D2D6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ime-title-2-16">
            <a:extLst xmlns:a="http://schemas.openxmlformats.org/drawingml/2006/main">
              <a:ext uri="{FF2B5EF4-FFF2-40B4-BE49-F238E27FC236}">
                <a16:creationId xmlns:a16="http://schemas.microsoft.com/office/drawing/2014/main" id="{1664BC76-C3BD-44F1-90D8-C7675257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333375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t+5收盘</a:t>
            </a:r>
          </a:p>
        </p:txBody>
      </p:sp>
      <p:sp>
        <p:nvSpPr>
          <p:cNvPr id="17" name="time-copy-2-17">
            <a:extLst xmlns:a="http://schemas.openxmlformats.org/drawingml/2006/main">
              <a:ext uri="{FF2B5EF4-FFF2-40B4-BE49-F238E27FC236}">
                <a16:creationId xmlns:a16="http://schemas.microsoft.com/office/drawing/2014/main" id="{341A9E55-CD3B-48F4-ADCE-8ADB96D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3333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计划卖出；不能成交则延期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E4CF7F2A-B09E-4E28-A245-C1371199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-example-19">
            <a:extLst xmlns:a="http://schemas.openxmlformats.org/drawingml/2006/main">
              <a:ext uri="{FF2B5EF4-FFF2-40B4-BE49-F238E27FC236}">
                <a16:creationId xmlns:a16="http://schemas.microsoft.com/office/drawing/2014/main" id="{38E8218D-5393-4D65-B0FF-2FA9F726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教学例子：后续表现乙 +1%、甲 −2%、丙 −5% → 相对顺序为乙、甲、丙。</a:t>
            </a:r>
          </a:p>
        </p:txBody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C4275806-54A0-4A23-A090-1C929222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预测的是相对表现；这个“5日窗口”不表示买入后再额外等待5天。</a:t>
            </a:r>
          </a:p>
        </p:txBody>
      </p:sp>
    </p:spTree>
    <p:extLst>
      <p:ext uri="{BB962C8B-B14F-4D97-AF65-F5344CB8AC3E}">
        <p14:creationId xmlns:p14="http://schemas.microsoft.com/office/powerpoint/2010/main" val="811882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CB2FAA-B1DE-4489-84BE-EDE4B7A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3C40E3-BC42-4B85-ABE8-2E6D355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4/6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3ACFE341-2EF0-4C61-9CF8-ABDF2D51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两类模型负责选股，HMM尝试控制整体仓位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DAABD6CB-D257-4177-BD52-65776F4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6891F56-F82C-46FC-8626-D57B820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0C3E0F97-6494-4961-8A76-04908F4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train.py；hmm_robustness.py；从零讲义第7节  |  10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1AD21F2B-3E79-45BC-80DB-FFE4CD41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7CD2E02D-EE1F-41E9-B6F4-A26F3EAB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18541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CFEC3105-9723-4174-A41E-1511AF3D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1724025"/>
            <a:ext cx="40507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通俗理解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1E18C477-754E-4A27-8863-DF156CF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1724025"/>
            <a:ext cx="40507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在项目里的角色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1A3301DC-F25F-48F8-B5F9-A0508C3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LightGBM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A5E335B7-6E79-40C6-AEAA-5C5F23E9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22764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组合很多小判断，逐步修正误差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AFF8BC03-B2E3-416F-8573-F214CBC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22764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结合多条线索，给股票排序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F248757F-8E95-4C2E-B1C2-460058C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5B1E72D7-E1AA-4F45-B248-5AE95E0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Ridge（岭回归）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FFA4D3EE-7699-4FE6-B455-9E2EB56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29813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给线索加权，限制过大的权重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34648586-D40D-4B85-BC07-32481EF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29813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作为较简单的选股对照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FA0CB912-B250-4B02-8D72-ABF32CD7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36E0CB7B-3D0E-46D0-A1CF-AD5523B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HMM 隐马尔可夫模型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5B183549-4003-411C-95CF-AF27FAE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36861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根据观察推测看不见的市场状态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78AD2E40-DECF-43A4-8827-F233F24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36861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估计低/高波动，调节仓位上限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F4ABBE9E-66DD-4B31-B0B0-21181C00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pport-note-23">
            <a:extLst xmlns:a="http://schemas.openxmlformats.org/drawingml/2006/main">
              <a:ext uri="{FF2B5EF4-FFF2-40B4-BE49-F238E27FC236}">
                <a16:creationId xmlns:a16="http://schemas.microsoft.com/office/drawing/2014/main" id="{AC4DCF36-6091-4A5C-AD3B-02BA571B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模型名称不是效果证明；需要在相同条件下比较。</a:t>
            </a:r>
          </a:p>
        </p:txBody>
      </p:sp>
    </p:spTree>
    <p:extLst>
      <p:ext uri="{BB962C8B-B14F-4D97-AF65-F5344CB8AC3E}">
        <p14:creationId xmlns:p14="http://schemas.microsoft.com/office/powerpoint/2010/main" val="1661483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0EF481-41CE-4542-893E-0DE94BCF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B8A003-7D98-41CC-8FA2-4C7B169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5/6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A4DADA04-0824-4DFF-A1C9-C72EA35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让模型先学习过去，再测试接下来的季度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56D395E-482A-438D-AA46-AAB7D89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BA3F906-27F0-47F8-9AA2-AFCB561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048CBB30-847F-4057-98A1-4BC8FCD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folds.json；train.py；verification.json  |  11 / 37</a:t>
            </a:r>
          </a:p>
        </p:txBody>
      </p:sp>
      <p:sp>
        <p:nvSpPr>
          <p:cNvPr id="7" name="training-stage-0-7">
            <a:extLst xmlns:a="http://schemas.openxmlformats.org/drawingml/2006/main">
              <a:ext uri="{FF2B5EF4-FFF2-40B4-BE49-F238E27FC236}">
                <a16:creationId xmlns:a16="http://schemas.microsoft.com/office/drawing/2014/main" id="{BA6ADD06-4F33-453E-8360-11EDDD8A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aining-title-0-8">
            <a:extLst xmlns:a="http://schemas.openxmlformats.org/drawingml/2006/main">
              <a:ext uri="{FF2B5EF4-FFF2-40B4-BE49-F238E27FC236}">
                <a16:creationId xmlns:a16="http://schemas.microsoft.com/office/drawing/2014/main" id="{CDF9DA9B-1988-4640-9170-DB0E2306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30289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训练：约504日</a:t>
            </a:r>
          </a:p>
        </p:txBody>
      </p:sp>
      <p:sp>
        <p:nvSpPr>
          <p:cNvPr id="9" name="training-copy-0-9">
            <a:extLst xmlns:a="http://schemas.openxmlformats.org/drawingml/2006/main">
              <a:ext uri="{FF2B5EF4-FFF2-40B4-BE49-F238E27FC236}">
                <a16:creationId xmlns:a16="http://schemas.microsoft.com/office/drawing/2014/main" id="{6FEC7ECD-2333-4449-A2C1-B2C7E33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30289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覆盖筛选、单因子评价、相关去重、学习模型</a:t>
            </a:r>
          </a:p>
        </p:txBody>
      </p:sp>
      <p:sp>
        <p:nvSpPr>
          <p:cNvPr id="10" name="training-stage-1-10">
            <a:extLst xmlns:a="http://schemas.openxmlformats.org/drawingml/2006/main">
              <a:ext uri="{FF2B5EF4-FFF2-40B4-BE49-F238E27FC236}">
                <a16:creationId xmlns:a16="http://schemas.microsoft.com/office/drawing/2014/main" id="{C0817640-DD25-44BA-A3A4-017BE0C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9750"/>
            <a:ext cx="3371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ining-title-1-11">
            <a:extLst xmlns:a="http://schemas.openxmlformats.org/drawingml/2006/main">
              <a:ext uri="{FF2B5EF4-FFF2-40B4-BE49-F238E27FC236}">
                <a16:creationId xmlns:a16="http://schemas.microsoft.com/office/drawing/2014/main" id="{CB784B1C-118C-48EB-A966-912BE7E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9775"/>
            <a:ext cx="30289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验证：随后126日</a:t>
            </a:r>
          </a:p>
        </p:txBody>
      </p:sp>
      <p:sp>
        <p:nvSpPr>
          <p:cNvPr id="12" name="training-copy-1-12">
            <a:extLst xmlns:a="http://schemas.openxmlformats.org/drawingml/2006/main">
              <a:ext uri="{FF2B5EF4-FFF2-40B4-BE49-F238E27FC236}">
                <a16:creationId xmlns:a16="http://schemas.microsoft.com/office/drawing/2014/main" id="{5252FCCE-4F94-418A-AF33-5D5DF9B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86075"/>
            <a:ext cx="30289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选择数量和训练停止点，不看后续季度收益</a:t>
            </a:r>
          </a:p>
        </p:txBody>
      </p:sp>
      <p:sp>
        <p:nvSpPr>
          <p:cNvPr id="13" name="training-stage-2-13">
            <a:extLst xmlns:a="http://schemas.openxmlformats.org/drawingml/2006/main">
              <a:ext uri="{FF2B5EF4-FFF2-40B4-BE49-F238E27FC236}">
                <a16:creationId xmlns:a16="http://schemas.microsoft.com/office/drawing/2014/main" id="{BFAD8420-EFE7-4C65-8886-EAD33D9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71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ining-title-2-14">
            <a:extLst xmlns:a="http://schemas.openxmlformats.org/drawingml/2006/main">
              <a:ext uri="{FF2B5EF4-FFF2-40B4-BE49-F238E27FC236}">
                <a16:creationId xmlns:a16="http://schemas.microsoft.com/office/drawing/2014/main" id="{08196416-8EE4-4CF0-9F78-90EB88F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30289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测试：下一季度</a:t>
            </a:r>
          </a:p>
        </p:txBody>
      </p:sp>
      <p:sp>
        <p:nvSpPr>
          <p:cNvPr id="15" name="training-copy-2-15">
            <a:extLst xmlns:a="http://schemas.openxmlformats.org/drawingml/2006/main">
              <a:ext uri="{FF2B5EF4-FFF2-40B4-BE49-F238E27FC236}">
                <a16:creationId xmlns:a16="http://schemas.microsoft.com/office/drawing/2014/main" id="{42EEA87F-6197-48A4-A5CB-2F93C6C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30289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冻结规则，保存分数与连续资金账户</a:t>
            </a:r>
          </a:p>
        </p:txBody>
      </p:sp>
      <p:sp>
        <p:nvSpPr>
          <p:cNvPr id="16" name="roll-repeat-16">
            <a:extLst xmlns:a="http://schemas.openxmlformats.org/drawingml/2006/main">
              <a:ext uri="{FF2B5EF4-FFF2-40B4-BE49-F238E27FC236}">
                <a16:creationId xmlns:a16="http://schemas.microsoft.com/office/drawing/2014/main" id="{67188DC0-3A26-4749-ADDF-C7C1737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下一轮：时间向前推进，再重复筛选、验证和训练。</a:t>
            </a:r>
          </a:p>
        </p:txBody>
      </p:sp>
      <p:sp>
        <p:nvSpPr>
          <p:cNvPr id="17" name="purge-rule-17">
            <a:extLst xmlns:a="http://schemas.openxmlformats.org/drawingml/2006/main">
              <a:ext uri="{FF2B5EF4-FFF2-40B4-BE49-F238E27FC236}">
                <a16:creationId xmlns:a16="http://schemas.microsoft.com/office/drawing/2014/main" id="{243B763E-9B29-4350-9C69-EE951F4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边界处理：答案跨入后一区间的记录，不能留在前一区间学习。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FE1B2FD5-F81C-486E-B8DD-19E881B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每轮清除答案跨界样本；北交所完成8个季度，沪深样本完成31个季度。</a:t>
            </a:r>
          </a:p>
        </p:txBody>
      </p:sp>
    </p:spTree>
    <p:extLst>
      <p:ext uri="{BB962C8B-B14F-4D97-AF65-F5344CB8AC3E}">
        <p14:creationId xmlns:p14="http://schemas.microsoft.com/office/powerpoint/2010/main" val="3629492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1A3862-E24B-4649-86D0-F9A6696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E63F86-B049-4766-9644-3367B410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6/6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83388B4E-4EE8-4BF6-96D4-BF290ACB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买股票只是资金换了形态，账户必须连续记账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CF5F8DF4-095A-460A-932E-4DAC9E3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452A984-26C9-4044-AD11-6DA76247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EE7658B-7C1A-449F-8B77-C878ED4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accounts.py；minute_account.py；下表为教学假设  |  12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0360703D-EA6D-4F51-8668-DF11511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58686B1D-ED25-48A1-BFCF-C4FE2F3A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81888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教学例子：不计费用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BAAD11BC-6DA0-444F-9093-A27F09A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1828800"/>
            <a:ext cx="17465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现金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085C1CC5-0FBB-4DAF-8860-08FA4A34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1828800"/>
            <a:ext cx="17465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股票市值</a:t>
            </a:r>
          </a:p>
        </p:txBody>
      </p:sp>
      <p:sp>
        <p:nvSpPr>
          <p:cNvPr id="11" name="header-3-11">
            <a:extLst xmlns:a="http://schemas.openxmlformats.org/drawingml/2006/main">
              <a:ext uri="{FF2B5EF4-FFF2-40B4-BE49-F238E27FC236}">
                <a16:creationId xmlns:a16="http://schemas.microsoft.com/office/drawing/2014/main" id="{63EA1D0B-B15C-4073-BE21-0C5A587D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1828800"/>
            <a:ext cx="17465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总资产</a:t>
            </a:r>
          </a:p>
        </p:txBody>
      </p:sp>
      <p:sp>
        <p:nvSpPr>
          <p:cNvPr id="12" name="cell-0-0-12">
            <a:extLst xmlns:a="http://schemas.openxmlformats.org/drawingml/2006/main">
              <a:ext uri="{FF2B5EF4-FFF2-40B4-BE49-F238E27FC236}">
                <a16:creationId xmlns:a16="http://schemas.microsoft.com/office/drawing/2014/main" id="{C6AAE65A-D942-4991-90FE-554C4C94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开始有10,000元</a:t>
            </a:r>
          </a:p>
        </p:txBody>
      </p:sp>
      <p:sp>
        <p:nvSpPr>
          <p:cNvPr id="13" name="cell-0-1-13">
            <a:extLst xmlns:a="http://schemas.openxmlformats.org/drawingml/2006/main">
              <a:ext uri="{FF2B5EF4-FFF2-40B4-BE49-F238E27FC236}">
                <a16:creationId xmlns:a16="http://schemas.microsoft.com/office/drawing/2014/main" id="{91EE9F95-B3B3-479A-93D5-2553ACC8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238125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4" name="cell-0-2-14">
            <a:extLst xmlns:a="http://schemas.openxmlformats.org/drawingml/2006/main">
              <a:ext uri="{FF2B5EF4-FFF2-40B4-BE49-F238E27FC236}">
                <a16:creationId xmlns:a16="http://schemas.microsoft.com/office/drawing/2014/main" id="{4C5A9C34-6826-410E-8253-5925520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238125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cell-0-3-15">
            <a:extLst xmlns:a="http://schemas.openxmlformats.org/drawingml/2006/main">
              <a:ext uri="{FF2B5EF4-FFF2-40B4-BE49-F238E27FC236}">
                <a16:creationId xmlns:a16="http://schemas.microsoft.com/office/drawing/2014/main" id="{EF498241-456D-46C9-8449-077B2F1B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238125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85271FC5-8F89-409C-B125-61275BD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ell-1-0-17">
            <a:extLst xmlns:a="http://schemas.openxmlformats.org/drawingml/2006/main">
              <a:ext uri="{FF2B5EF4-FFF2-40B4-BE49-F238E27FC236}">
                <a16:creationId xmlns:a16="http://schemas.microsoft.com/office/drawing/2014/main" id="{274F313B-F41A-4155-88E4-8090E64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10元/股，买100股</a:t>
            </a:r>
          </a:p>
        </p:txBody>
      </p:sp>
      <p:sp>
        <p:nvSpPr>
          <p:cNvPr id="18" name="cell-1-1-18">
            <a:extLst xmlns:a="http://schemas.openxmlformats.org/drawingml/2006/main">
              <a:ext uri="{FF2B5EF4-FFF2-40B4-BE49-F238E27FC236}">
                <a16:creationId xmlns:a16="http://schemas.microsoft.com/office/drawing/2014/main" id="{167A8535-7F0F-4F0E-B3F1-9C86B92A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313372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9,000</a:t>
            </a:r>
          </a:p>
        </p:txBody>
      </p:sp>
      <p:sp>
        <p:nvSpPr>
          <p:cNvPr id="19" name="cell-1-2-19">
            <a:extLst xmlns:a="http://schemas.openxmlformats.org/drawingml/2006/main">
              <a:ext uri="{FF2B5EF4-FFF2-40B4-BE49-F238E27FC236}">
                <a16:creationId xmlns:a16="http://schemas.microsoft.com/office/drawing/2014/main" id="{29928377-C25C-4BA9-A0B8-5F120FC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313372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1,000</a:t>
            </a:r>
          </a:p>
        </p:txBody>
      </p:sp>
      <p:sp>
        <p:nvSpPr>
          <p:cNvPr id="20" name="cell-1-3-20">
            <a:extLst xmlns:a="http://schemas.openxmlformats.org/drawingml/2006/main">
              <a:ext uri="{FF2B5EF4-FFF2-40B4-BE49-F238E27FC236}">
                <a16:creationId xmlns:a16="http://schemas.microsoft.com/office/drawing/2014/main" id="{84D7DAED-6162-4E5D-9BDE-8DB9C2D0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313372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21" name="rule-21">
            <a:extLst xmlns:a="http://schemas.openxmlformats.org/drawingml/2006/main">
              <a:ext uri="{FF2B5EF4-FFF2-40B4-BE49-F238E27FC236}">
                <a16:creationId xmlns:a16="http://schemas.microsoft.com/office/drawing/2014/main" id="{C6AC9F51-BC36-4AE2-94C5-002519B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ell-2-0-22">
            <a:extLst xmlns:a="http://schemas.openxmlformats.org/drawingml/2006/main">
              <a:ext uri="{FF2B5EF4-FFF2-40B4-BE49-F238E27FC236}">
                <a16:creationId xmlns:a16="http://schemas.microsoft.com/office/drawing/2014/main" id="{80C22472-95DA-4B69-9E4E-1C470EE5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股价变为11元，尚未卖出</a:t>
            </a:r>
          </a:p>
        </p:txBody>
      </p:sp>
      <p:sp>
        <p:nvSpPr>
          <p:cNvPr id="23" name="cell-2-1-23">
            <a:extLst xmlns:a="http://schemas.openxmlformats.org/drawingml/2006/main">
              <a:ext uri="{FF2B5EF4-FFF2-40B4-BE49-F238E27FC236}">
                <a16:creationId xmlns:a16="http://schemas.microsoft.com/office/drawing/2014/main" id="{7E8DBBB2-8AC2-4473-B36C-2125EBEA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388620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9,000</a:t>
            </a:r>
          </a:p>
        </p:txBody>
      </p:sp>
      <p:sp>
        <p:nvSpPr>
          <p:cNvPr id="24" name="cell-2-2-24">
            <a:extLst xmlns:a="http://schemas.openxmlformats.org/drawingml/2006/main">
              <a:ext uri="{FF2B5EF4-FFF2-40B4-BE49-F238E27FC236}">
                <a16:creationId xmlns:a16="http://schemas.microsoft.com/office/drawing/2014/main" id="{8B4F73CD-3550-437C-99E3-4A86861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388620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1,100</a:t>
            </a:r>
          </a:p>
        </p:txBody>
      </p:sp>
      <p:sp>
        <p:nvSpPr>
          <p:cNvPr id="25" name="cell-2-3-25">
            <a:extLst xmlns:a="http://schemas.openxmlformats.org/drawingml/2006/main">
              <a:ext uri="{FF2B5EF4-FFF2-40B4-BE49-F238E27FC236}">
                <a16:creationId xmlns:a16="http://schemas.microsoft.com/office/drawing/2014/main" id="{EBD0F717-AF7E-4BF0-9D7B-0C2E9ED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388620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10,100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7FBFB398-585B-45D0-93C7-EE76F180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3-0-27">
            <a:extLst xmlns:a="http://schemas.openxmlformats.org/drawingml/2006/main">
              <a:ext uri="{FF2B5EF4-FFF2-40B4-BE49-F238E27FC236}">
                <a16:creationId xmlns:a16="http://schemas.microsoft.com/office/drawing/2014/main" id="{52AF64F6-B1C1-4CBE-AADB-F77C8D56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按11元全部卖出</a:t>
            </a:r>
          </a:p>
        </p:txBody>
      </p:sp>
      <p:sp>
        <p:nvSpPr>
          <p:cNvPr id="28" name="cell-3-1-28">
            <a:extLst xmlns:a="http://schemas.openxmlformats.org/drawingml/2006/main">
              <a:ext uri="{FF2B5EF4-FFF2-40B4-BE49-F238E27FC236}">
                <a16:creationId xmlns:a16="http://schemas.microsoft.com/office/drawing/2014/main" id="{B3D01647-C8C7-4085-9FD8-0C919DA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463867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10,100</a:t>
            </a:r>
          </a:p>
        </p:txBody>
      </p:sp>
      <p:sp>
        <p:nvSpPr>
          <p:cNvPr id="29" name="cell-3-2-29">
            <a:extLst xmlns:a="http://schemas.openxmlformats.org/drawingml/2006/main">
              <a:ext uri="{FF2B5EF4-FFF2-40B4-BE49-F238E27FC236}">
                <a16:creationId xmlns:a16="http://schemas.microsoft.com/office/drawing/2014/main" id="{30C71AD3-AF73-4742-85CE-08AE059B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463867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cell-3-3-30">
            <a:extLst xmlns:a="http://schemas.openxmlformats.org/drawingml/2006/main">
              <a:ext uri="{FF2B5EF4-FFF2-40B4-BE49-F238E27FC236}">
                <a16:creationId xmlns:a16="http://schemas.microsoft.com/office/drawing/2014/main" id="{7E7D106A-7F48-4B60-8763-699FC1D9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463867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10,100</a:t>
            </a:r>
          </a:p>
        </p:txBody>
      </p:sp>
      <p:sp>
        <p:nvSpPr>
          <p:cNvPr id="31" name="rule-31">
            <a:extLst xmlns:a="http://schemas.openxmlformats.org/drawingml/2006/main">
              <a:ext uri="{FF2B5EF4-FFF2-40B4-BE49-F238E27FC236}">
                <a16:creationId xmlns:a16="http://schemas.microsoft.com/office/drawing/2014/main" id="{7C44239C-0CF8-4987-9A87-73C193A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pport-note-32">
            <a:extLst xmlns:a="http://schemas.openxmlformats.org/drawingml/2006/main">
              <a:ext uri="{FF2B5EF4-FFF2-40B4-BE49-F238E27FC236}">
                <a16:creationId xmlns:a16="http://schemas.microsoft.com/office/drawing/2014/main" id="{FBBFCC8A-B12D-4060-89DE-CDAF42A4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实际实验：初始100万元；新批次≤20%；单股≤10%；买卖各扣假设成本15bp。</a:t>
            </a:r>
          </a:p>
        </p:txBody>
      </p:sp>
    </p:spTree>
    <p:extLst>
      <p:ext uri="{BB962C8B-B14F-4D97-AF65-F5344CB8AC3E}">
        <p14:creationId xmlns:p14="http://schemas.microsoft.com/office/powerpoint/2010/main" val="553315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E00D22-E5BC-4E6A-97BC-1BAB1B5B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CA7BF6-2C22-4DB3-B80F-2CB886B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评价口径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A9F09908-0123-4FF3-A3F7-8B60609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排序、赚钱和风险，需要分别回答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D669970-7B10-47B9-9ED2-A3756DEC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B026E72-7DB3-4053-B536-692CB7AC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8489083-ABA9-4488-9EB2-79EA6356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model_metrics；accounts.metrics；从零讲义第6、19节  |  13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FA57AA11-D61A-4A26-8314-6FBDB91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939190BC-3264-49D1-A4C1-5EDE672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95351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要回答的问题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F4E9E4B8-1C16-4C7A-82DB-07146BE5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1724025"/>
            <a:ext cx="218541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69456D05-EC05-432C-B8A6-D9BF24A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1724025"/>
            <a:ext cx="514807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怎样读，怎样避免误读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490CC7DA-4CB4-4551-980E-062FF81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股票顺序排得准不准？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4E7C47CA-CA32-4103-BFAD-A6D976D5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2764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Rank IC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A35F9FB8-E50B-47AE-9481-284E7D5F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227647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越接近1，排序越一致；不是收益率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0B07202-6776-4C05-B24A-E8E35DA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9CBF72A4-760A-414D-8B74-709FE098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起点到终点多了多少钱？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DAF584C9-DC3D-4C18-BE32-F9B7FE97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98132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累计收益率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12FE4289-9D08-4AC6-95A3-2B1AAC9D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298132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100变120是+20%；必须注明日期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8349D893-42AC-430F-9DC6-00B7643B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145702CC-9140-400C-9176-9E91E311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过程中最深跌了多少？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B313062A-1CB3-46AB-97D3-B21D375B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36861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66AC4AE9-1993-415D-A887-F2328B9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368617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200降至110是−45%；不等于最终亏损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400E3D0D-7DCA-48F9-85EA-FF89218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AD27CBFC-6ACD-4671-A4D8-62EEC04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是不是只赶上市场上涨？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4EFDC19A-5C02-4D49-BD5C-30131AC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439102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基准 / 简单模型对照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D37690AC-414E-4B8F-AC99-6EAA867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439102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同一日期和规则比较，说明费用与分红口径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54FF4CDE-4B35-4906-B8EB-C2F71EB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pport-note-27">
            <a:extLst xmlns:a="http://schemas.openxmlformats.org/drawingml/2006/main">
              <a:ext uri="{FF2B5EF4-FFF2-40B4-BE49-F238E27FC236}">
                <a16:creationId xmlns:a16="http://schemas.microsoft.com/office/drawing/2014/main" id="{A129E7B0-7A96-4FDE-A6B3-6C1AE48A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净值1代表起始资金；净值1.5代表总资产约为起点的1.5倍。</a:t>
            </a:r>
          </a:p>
        </p:txBody>
      </p:sp>
    </p:spTree>
    <p:extLst>
      <p:ext uri="{BB962C8B-B14F-4D97-AF65-F5344CB8AC3E}">
        <p14:creationId xmlns:p14="http://schemas.microsoft.com/office/powerpoint/2010/main" val="1099818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2F4779-0B87-48CB-AD0A-1F5CC38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B97312-BDEC-437A-98BC-99B08E64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4DD26B23-669B-44F4-9539-40FE2B4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先固定考卷和记账规则，再比较不同方法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9C802E79-EDDB-4AF6-9C3A-7ED56EC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29FAE98-8430-4B9D-9BF1-0C14BB67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8A197765-BB44-494D-A7FF-84B441A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extension_protocol.json；folds.json；旧版final_summary.json  |  14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698F9DA9-E8CA-4861-9B77-BD90A410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74E338FC-3C9E-4ADA-AD5B-8F03EAE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DA2805E6-79A5-45BF-9A0B-9C0D171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800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北交所主比较</a:t>
            </a:r>
          </a:p>
        </p:txBody>
      </p:sp>
      <p:sp>
        <p:nvSpPr>
          <p:cNvPr id="10" name="cell-0-0-10">
            <a:extLst xmlns:a="http://schemas.openxmlformats.org/drawingml/2006/main">
              <a:ext uri="{FF2B5EF4-FFF2-40B4-BE49-F238E27FC236}">
                <a16:creationId xmlns:a16="http://schemas.microsoft.com/office/drawing/2014/main" id="{69AF5A94-6A9C-49D3-81AC-7A90E477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共同区间</a:t>
            </a:r>
          </a:p>
        </p:txBody>
      </p:sp>
      <p:sp>
        <p:nvSpPr>
          <p:cNvPr id="11" name="cell-0-1-11">
            <a:extLst xmlns:a="http://schemas.openxmlformats.org/drawingml/2006/main">
              <a:ext uri="{FF2B5EF4-FFF2-40B4-BE49-F238E27FC236}">
                <a16:creationId xmlns:a16="http://schemas.microsoft.com/office/drawing/2014/main" id="{4C561D0C-5607-4E56-ABC7-4A9D31C7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7647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2024-10-08—2026-09-29；8个测试季度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5B415DBA-6A87-48CC-8A07-C0CCAFA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-1-0-13">
            <a:extLst xmlns:a="http://schemas.openxmlformats.org/drawingml/2006/main">
              <a:ext uri="{FF2B5EF4-FFF2-40B4-BE49-F238E27FC236}">
                <a16:creationId xmlns:a16="http://schemas.microsoft.com/office/drawing/2014/main" id="{7AAF2B45-ECC2-4AE8-B763-777868E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共同资金规则</a:t>
            </a:r>
          </a:p>
        </p:txBody>
      </p:sp>
      <p:sp>
        <p:nvSpPr>
          <p:cNvPr id="14" name="cell-1-1-14">
            <a:extLst xmlns:a="http://schemas.openxmlformats.org/drawingml/2006/main">
              <a:ext uri="{FF2B5EF4-FFF2-40B4-BE49-F238E27FC236}">
                <a16:creationId xmlns:a16="http://schemas.microsoft.com/office/drawing/2014/main" id="{7D454C00-0F2D-416A-A8CF-43673CB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670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100万元；每日Top5新批次；资金与持股连续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AFD85D62-0A8B-4CDE-BF26-1F78D9E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ll-2-0-16">
            <a:extLst xmlns:a="http://schemas.openxmlformats.org/drawingml/2006/main">
              <a:ext uri="{FF2B5EF4-FFF2-40B4-BE49-F238E27FC236}">
                <a16:creationId xmlns:a16="http://schemas.microsoft.com/office/drawing/2014/main" id="{1CBA4482-3736-4376-9FED-613EEE1B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共同成本与容量</a:t>
            </a:r>
          </a:p>
        </p:txBody>
      </p:sp>
      <p:sp>
        <p:nvSpPr>
          <p:cNvPr id="17" name="cell-2-1-17">
            <a:extLst xmlns:a="http://schemas.openxmlformats.org/drawingml/2006/main">
              <a:ext uri="{FF2B5EF4-FFF2-40B4-BE49-F238E27FC236}">
                <a16:creationId xmlns:a16="http://schemas.microsoft.com/office/drawing/2014/main" id="{A13A6FE5-7FF7-486B-8D34-EFEF280C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5757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买卖各15bp（0.15%）；日成交额参与约束1%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5C9156DE-A3CE-40D9-8A6C-C611AAA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3-0-19">
            <a:extLst xmlns:a="http://schemas.openxmlformats.org/drawingml/2006/main">
              <a:ext uri="{FF2B5EF4-FFF2-40B4-BE49-F238E27FC236}">
                <a16:creationId xmlns:a16="http://schemas.microsoft.com/office/drawing/2014/main" id="{F6DD0908-9398-4D36-9362-852BD91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线索数量</a:t>
            </a:r>
          </a:p>
        </p:txBody>
      </p:sp>
      <p:sp>
        <p:nvSpPr>
          <p:cNvPr id="20" name="cell-3-1-20">
            <a:extLst xmlns:a="http://schemas.openxmlformats.org/drawingml/2006/main">
              <a:ext uri="{FF2B5EF4-FFF2-40B4-BE49-F238E27FC236}">
                <a16:creationId xmlns:a16="http://schemas.microsoft.com/office/drawing/2014/main" id="{CFC218CA-6AE2-4CE9-AFCA-C6D15325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481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20 / 40 / 60 / 80 / 100；各轮重新筛选</a:t>
            </a:r>
          </a:p>
        </p:txBody>
      </p:sp>
      <p:sp>
        <p:nvSpPr>
          <p:cNvPr id="21" name="rule-21">
            <a:extLst xmlns:a="http://schemas.openxmlformats.org/drawingml/2006/main">
              <a:ext uri="{FF2B5EF4-FFF2-40B4-BE49-F238E27FC236}">
                <a16:creationId xmlns:a16="http://schemas.microsoft.com/office/drawing/2014/main" id="{385DA923-2093-4971-AFAD-B7DC037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ell-4-0-22">
            <a:extLst xmlns:a="http://schemas.openxmlformats.org/drawingml/2006/main">
              <a:ext uri="{FF2B5EF4-FFF2-40B4-BE49-F238E27FC236}">
                <a16:creationId xmlns:a16="http://schemas.microsoft.com/office/drawing/2014/main" id="{EFAB2198-A526-42BB-963D-C194ACA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23" name="cell-4-1-23">
            <a:extLst xmlns:a="http://schemas.openxmlformats.org/drawingml/2006/main">
              <a:ext uri="{FF2B5EF4-FFF2-40B4-BE49-F238E27FC236}">
                <a16:creationId xmlns:a16="http://schemas.microsoft.com/office/drawing/2014/main" id="{5A6267B3-6607-49E4-B6B1-6DC1502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3867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基础价格模型、筛选模型、Ridge、指数与仓位对照</a:t>
            </a:r>
          </a:p>
        </p:txBody>
      </p:sp>
      <p:sp>
        <p:nvSpPr>
          <p:cNvPr id="24" name="rule-24">
            <a:extLst xmlns:a="http://schemas.openxmlformats.org/drawingml/2006/main">
              <a:ext uri="{FF2B5EF4-FFF2-40B4-BE49-F238E27FC236}">
                <a16:creationId xmlns:a16="http://schemas.microsoft.com/office/drawing/2014/main" id="{FF9F21EE-EC78-4750-8B57-FDED100F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5-0-25">
            <a:extLst xmlns:a="http://schemas.openxmlformats.org/drawingml/2006/main">
              <a:ext uri="{FF2B5EF4-FFF2-40B4-BE49-F238E27FC236}">
                <a16:creationId xmlns:a16="http://schemas.microsoft.com/office/drawing/2014/main" id="{0DF2C761-315D-4492-B854-D1C2E1E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结果口径</a:t>
            </a:r>
          </a:p>
        </p:txBody>
      </p:sp>
      <p:sp>
        <p:nvSpPr>
          <p:cNvPr id="26" name="cell-5-1-26">
            <a:extLst xmlns:a="http://schemas.openxmlformats.org/drawingml/2006/main">
              <a:ext uri="{FF2B5EF4-FFF2-40B4-BE49-F238E27FC236}">
                <a16:creationId xmlns:a16="http://schemas.microsoft.com/office/drawing/2014/main" id="{8B7C35B5-12BA-42DA-BE65-A06CC6E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292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主表为价格研究账户；分红和分钟情景单列</a:t>
            </a:r>
          </a:p>
        </p:txBody>
      </p:sp>
      <p:sp>
        <p:nvSpPr>
          <p:cNvPr id="27" name="rule-27">
            <a:extLst xmlns:a="http://schemas.openxmlformats.org/drawingml/2006/main">
              <a:ext uri="{FF2B5EF4-FFF2-40B4-BE49-F238E27FC236}">
                <a16:creationId xmlns:a16="http://schemas.microsoft.com/office/drawing/2014/main" id="{108FB918-519F-4449-A29D-625DD55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pport-note-28">
            <a:extLst xmlns:a="http://schemas.openxmlformats.org/drawingml/2006/main">
              <a:ext uri="{FF2B5EF4-FFF2-40B4-BE49-F238E27FC236}">
                <a16:creationId xmlns:a16="http://schemas.microsoft.com/office/drawing/2014/main" id="{8F0D0411-3039-4E06-B7D0-70B2D76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本轮是已研究历史上的扩展；不能包装成全新、未观察的样本外证据。</a:t>
            </a:r>
          </a:p>
        </p:txBody>
      </p:sp>
    </p:spTree>
    <p:extLst>
      <p:ext uri="{BB962C8B-B14F-4D97-AF65-F5344CB8AC3E}">
        <p14:creationId xmlns:p14="http://schemas.microsoft.com/office/powerpoint/2010/main" val="17552850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ABE38C-269B-4F01-968B-0FAA72EC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7C0B31-9B0D-4300-9184-C7FA5000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1/7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19B5B84-DAFD-4A7E-80EE-3E48C44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北交所历史选股有改善，但回撤仍然很大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9C3872B0-22EC-430E-859F-624182A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5874479-2243-449E-9BDA-6FA3B3D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52121FCE-64B0-437A-8DBA-A67DC9CC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teacher9_20260930/figures/bj_equity.png；同目录final_summary.json  |  15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2e86d80d84929"/>
          <a:stretch xmlns:a="http://schemas.openxmlformats.org/drawingml/2006/main"/>
        </p:blipFill>
        <p:spPr>
          <a:xfrm xmlns:a="http://schemas.openxmlformats.org/drawingml/2006/main">
            <a:off x="2100060" y="1466850"/>
            <a:ext cx="799187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4CF2F991-F131-47EB-8F6C-110919E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读图：横轴：日期；纵轴：净值，1代表初始100万元。先比不同方法，再看中途下跌。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2BB38D28-132A-4786-94D0-2C7CE0D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原40因子 +64.47%；价格基线 +14.40%；Ridge +88.24%；原40因子最大回撤 −45.33%。</a:t>
            </a:r>
          </a:p>
        </p:txBody>
      </p:sp>
    </p:spTree>
    <p:extLst>
      <p:ext uri="{BB962C8B-B14F-4D97-AF65-F5344CB8AC3E}">
        <p14:creationId xmlns:p14="http://schemas.microsoft.com/office/powerpoint/2010/main" val="414627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C006CE-0090-485E-B14A-2FC61FED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F07266-00F2-49B4-A418-143995D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2/7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84FC897F-C4F8-49D3-9328-4C57847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因子数量确实影响结果，增加数量并非每一步都更好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200A2C3-3A46-4F71-A89B-847A8DC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407C2643-91AA-450B-BE19-1F41148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C2E6CAF8-EC0F-4335-BE66-7F421B6F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teacher9_20261008/extension_results.csv；01_factor_count.png  |  16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c92e33d484450"/>
          <a:stretch xmlns:a="http://schemas.openxmlformats.org/drawingml/2006/main"/>
        </p:blipFill>
        <p:spPr>
          <a:xfrm xmlns:a="http://schemas.openxmlformats.org/drawingml/2006/main">
            <a:off x="792062" y="1466850"/>
            <a:ext cx="10607876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028E342D-A7EC-438C-BCC7-BBD49D7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读图：横轴：因子数量。左图看累计收益；右图看最大回撤，越接近0越好。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70B2A481-11BC-4748-AEBD-309661D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20 / 40 / 60 / 80 / 100个：LightGBM累计 +37.43 / +64.47 / +62.53 / +76.42 / +100.07%。</a:t>
            </a:r>
          </a:p>
        </p:txBody>
      </p:sp>
    </p:spTree>
    <p:extLst>
      <p:ext uri="{BB962C8B-B14F-4D97-AF65-F5344CB8AC3E}">
        <p14:creationId xmlns:p14="http://schemas.microsoft.com/office/powerpoint/2010/main" val="1626535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CAA3EF-BBF5-498F-887A-EE7EF45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7620D8-44F2-438D-814C-EDC1BB1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3/7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E7A2C74-5333-4C36-9D44-5B1EB82A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每季度根据过去验证成绩选择数量，形成连续方案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C7EBDD2-B190-40CB-B2DD-1E174E6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59B992F-B3B3-4662-817E-2F26294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7F00617-0518-4A93-B5DF-3DE8243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validation_models.csv；folds.json；03_validation_choices.png  |  17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eb68212144b2d"/>
          <a:stretch xmlns:a="http://schemas.openxmlformats.org/drawingml/2006/main"/>
        </p:blipFill>
        <p:spPr>
          <a:xfrm xmlns:a="http://schemas.openxmlformats.org/drawingml/2006/main">
            <a:off x="609600" y="2280698"/>
            <a:ext cx="7943850" cy="2772853"/>
          </a:xfrm>
          <a:prstGeom xmlns:a="http://schemas.openxmlformats.org/drawingml/2006/main" prst="rect">
            <a:avLst/>
          </a:prstGeom>
        </p:spPr>
      </p:pic>
      <p:sp>
        <p:nvSpPr>
          <p:cNvPr id="8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30649128-EE53-4705-82DB-190CB5FF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2647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怎样读图</a:t>
            </a:r>
          </a:p>
        </p:txBody>
      </p:sp>
      <p:sp>
        <p:nvSpPr>
          <p:cNvPr id="9" name="rail-copy-8">
            <a:extLst xmlns:a="http://schemas.openxmlformats.org/drawingml/2006/main">
              <a:ext uri="{FF2B5EF4-FFF2-40B4-BE49-F238E27FC236}">
                <a16:creationId xmlns:a16="http://schemas.microsoft.com/office/drawing/2014/main" id="{E7294138-BE4B-4A80-87AB-D1C90DD5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647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每列是一个待测季度；颜色与数字来自之前的验证期；星号是事前选出的数量。</a:t>
            </a:r>
          </a:p>
        </p:txBody>
      </p:sp>
      <p:sp>
        <p:nvSpPr>
          <p:cNvPr id="10" name="rule-9">
            <a:extLst xmlns:a="http://schemas.openxmlformats.org/drawingml/2006/main">
              <a:ext uri="{FF2B5EF4-FFF2-40B4-BE49-F238E27FC236}">
                <a16:creationId xmlns:a16="http://schemas.microsoft.com/office/drawing/2014/main" id="{EDAD2CF0-B6D9-49EE-B196-BBDF019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context-10">
            <a:extLst xmlns:a="http://schemas.openxmlformats.org/drawingml/2006/main">
              <a:ext uri="{FF2B5EF4-FFF2-40B4-BE49-F238E27FC236}">
                <a16:creationId xmlns:a16="http://schemas.microsoft.com/office/drawing/2014/main" id="{D6210CC2-D0DE-4CB1-B9F8-D28D218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6479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星号由过去验证成绩确定，不能按后续收益回选。</a:t>
            </a:r>
          </a:p>
        </p:txBody>
      </p:sp>
      <p:sp>
        <p:nvSpPr>
          <p:cNvPr id="12" name="chart-takeaway-11">
            <a:extLst xmlns:a="http://schemas.openxmlformats.org/drawingml/2006/main">
              <a:ext uri="{FF2B5EF4-FFF2-40B4-BE49-F238E27FC236}">
                <a16:creationId xmlns:a16="http://schemas.microsoft.com/office/drawing/2014/main" id="{CB7B3ECD-21D6-4087-A790-718694A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连续验证选数量：LightGBM +76.03%、回撤 −43.95%；Ridge同法 +121.53%。</a:t>
            </a:r>
          </a:p>
        </p:txBody>
      </p:sp>
    </p:spTree>
    <p:extLst>
      <p:ext uri="{BB962C8B-B14F-4D97-AF65-F5344CB8AC3E}">
        <p14:creationId xmlns:p14="http://schemas.microsoft.com/office/powerpoint/2010/main" val="2756658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743269-05A7-48A8-BAB6-FFD43B1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A37129-BB2A-403D-B904-01211390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4/7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2E72410A-DA8F-497E-8E5B-C7F57F1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加入更严格的成交限制后，两段资金表现都变差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1964969-1B67-49EF-A3A5-F5F5036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3339A2EC-DAC2-43E0-8AB7-B820219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007EC62-06BA-474E-8C2B-44DAFF3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minute_cash_results.json；q3_minute_cash_results.json；05_minute_accounts.png  |  18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98d3fdc864bf8"/>
          <a:stretch xmlns:a="http://schemas.openxmlformats.org/drawingml/2006/main"/>
        </p:blipFill>
        <p:spPr>
          <a:xfrm xmlns:a="http://schemas.openxmlformats.org/drawingml/2006/main">
            <a:off x="924884" y="1466850"/>
            <a:ext cx="10342231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F4C6EF8C-FCC7-44EE-A6BD-C1FD5EC8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读图：灰线：日线成交参照；蓝线：分钟账户、1%参与率。两段各自从100万元开始。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1DD0C155-7DFB-42AA-AD2B-664DE75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2025Q4：+1.20% → −2.66%；2026Q3至9/29：−5.12% → −7.07%。</a:t>
            </a:r>
          </a:p>
        </p:txBody>
      </p:sp>
    </p:spTree>
    <p:extLst>
      <p:ext uri="{BB962C8B-B14F-4D97-AF65-F5344CB8AC3E}">
        <p14:creationId xmlns:p14="http://schemas.microsoft.com/office/powerpoint/2010/main" val="18701015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F69F69-91A2-4CEC-BB15-B01B1B8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950BB0-1AC4-4A2C-8DC1-F75CB55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5/7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1440D441-C439-4D3C-AB58-73DD351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沪深同样本内加入Alpha有改善，仍落后于指数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08A209B-2D63-4903-8991-806E19C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C838AB31-1D94-4793-A857-E14477C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1079734-CEB4-483E-92DD-41CA2B1F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shsz_alpha/account_results.json；07_shsz_alpha.png  |  19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8e03a36f542f4"/>
          <a:stretch xmlns:a="http://schemas.openxmlformats.org/drawingml/2006/main"/>
        </p:blipFill>
        <p:spPr>
          <a:xfrm xmlns:a="http://schemas.openxmlformats.org/drawingml/2006/main">
            <a:off x="1174455" y="1466850"/>
            <a:ext cx="9843091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C5335774-E1E5-4FD3-A3B7-6E64100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读图：同一496只来源样本、31季度：比较价格模型、加入Alpha后的筛选模型和Ridge。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6D3F8BC3-F4F9-4D09-BEF7-1041B90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筛选 +24.21%，价格基线 +12.78%；同期沪深300约 +55.54%；筛选最大回撤 −52.35%。</a:t>
            </a:r>
          </a:p>
        </p:txBody>
      </p:sp>
    </p:spTree>
    <p:extLst>
      <p:ext uri="{BB962C8B-B14F-4D97-AF65-F5344CB8AC3E}">
        <p14:creationId xmlns:p14="http://schemas.microsoft.com/office/powerpoint/2010/main" val="12306722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510D5C-FE80-41BB-B3B9-A8C85AD6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B84D533-5FBC-4B4E-AC3F-CAB7F45F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6/7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4C8FD8D7-2C90-4105-8B6C-0A17269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HMM的拟合检查改善了，但账户仍未胜过简单减仓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9FEE5CC-F1EB-4A5E-A50A-79CF6DF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07DD484-0A59-4D14-8051-977AD39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B71A538-B678-4B5E-87DE-6C1F983B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hmm_strict_fits.json；hmm_strict_metrics.json；06_hmm_controls.png  |  20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041c2d5a14cfd"/>
          <a:stretch xmlns:a="http://schemas.openxmlformats.org/drawingml/2006/main"/>
        </p:blipFill>
        <p:spPr>
          <a:xfrm xmlns:a="http://schemas.openxmlformats.org/drawingml/2006/main">
            <a:off x="609600" y="2203568"/>
            <a:ext cx="7943850" cy="2927114"/>
          </a:xfrm>
          <a:prstGeom xmlns:a="http://schemas.openxmlformats.org/drawingml/2006/main" prst="rect">
            <a:avLst/>
          </a:prstGeom>
        </p:spPr>
      </p:pic>
      <p:sp>
        <p:nvSpPr>
          <p:cNvPr id="8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907F5ADC-005D-4303-8BA9-AEFAE47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2647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怎样读图</a:t>
            </a:r>
          </a:p>
        </p:txBody>
      </p:sp>
      <p:sp>
        <p:nvSpPr>
          <p:cNvPr id="9" name="rail-copy-8">
            <a:extLst xmlns:a="http://schemas.openxmlformats.org/drawingml/2006/main">
              <a:ext uri="{FF2B5EF4-FFF2-40B4-BE49-F238E27FC236}">
                <a16:creationId xmlns:a16="http://schemas.microsoft.com/office/drawing/2014/main" id="{704D628D-5EEF-4FA1-AF6E-1313041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647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都使用原40因子选股信号。 柱高表示各仓位规则下的累计收益。</a:t>
            </a:r>
          </a:p>
        </p:txBody>
      </p:sp>
      <p:sp>
        <p:nvSpPr>
          <p:cNvPr id="10" name="rule-9">
            <a:extLst xmlns:a="http://schemas.openxmlformats.org/drawingml/2006/main">
              <a:ext uri="{FF2B5EF4-FFF2-40B4-BE49-F238E27FC236}">
                <a16:creationId xmlns:a16="http://schemas.microsoft.com/office/drawing/2014/main" id="{1733E827-4763-4603-B22B-7186006B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context-10">
            <a:extLst xmlns:a="http://schemas.openxmlformats.org/drawingml/2006/main">
              <a:ext uri="{FF2B5EF4-FFF2-40B4-BE49-F238E27FC236}">
                <a16:creationId xmlns:a16="http://schemas.microsoft.com/office/drawing/2014/main" id="{D98A6A7B-685E-4837-AA1B-44A55F79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6479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只改变仓位控制，检验择时能否增加价值。</a:t>
            </a:r>
          </a:p>
        </p:txBody>
      </p:sp>
      <p:sp>
        <p:nvSpPr>
          <p:cNvPr id="12" name="chart-takeaway-11">
            <a:extLst xmlns:a="http://schemas.openxmlformats.org/drawingml/2006/main">
              <a:ext uri="{FF2B5EF4-FFF2-40B4-BE49-F238E27FC236}">
                <a16:creationId xmlns:a16="http://schemas.microsoft.com/office/drawing/2014/main" id="{AE9C6D1F-C35B-45FF-B142-E5C7F0C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严格HMM +44.91%；固定85%上限 +65.05%。训练诊断合格，不等于经济效果更好。</a:t>
            </a:r>
          </a:p>
        </p:txBody>
      </p:sp>
    </p:spTree>
    <p:extLst>
      <p:ext uri="{BB962C8B-B14F-4D97-AF65-F5344CB8AC3E}">
        <p14:creationId xmlns:p14="http://schemas.microsoft.com/office/powerpoint/2010/main" val="11279961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1EC515-A8B7-45C6-BBB9-933F2F2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BD8458-2CE0-425A-9F36-3AB8D98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7/7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04F42A5-CBDF-428D-9689-E61BC02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分红记录已进入实验，结算细节仍会改变真实结果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0A9140AE-9916-47B1-BAD8-87B0137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6FC8DAF-37F3-4211-AC76-0FB6713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020D3FF7-0290-4188-9791-32768A7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dividend_event_audit.csv；dividend_summary.json；08_dividend_sensitivity.png  |  21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47b4ef9484f1e"/>
          <a:stretch xmlns:a="http://schemas.openxmlformats.org/drawingml/2006/main"/>
        </p:blipFill>
        <p:spPr>
          <a:xfrm xmlns:a="http://schemas.openxmlformats.org/drawingml/2006/main">
            <a:off x="1176090" y="1466850"/>
            <a:ext cx="983981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D4715143-38D2-428D-A0C0-EA8B06CD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读图：选股信号不变；蓝线只记价格，橙线增加“除权日现金和股份立即可用”的假设。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A9C32418-14E2-4183-9261-DC3AA10E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价格账户 +64.47% → 即时可用情景 +73.25%；支付日、可卖日、税费仍待核实。</a:t>
            </a:r>
          </a:p>
        </p:txBody>
      </p:sp>
    </p:spTree>
    <p:extLst>
      <p:ext uri="{BB962C8B-B14F-4D97-AF65-F5344CB8AC3E}">
        <p14:creationId xmlns:p14="http://schemas.microsoft.com/office/powerpoint/2010/main" val="2083025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502B56-F1F5-4D92-AEA1-F1DF9A0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E7D53E-4686-4BED-949D-89F96F9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1/9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31424E8-BE6A-4C8E-95BB-E08243E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每日Top100已经实现，正式历史资格仍待核验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0CB1DCF-CCDF-4303-B3BB-B0439EF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1817C0A7-8F2D-4CF3-8DF1-47E8FEE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EF0173A2-7D21-42C4-9B0E-AB0AAA9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9/25九项建议记录；prepare.py；股票池审计结果  |  22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3A7A2274-2FBE-41A4-A77C-2BEA628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建议要点：股票池选了多少只？怎样去掉尾部，最多保留100只？</a:t>
            </a:r>
          </a:p>
        </p:txBody>
      </p:sp>
      <p:sp>
        <p:nvSpPr>
          <p:cNvPr id="8" name="teacher-meaning-label-8">
            <a:extLst xmlns:a="http://schemas.openxmlformats.org/drawingml/2006/main">
              <a:ext uri="{FF2B5EF4-FFF2-40B4-BE49-F238E27FC236}">
                <a16:creationId xmlns:a16="http://schemas.microsoft.com/office/drawing/2014/main" id="{5EE126B0-473E-41F2-83FB-E49CED8A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33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teacher-meaning-9">
            <a:extLst xmlns:a="http://schemas.openxmlformats.org/drawingml/2006/main">
              <a:ext uri="{FF2B5EF4-FFF2-40B4-BE49-F238E27FC236}">
                <a16:creationId xmlns:a16="http://schemas.microsoft.com/office/drawing/2014/main" id="{B2F61C16-C4DF-43BF-92A0-C4BE283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6702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先排除难以交易的股票，避免“纸面买得到、实际买不到”。</a:t>
            </a:r>
          </a:p>
        </p:txBody>
      </p:sp>
      <p:sp>
        <p:nvSpPr>
          <p:cNvPr id="10" name="response-label-0-10">
            <a:extLst xmlns:a="http://schemas.openxmlformats.org/drawingml/2006/main">
              <a:ext uri="{FF2B5EF4-FFF2-40B4-BE49-F238E27FC236}">
                <a16:creationId xmlns:a16="http://schemas.microsoft.com/office/drawing/2014/main" id="{CDA79BAA-4679-4E04-98A3-2A8AA97A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已经做了什么</a:t>
            </a:r>
          </a:p>
        </p:txBody>
      </p:sp>
      <p:sp>
        <p:nvSpPr>
          <p:cNvPr id="11" name="response-copy-0-11">
            <a:extLst xmlns:a="http://schemas.openxmlformats.org/drawingml/2006/main">
              <a:ext uri="{FF2B5EF4-FFF2-40B4-BE49-F238E27FC236}">
                <a16:creationId xmlns:a16="http://schemas.microsoft.com/office/drawing/2014/main" id="{E8720846-BB21-4EA2-BBD3-FFA7642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384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按过去20日平均成交额每日重建；先定名单，再检查因子覆盖。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83300083-E534-4F78-8072-D5B58FC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242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ponse-label-1-13">
            <a:extLst xmlns:a="http://schemas.openxmlformats.org/drawingml/2006/main">
              <a:ext uri="{FF2B5EF4-FFF2-40B4-BE49-F238E27FC236}">
                <a16:creationId xmlns:a16="http://schemas.microsoft.com/office/drawing/2014/main" id="{78757232-4784-44F3-887F-4FA2504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实际结果</a:t>
            </a:r>
          </a:p>
        </p:txBody>
      </p:sp>
      <p:sp>
        <p:nvSpPr>
          <p:cNvPr id="14" name="response-copy-1-14">
            <a:extLst xmlns:a="http://schemas.openxmlformats.org/drawingml/2006/main">
              <a:ext uri="{FF2B5EF4-FFF2-40B4-BE49-F238E27FC236}">
                <a16:creationId xmlns:a16="http://schemas.microsoft.com/office/drawing/2014/main" id="{95705788-0F5D-417B-AF86-8A82E788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95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每日75—100只；301只曾入池。成交量与成交额名单重合中位数79%。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6165C9A8-0EDF-4D5A-9A9C-E1801CCE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ponse-label-2-16">
            <a:extLst xmlns:a="http://schemas.openxmlformats.org/drawingml/2006/main">
              <a:ext uri="{FF2B5EF4-FFF2-40B4-BE49-F238E27FC236}">
                <a16:creationId xmlns:a16="http://schemas.microsoft.com/office/drawing/2014/main" id="{7DD7DAFF-D78D-44E7-8CA4-A8A7140A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未完成及原因</a:t>
            </a:r>
          </a:p>
        </p:txBody>
      </p:sp>
      <p:sp>
        <p:nvSpPr>
          <p:cNvPr id="17" name="response-copy-2-17">
            <a:extLst xmlns:a="http://schemas.openxmlformats.org/drawingml/2006/main">
              <a:ext uri="{FF2B5EF4-FFF2-40B4-BE49-F238E27FC236}">
                <a16:creationId xmlns:a16="http://schemas.microsoft.com/office/drawing/2014/main" id="{DB26E965-7E15-4974-9890-CC4FF24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006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缺完整上市、退市、停牌和特殊状态记录；价格存在只是资格代理。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0EC6D6C8-6570-465B-852A-079BA69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状态：动态筛选已实现；历史可交易资格部分解决。</a:t>
            </a:r>
          </a:p>
        </p:txBody>
      </p:sp>
    </p:spTree>
    <p:extLst>
      <p:ext uri="{BB962C8B-B14F-4D97-AF65-F5344CB8AC3E}">
        <p14:creationId xmlns:p14="http://schemas.microsoft.com/office/powerpoint/2010/main" val="2664072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5778D3-C1F9-4EA7-B716-DE52253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4770C5-5F55-4070-A50C-E8D282E4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2/9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F208229-4203-4A56-A0C0-49970EF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连续资金账和基准已完成，真实结算尚未完整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7FB59AAC-4A11-4270-AF83-3D13F4D5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FD2DAF8-601A-46D4-A3B0-1EF355C7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29492B03-2F5D-4132-B2F2-C114220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9/25九项建议记录；accounts.py；bj_account_metrics.json  |  23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CA9364B1-2AD3-4D51-94E2-4A565639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建议要点：命中率超过50%不等于超过大盘，怎样做资金曲线？</a:t>
            </a:r>
          </a:p>
        </p:txBody>
      </p:sp>
      <p:sp>
        <p:nvSpPr>
          <p:cNvPr id="8" name="response-label-0-8">
            <a:extLst xmlns:a="http://schemas.openxmlformats.org/drawingml/2006/main">
              <a:ext uri="{FF2B5EF4-FFF2-40B4-BE49-F238E27FC236}">
                <a16:creationId xmlns:a16="http://schemas.microsoft.com/office/drawing/2014/main" id="{F134B18C-0F09-4BCA-BEE0-3CD25AA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response-copy-0-9">
            <a:extLst xmlns:a="http://schemas.openxmlformats.org/drawingml/2006/main">
              <a:ext uri="{FF2B5EF4-FFF2-40B4-BE49-F238E27FC236}">
                <a16:creationId xmlns:a16="http://schemas.microsoft.com/office/drawing/2014/main" id="{8A40AA02-638C-455C-A93C-4D3BC9F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7647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排得较准，不一定赚得更多；还要核对费用、风险和市场参照。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A788BE82-10D3-4C98-BDB9-6D4FF9A4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ponse-label-1-11">
            <a:extLst xmlns:a="http://schemas.openxmlformats.org/drawingml/2006/main">
              <a:ext uri="{FF2B5EF4-FFF2-40B4-BE49-F238E27FC236}">
                <a16:creationId xmlns:a16="http://schemas.microsoft.com/office/drawing/2014/main" id="{9CC10CB0-852E-473A-ACDF-638DDE96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2" name="response-copy-1-12">
            <a:extLst xmlns:a="http://schemas.openxmlformats.org/drawingml/2006/main">
              <a:ext uri="{FF2B5EF4-FFF2-40B4-BE49-F238E27FC236}">
                <a16:creationId xmlns:a16="http://schemas.microsoft.com/office/drawing/2014/main" id="{9BB1AA8B-8200-41A6-AF3D-D0057CF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记录现金、逐批持股和费用；跨季度连续，并加入指数与简单模型对照。</a:t>
            </a:r>
          </a:p>
        </p:txBody>
      </p:sp>
      <p:sp>
        <p:nvSpPr>
          <p:cNvPr id="13" name="rule-13">
            <a:extLst xmlns:a="http://schemas.openxmlformats.org/drawingml/2006/main">
              <a:ext uri="{FF2B5EF4-FFF2-40B4-BE49-F238E27FC236}">
                <a16:creationId xmlns:a16="http://schemas.microsoft.com/office/drawing/2014/main" id="{4FA5C385-B1DE-4B37-9A5C-7B74345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ponse-label-2-14">
            <a:extLst xmlns:a="http://schemas.openxmlformats.org/drawingml/2006/main">
              <a:ext uri="{FF2B5EF4-FFF2-40B4-BE49-F238E27FC236}">
                <a16:creationId xmlns:a16="http://schemas.microsoft.com/office/drawing/2014/main" id="{3CBB5C89-3409-41ED-8BD4-B1E147E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5" name="response-copy-2-15">
            <a:extLst xmlns:a="http://schemas.openxmlformats.org/drawingml/2006/main">
              <a:ext uri="{FF2B5EF4-FFF2-40B4-BE49-F238E27FC236}">
                <a16:creationId xmlns:a16="http://schemas.microsoft.com/office/drawing/2014/main" id="{F6A4C5C3-BABB-4E6C-8BE8-FDA2154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原40因子 +64.47%、回撤 −45.33%；同段北证50价格指数 −6.01%。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3CF00A5F-EDC3-4BC5-A08F-531CC5D0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ponse-label-3-17">
            <a:extLst xmlns:a="http://schemas.openxmlformats.org/drawingml/2006/main">
              <a:ext uri="{FF2B5EF4-FFF2-40B4-BE49-F238E27FC236}">
                <a16:creationId xmlns:a16="http://schemas.microsoft.com/office/drawing/2014/main" id="{D9EF7380-4B92-4AD4-8C27-24293072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8" name="response-copy-3-18">
            <a:extLst xmlns:a="http://schemas.openxmlformats.org/drawingml/2006/main">
              <a:ext uri="{FF2B5EF4-FFF2-40B4-BE49-F238E27FC236}">
                <a16:creationId xmlns:a16="http://schemas.microsoft.com/office/drawing/2014/main" id="{EECC707A-6A72-451A-89BC-643224FF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分红已做情景，但支付/可卖日、税费和实际撮合仍不完整。</a:t>
            </a:r>
          </a:p>
        </p:txBody>
      </p:sp>
      <p:sp>
        <p:nvSpPr>
          <p:cNvPr id="19" name="rule-19">
            <a:extLst xmlns:a="http://schemas.openxmlformats.org/drawingml/2006/main">
              <a:ext uri="{FF2B5EF4-FFF2-40B4-BE49-F238E27FC236}">
                <a16:creationId xmlns:a16="http://schemas.microsoft.com/office/drawing/2014/main" id="{10A11F23-3E17-4257-8900-69ADD9E1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8D250193-A0C1-43AD-A007-167607A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状态：研究资金账已完成；真实总收益口径部分解决。</a:t>
            </a:r>
          </a:p>
        </p:txBody>
      </p:sp>
    </p:spTree>
    <p:extLst>
      <p:ext uri="{BB962C8B-B14F-4D97-AF65-F5344CB8AC3E}">
        <p14:creationId xmlns:p14="http://schemas.microsoft.com/office/powerpoint/2010/main" val="1438742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261A01-1B6E-44BA-A291-59F1B80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E0B63B-83A7-442C-9CD6-F9BBDB1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3/9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216AC6F-C6D9-4DA6-8FEE-8B0F452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全表已盘点，历史模型按可核验范围接入并去重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5C6B228-8F53-4622-BA74-0783DAFF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1D83B1B-969A-4EC2-B405-FBFBCCBB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874268A-F261-457C-91A8-31C8AB47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9/25九项建议记录；dictionary_summary.json；selection.json  |  24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514DD45A-F92C-4863-9B98-838730E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建议要点：2500+因子怎样接入，怎样去掉强相关因子？</a:t>
            </a:r>
          </a:p>
        </p:txBody>
      </p:sp>
      <p:sp>
        <p:nvSpPr>
          <p:cNvPr id="8" name="teacher-meaning-8">
            <a:extLst xmlns:a="http://schemas.openxmlformats.org/drawingml/2006/main">
              <a:ext uri="{FF2B5EF4-FFF2-40B4-BE49-F238E27FC236}">
                <a16:creationId xmlns:a16="http://schemas.microsoft.com/office/drawing/2014/main" id="{AB820C98-4690-45D0-8DD1-9E8C3AB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老师的意思：先数清字段是否有用，再避免很多输入重复表达同一条信息。</a:t>
            </a:r>
          </a:p>
        </p:txBody>
      </p:sp>
      <p:sp>
        <p:nvSpPr>
          <p:cNvPr id="9" name="response-label-0-9">
            <a:extLst xmlns:a="http://schemas.openxmlformats.org/drawingml/2006/main">
              <a:ext uri="{FF2B5EF4-FFF2-40B4-BE49-F238E27FC236}">
                <a16:creationId xmlns:a16="http://schemas.microsoft.com/office/drawing/2014/main" id="{0AADE2C1-D535-46A5-92F1-D8768DE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0" name="response-copy-0-10">
            <a:extLst xmlns:a="http://schemas.openxmlformats.org/drawingml/2006/main">
              <a:ext uri="{FF2B5EF4-FFF2-40B4-BE49-F238E27FC236}">
                <a16:creationId xmlns:a16="http://schemas.microsoft.com/office/drawing/2014/main" id="{AD42E266-E40B-4A6D-B008-BFFD01F4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映射120张表；北交所304候选在训练内作覆盖筛选与每日相关去重。</a:t>
            </a:r>
          </a:p>
        </p:txBody>
      </p:sp>
      <p:sp>
        <p:nvSpPr>
          <p:cNvPr id="11" name="rule-11">
            <a:extLst xmlns:a="http://schemas.openxmlformats.org/drawingml/2006/main">
              <a:ext uri="{FF2B5EF4-FFF2-40B4-BE49-F238E27FC236}">
                <a16:creationId xmlns:a16="http://schemas.microsoft.com/office/drawing/2014/main" id="{36FD7681-F91A-4C4E-A08E-B2DF82D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ponse-label-1-12">
            <a:extLst xmlns:a="http://schemas.openxmlformats.org/drawingml/2006/main">
              <a:ext uri="{FF2B5EF4-FFF2-40B4-BE49-F238E27FC236}">
                <a16:creationId xmlns:a16="http://schemas.microsoft.com/office/drawing/2014/main" id="{A0D0B930-1EF3-45AE-B12E-70BA83C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3" name="response-copy-1-13">
            <a:extLst xmlns:a="http://schemas.openxmlformats.org/drawingml/2006/main">
              <a:ext uri="{FF2B5EF4-FFF2-40B4-BE49-F238E27FC236}">
                <a16:creationId xmlns:a16="http://schemas.microsoft.com/office/drawing/2014/main" id="{54D793B7-F44D-4131-954A-9816392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2508非键字段中2447为数值候选；训练去重后每季217—223个。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A5817EB4-6E83-4616-9690-4418CE6B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ponse-label-2-15">
            <a:extLst xmlns:a="http://schemas.openxmlformats.org/drawingml/2006/main">
              <a:ext uri="{FF2B5EF4-FFF2-40B4-BE49-F238E27FC236}">
                <a16:creationId xmlns:a16="http://schemas.microsoft.com/office/drawing/2014/main" id="{87CF9BDC-20C5-4DEF-82F4-2B39BC8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6" name="response-copy-2-16">
            <a:extLst xmlns:a="http://schemas.openxmlformats.org/drawingml/2006/main">
              <a:ext uri="{FF2B5EF4-FFF2-40B4-BE49-F238E27FC236}">
                <a16:creationId xmlns:a16="http://schemas.microsoft.com/office/drawing/2014/main" id="{FD6AFB6B-383B-4D02-A83D-EC2D853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并非全2447个均完成历史验收；发布时间、修订和样本范围仍需逐项核对。</a:t>
            </a:r>
          </a:p>
        </p:txBody>
      </p:sp>
      <p:sp>
        <p:nvSpPr>
          <p:cNvPr id="17" name="rule-17">
            <a:extLst xmlns:a="http://schemas.openxmlformats.org/drawingml/2006/main">
              <a:ext uri="{FF2B5EF4-FFF2-40B4-BE49-F238E27FC236}">
                <a16:creationId xmlns:a16="http://schemas.microsoft.com/office/drawing/2014/main" id="{30A1747A-2142-44A2-8F35-116259F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6FC14774-799A-4602-B7D1-CB4EF043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状态：盘点与已接入因子去重已完成；全库历史验收未完成。</a:t>
            </a:r>
          </a:p>
        </p:txBody>
      </p:sp>
    </p:spTree>
    <p:extLst>
      <p:ext uri="{BB962C8B-B14F-4D97-AF65-F5344CB8AC3E}">
        <p14:creationId xmlns:p14="http://schemas.microsoft.com/office/powerpoint/2010/main" val="8628598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2B316D-7470-4B51-BA65-5043F570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94957E-03FF-4BA0-87C8-91D70C8B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4/9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7F9DCDC-D25D-4431-A834-039E10E1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单因子评价和数量选择已补上，稳定有效性仍需新样本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24329EA-3BC3-4510-A807-18F9758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84ABAB4-9CA6-4238-AE2E-B53BAC5D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B11A0FAA-4B5C-4FE4-A5DA-7ABE3B3B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9/25九项建议记录；factor_ic_report；count_ic_bootstrap.csv  |  25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BF2B8BC7-1A66-4B88-84D1-1A81E2E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建议要点：因子不能太多，怎样补上IC分析与选择机制？</a:t>
            </a:r>
          </a:p>
        </p:txBody>
      </p:sp>
      <p:sp>
        <p:nvSpPr>
          <p:cNvPr id="8" name="teacher-meaning-label-8">
            <a:extLst xmlns:a="http://schemas.openxmlformats.org/drawingml/2006/main">
              <a:ext uri="{FF2B5EF4-FFF2-40B4-BE49-F238E27FC236}">
                <a16:creationId xmlns:a16="http://schemas.microsoft.com/office/drawing/2014/main" id="{14DF17AB-853E-4345-B6DC-CFDC109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33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teacher-meaning-9">
            <a:extLst xmlns:a="http://schemas.openxmlformats.org/drawingml/2006/main">
              <a:ext uri="{FF2B5EF4-FFF2-40B4-BE49-F238E27FC236}">
                <a16:creationId xmlns:a16="http://schemas.microsoft.com/office/drawing/2014/main" id="{AC8E0998-C5EE-43C9-80C3-CB04E7F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6702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先确认每条线索有无排序信息，再检验组合后是否仍有价值。</a:t>
            </a:r>
          </a:p>
        </p:txBody>
      </p:sp>
      <p:sp>
        <p:nvSpPr>
          <p:cNvPr id="10" name="response-label-0-10">
            <a:extLst xmlns:a="http://schemas.openxmlformats.org/drawingml/2006/main">
              <a:ext uri="{FF2B5EF4-FFF2-40B4-BE49-F238E27FC236}">
                <a16:creationId xmlns:a16="http://schemas.microsoft.com/office/drawing/2014/main" id="{7E41C39B-A1CD-46F0-A5EC-4D351DB1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已经做了什么</a:t>
            </a:r>
          </a:p>
        </p:txBody>
      </p:sp>
      <p:sp>
        <p:nvSpPr>
          <p:cNvPr id="11" name="response-copy-0-11">
            <a:extLst xmlns:a="http://schemas.openxmlformats.org/drawingml/2006/main">
              <a:ext uri="{FF2B5EF4-FFF2-40B4-BE49-F238E27FC236}">
                <a16:creationId xmlns:a16="http://schemas.microsoft.com/office/drawing/2014/main" id="{67BEE0F6-313C-4298-BF34-6C8A526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384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补IC、五分组、统计修正和模型对照；实际比较五档数量并按验证期选择。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8D587838-49EC-42C7-B234-8DAA533C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242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ponse-label-1-13">
            <a:extLst xmlns:a="http://schemas.openxmlformats.org/drawingml/2006/main">
              <a:ext uri="{FF2B5EF4-FFF2-40B4-BE49-F238E27FC236}">
                <a16:creationId xmlns:a16="http://schemas.microsoft.com/office/drawing/2014/main" id="{78F39D54-F0AD-4486-AED0-7239D152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实际结果</a:t>
            </a:r>
          </a:p>
        </p:txBody>
      </p:sp>
      <p:sp>
        <p:nvSpPr>
          <p:cNvPr id="14" name="response-copy-1-14">
            <a:extLst xmlns:a="http://schemas.openxmlformats.org/drawingml/2006/main">
              <a:ext uri="{FF2B5EF4-FFF2-40B4-BE49-F238E27FC236}">
                <a16:creationId xmlns:a16="http://schemas.microsoft.com/office/drawing/2014/main" id="{E6259BA2-AA38-43A2-AAE1-2EB84DA0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95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验证选数量：LightGBM +76.03%；100对40的IC增量区间仍包含0。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9CF38268-5C6F-4B7B-8830-E7AF68EA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ponse-label-2-16">
            <a:extLst xmlns:a="http://schemas.openxmlformats.org/drawingml/2006/main">
              <a:ext uri="{FF2B5EF4-FFF2-40B4-BE49-F238E27FC236}">
                <a16:creationId xmlns:a16="http://schemas.microsoft.com/office/drawing/2014/main" id="{1340B64E-AFFC-455C-8CA7-2D8A23C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未完成及原因</a:t>
            </a:r>
          </a:p>
        </p:txBody>
      </p:sp>
      <p:sp>
        <p:nvSpPr>
          <p:cNvPr id="17" name="response-copy-2-17">
            <a:extLst xmlns:a="http://schemas.openxmlformats.org/drawingml/2006/main">
              <a:ext uri="{FF2B5EF4-FFF2-40B4-BE49-F238E27FC236}">
                <a16:creationId xmlns:a16="http://schemas.microsoft.com/office/drawing/2014/main" id="{CAEC7EB4-1737-45FA-AA01-30F71700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006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历史已被反复研究，所有扩展尚未作统一多重检验；需要新的未观察记录。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6C13DFAD-5CDB-48C3-8020-A832BC86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状态：评价与选因子机制已完成；未来稳定性未获证明。</a:t>
            </a:r>
          </a:p>
        </p:txBody>
      </p:sp>
    </p:spTree>
    <p:extLst>
      <p:ext uri="{BB962C8B-B14F-4D97-AF65-F5344CB8AC3E}">
        <p14:creationId xmlns:p14="http://schemas.microsoft.com/office/powerpoint/2010/main" val="15255766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6DD522-F7D7-409E-BE64-869064B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C4B127-AC4B-46B1-BDA0-4FFAB15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5/9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7B3636BB-3A9F-4CF4-AD2C-F6D410FA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沪深长历史实验已完成，跨市场普遍性仍未证明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9EF48DC-26A1-4000-974F-230AF9C8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518A217-77B6-49DF-B840-A103AB3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39BFF154-B8C3-498B-83D7-203378E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9/25九项建议记录；shsz_alpha/data_summary.json；account_results.json  |  26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B5119329-A300-44A0-8058-680E3C1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建议要点：北交所历史短，是否考虑上海和深圳？</a:t>
            </a:r>
          </a:p>
        </p:txBody>
      </p:sp>
      <p:sp>
        <p:nvSpPr>
          <p:cNvPr id="8" name="response-label-0-8">
            <a:extLst xmlns:a="http://schemas.openxmlformats.org/drawingml/2006/main">
              <a:ext uri="{FF2B5EF4-FFF2-40B4-BE49-F238E27FC236}">
                <a16:creationId xmlns:a16="http://schemas.microsoft.com/office/drawing/2014/main" id="{8CB0721B-FB98-49C6-9B8B-717977FB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response-copy-0-9">
            <a:extLst xmlns:a="http://schemas.openxmlformats.org/drawingml/2006/main">
              <a:ext uri="{FF2B5EF4-FFF2-40B4-BE49-F238E27FC236}">
                <a16:creationId xmlns:a16="http://schemas.microsoft.com/office/drawing/2014/main" id="{5761E56A-3F16-467F-BCC3-F60A430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7647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换一个更长的考场，检查方法是否只在北交所这一段历史中有效。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C954920C-0DC4-43E1-BB7B-F63B02A6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ponse-label-1-11">
            <a:extLst xmlns:a="http://schemas.openxmlformats.org/drawingml/2006/main">
              <a:ext uri="{FF2B5EF4-FFF2-40B4-BE49-F238E27FC236}">
                <a16:creationId xmlns:a16="http://schemas.microsoft.com/office/drawing/2014/main" id="{5C68255F-FC92-478E-A95E-01BD589A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2" name="response-copy-1-12">
            <a:extLst xmlns:a="http://schemas.openxmlformats.org/drawingml/2006/main">
              <a:ext uri="{FF2B5EF4-FFF2-40B4-BE49-F238E27FC236}">
                <a16:creationId xmlns:a16="http://schemas.microsoft.com/office/drawing/2014/main" id="{6340DD4A-E9B9-4E16-A1A0-DF245E8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新增496只来源股票的沪深Alpha101实验，113候选，滚动31季度。</a:t>
            </a:r>
          </a:p>
        </p:txBody>
      </p:sp>
      <p:sp>
        <p:nvSpPr>
          <p:cNvPr id="13" name="rule-13">
            <a:extLst xmlns:a="http://schemas.openxmlformats.org/drawingml/2006/main">
              <a:ext uri="{FF2B5EF4-FFF2-40B4-BE49-F238E27FC236}">
                <a16:creationId xmlns:a16="http://schemas.microsoft.com/office/drawing/2014/main" id="{58D12565-0539-4056-AC4E-F7BF2A16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ponse-label-2-14">
            <a:extLst xmlns:a="http://schemas.openxmlformats.org/drawingml/2006/main">
              <a:ext uri="{FF2B5EF4-FFF2-40B4-BE49-F238E27FC236}">
                <a16:creationId xmlns:a16="http://schemas.microsoft.com/office/drawing/2014/main" id="{4122C830-1EEF-42F5-9C51-47E2DA8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5" name="response-copy-2-15">
            <a:extLst xmlns:a="http://schemas.openxmlformats.org/drawingml/2006/main">
              <a:ext uri="{FF2B5EF4-FFF2-40B4-BE49-F238E27FC236}">
                <a16:creationId xmlns:a16="http://schemas.microsoft.com/office/drawing/2014/main" id="{270049E2-81F7-4441-A50A-14A257E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同样本筛选 +24.21%，价格基线 +12.78%；仍低于沪深300约 +55.54%。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975ED079-0752-4554-A90C-EACCF5E3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ponse-label-3-17">
            <a:extLst xmlns:a="http://schemas.openxmlformats.org/drawingml/2006/main">
              <a:ext uri="{FF2B5EF4-FFF2-40B4-BE49-F238E27FC236}">
                <a16:creationId xmlns:a16="http://schemas.microsoft.com/office/drawing/2014/main" id="{2E636879-3A8A-47DE-868B-9ADAE9D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8" name="response-copy-3-18">
            <a:extLst xmlns:a="http://schemas.openxmlformats.org/drawingml/2006/main">
              <a:ext uri="{FF2B5EF4-FFF2-40B4-BE49-F238E27FC236}">
                <a16:creationId xmlns:a16="http://schemas.microsoft.com/office/drawing/2014/main" id="{F29AC441-53BF-4694-BB77-6D7A6FF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当前可用股票文件存在幸存者偏差；缺完整历史身份和退市样本。</a:t>
            </a:r>
          </a:p>
        </p:txBody>
      </p:sp>
      <p:sp>
        <p:nvSpPr>
          <p:cNvPr id="19" name="rule-19">
            <a:extLst xmlns:a="http://schemas.openxmlformats.org/drawingml/2006/main">
              <a:ext uri="{FF2B5EF4-FFF2-40B4-BE49-F238E27FC236}">
                <a16:creationId xmlns:a16="http://schemas.microsoft.com/office/drawing/2014/main" id="{6043A4E9-FE51-49E3-8ADF-BC27FDC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104F9E83-A5C5-4683-8749-5DC537B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状态：长历史实验已完成；更广泛跨市场效果部分支持。</a:t>
            </a:r>
          </a:p>
        </p:txBody>
      </p:sp>
    </p:spTree>
    <p:extLst>
      <p:ext uri="{BB962C8B-B14F-4D97-AF65-F5344CB8AC3E}">
        <p14:creationId xmlns:p14="http://schemas.microsoft.com/office/powerpoint/2010/main" val="2228072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114B55-EB40-49CE-8341-E2E033F0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B564D3-7925-44AE-B006-BC2A43B2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6/9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35EC4973-020B-4866-9EF0-782EEE6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季度滚动与跨界清除已完成，还需要真实时间留样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96032D9-B3C1-4B97-9721-10D25BB6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882D7564-342D-4AB9-B2A1-991D6CB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E37C10A9-E3AD-4102-A413-11BCA23C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9/25九项建议记录；folds.json；verification.json；oct8_frozen_model_monitoring.csv  |  27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CF16B72B-B303-40A3-B18C-B2C57E8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建议要点：回测怎样真正滚动起来？</a:t>
            </a:r>
          </a:p>
        </p:txBody>
      </p:sp>
      <p:sp>
        <p:nvSpPr>
          <p:cNvPr id="8" name="teacher-meaning-8">
            <a:extLst xmlns:a="http://schemas.openxmlformats.org/drawingml/2006/main">
              <a:ext uri="{FF2B5EF4-FFF2-40B4-BE49-F238E27FC236}">
                <a16:creationId xmlns:a16="http://schemas.microsoft.com/office/drawing/2014/main" id="{AB766F95-90EE-4831-B2D7-AA4AA18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老师的意思：程序应像实际工作那样定期更新，不能用未来答案挑过去的方法。</a:t>
            </a:r>
          </a:p>
        </p:txBody>
      </p:sp>
      <p:sp>
        <p:nvSpPr>
          <p:cNvPr id="9" name="response-label-0-9">
            <a:extLst xmlns:a="http://schemas.openxmlformats.org/drawingml/2006/main">
              <a:ext uri="{FF2B5EF4-FFF2-40B4-BE49-F238E27FC236}">
                <a16:creationId xmlns:a16="http://schemas.microsoft.com/office/drawing/2014/main" id="{6845AEEE-462B-4796-B099-3F5D8C48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0" name="response-copy-0-10">
            <a:extLst xmlns:a="http://schemas.openxmlformats.org/drawingml/2006/main">
              <a:ext uri="{FF2B5EF4-FFF2-40B4-BE49-F238E27FC236}">
                <a16:creationId xmlns:a16="http://schemas.microsoft.com/office/drawing/2014/main" id="{11008647-C1BD-4961-AD83-D5F46D4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每季重新筛选、验证、重训；清除标签跨界记录，资金跨季度不断开。</a:t>
            </a:r>
          </a:p>
        </p:txBody>
      </p:sp>
      <p:sp>
        <p:nvSpPr>
          <p:cNvPr id="11" name="rule-11">
            <a:extLst xmlns:a="http://schemas.openxmlformats.org/drawingml/2006/main">
              <a:ext uri="{FF2B5EF4-FFF2-40B4-BE49-F238E27FC236}">
                <a16:creationId xmlns:a16="http://schemas.microsoft.com/office/drawing/2014/main" id="{45A639A6-A8D2-446C-ACF9-0C51352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ponse-label-1-12">
            <a:extLst xmlns:a="http://schemas.openxmlformats.org/drawingml/2006/main">
              <a:ext uri="{FF2B5EF4-FFF2-40B4-BE49-F238E27FC236}">
                <a16:creationId xmlns:a16="http://schemas.microsoft.com/office/drawing/2014/main" id="{BC25595C-0D67-4BE9-BB08-D7B6C3D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3" name="response-copy-1-13">
            <a:extLst xmlns:a="http://schemas.openxmlformats.org/drawingml/2006/main">
              <a:ext uri="{FF2B5EF4-FFF2-40B4-BE49-F238E27FC236}">
                <a16:creationId xmlns:a16="http://schemas.microsoft.com/office/drawing/2014/main" id="{AFBE01BB-6081-47FD-9821-1EA75AFF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北交所8轮、沪深31轮；切分边界和验证选择均有保存与检查。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F4BC5E54-6D75-4945-84BF-3CA6D03F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ponse-label-2-15">
            <a:extLst xmlns:a="http://schemas.openxmlformats.org/drawingml/2006/main">
              <a:ext uri="{FF2B5EF4-FFF2-40B4-BE49-F238E27FC236}">
                <a16:creationId xmlns:a16="http://schemas.microsoft.com/office/drawing/2014/main" id="{29D0D49C-40FF-4FC6-90A7-10A14D6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6" name="response-copy-2-16">
            <a:extLst xmlns:a="http://schemas.openxmlformats.org/drawingml/2006/main">
              <a:ext uri="{FF2B5EF4-FFF2-40B4-BE49-F238E27FC236}">
                <a16:creationId xmlns:a16="http://schemas.microsoft.com/office/drawing/2014/main" id="{A0732E75-14EA-4BD2-B527-A10712F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供应商历史修订不能仅靠切分排除；还需持续保存当时生成的模型与分数。</a:t>
            </a:r>
          </a:p>
        </p:txBody>
      </p:sp>
      <p:sp>
        <p:nvSpPr>
          <p:cNvPr id="17" name="rule-17">
            <a:extLst xmlns:a="http://schemas.openxmlformats.org/drawingml/2006/main">
              <a:ext uri="{FF2B5EF4-FFF2-40B4-BE49-F238E27FC236}">
                <a16:creationId xmlns:a16="http://schemas.microsoft.com/office/drawing/2014/main" id="{4731695C-BF61-4CE9-A26B-B805169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BC36D8DF-633A-4511-A171-83584130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状态：滚动程序已完成；真实前瞻运行证据仍需积累。</a:t>
            </a:r>
          </a:p>
        </p:txBody>
      </p:sp>
    </p:spTree>
    <p:extLst>
      <p:ext uri="{BB962C8B-B14F-4D97-AF65-F5344CB8AC3E}">
        <p14:creationId xmlns:p14="http://schemas.microsoft.com/office/powerpoint/2010/main" val="21156020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F7C887-9BBA-43FF-A515-9BFBDB3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A8598F-D1D9-4F15-BFAD-B96DCE9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7/9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70EA56C-F48E-408F-AD06-1BB9109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HMM模型和诊断已说清，效果尚不支持替代简单仓位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C1B5919-248F-4A38-8B16-2326265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72E36B2-11C5-4F24-92E7-217F1D11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D8AD5DE1-58A9-4A61-90DE-4494611D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9/25九项建议记录；hmm_robustness.py；hmm_strict_fits.json  |  28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752CA083-67B3-4D60-BCBC-D143993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建议要点：HMM具体是什么模型？应该给哪些结果图？</a:t>
            </a:r>
          </a:p>
        </p:txBody>
      </p:sp>
      <p:sp>
        <p:nvSpPr>
          <p:cNvPr id="8" name="teacher-meaning-label-8">
            <a:extLst xmlns:a="http://schemas.openxmlformats.org/drawingml/2006/main">
              <a:ext uri="{FF2B5EF4-FFF2-40B4-BE49-F238E27FC236}">
                <a16:creationId xmlns:a16="http://schemas.microsoft.com/office/drawing/2014/main" id="{E612C644-1550-4046-B4CA-401D60F8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33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teacher-meaning-9">
            <a:extLst xmlns:a="http://schemas.openxmlformats.org/drawingml/2006/main">
              <a:ext uri="{FF2B5EF4-FFF2-40B4-BE49-F238E27FC236}">
                <a16:creationId xmlns:a16="http://schemas.microsoft.com/office/drawing/2014/main" id="{E5C94FBF-5BAE-4EB5-BB4D-862CF71C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6702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说明状态如何定义、怎样变化，以及它是否真的改善了资金表现。</a:t>
            </a:r>
          </a:p>
        </p:txBody>
      </p:sp>
      <p:sp>
        <p:nvSpPr>
          <p:cNvPr id="10" name="response-label-0-10">
            <a:extLst xmlns:a="http://schemas.openxmlformats.org/drawingml/2006/main">
              <a:ext uri="{FF2B5EF4-FFF2-40B4-BE49-F238E27FC236}">
                <a16:creationId xmlns:a16="http://schemas.microsoft.com/office/drawing/2014/main" id="{1692259C-643F-44C3-8283-DD4D2BC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已经做了什么</a:t>
            </a:r>
          </a:p>
        </p:txBody>
      </p:sp>
      <p:sp>
        <p:nvSpPr>
          <p:cNvPr id="11" name="response-copy-0-11">
            <a:extLst xmlns:a="http://schemas.openxmlformats.org/drawingml/2006/main">
              <a:ext uri="{FF2B5EF4-FFF2-40B4-BE49-F238E27FC236}">
                <a16:creationId xmlns:a16="http://schemas.microsoft.com/office/drawing/2014/main" id="{506F1C9E-7689-4407-A415-7F8C0F9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384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两状态高斯HMM；按月只用过去拟合；报告概率、仓位与简单对照。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9992768B-807E-435A-A460-52D0C6D4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242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ponse-label-1-13">
            <a:extLst xmlns:a="http://schemas.openxmlformats.org/drawingml/2006/main">
              <a:ext uri="{FF2B5EF4-FFF2-40B4-BE49-F238E27FC236}">
                <a16:creationId xmlns:a16="http://schemas.microsoft.com/office/drawing/2014/main" id="{2A03C065-8E4D-4513-96F6-C5AD92C7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实际结果</a:t>
            </a:r>
          </a:p>
        </p:txBody>
      </p:sp>
      <p:sp>
        <p:nvSpPr>
          <p:cNvPr id="14" name="response-copy-1-14">
            <a:extLst xmlns:a="http://schemas.openxmlformats.org/drawingml/2006/main">
              <a:ext uri="{FF2B5EF4-FFF2-40B4-BE49-F238E27FC236}">
                <a16:creationId xmlns:a16="http://schemas.microsoft.com/office/drawing/2014/main" id="{BEA0783C-61A0-4ADB-86B3-E8ADAC8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95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24个月均有合格拟合；收益 +44.91%，低于固定85%上限的 +65.05%。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B00FA9A1-7B99-4221-AA16-8A4467D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ponse-label-2-16">
            <a:extLst xmlns:a="http://schemas.openxmlformats.org/drawingml/2006/main">
              <a:ext uri="{FF2B5EF4-FFF2-40B4-BE49-F238E27FC236}">
                <a16:creationId xmlns:a16="http://schemas.microsoft.com/office/drawing/2014/main" id="{8C34E53D-D6D8-4973-AD3B-08B3CFC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未完成及原因</a:t>
            </a:r>
          </a:p>
        </p:txBody>
      </p:sp>
      <p:sp>
        <p:nvSpPr>
          <p:cNvPr id="17" name="response-copy-2-17">
            <a:extLst xmlns:a="http://schemas.openxmlformats.org/drawingml/2006/main">
              <a:ext uri="{FF2B5EF4-FFF2-40B4-BE49-F238E27FC236}">
                <a16:creationId xmlns:a16="http://schemas.microsoft.com/office/drawing/2014/main" id="{BF904DF7-8B47-4EF5-9BB6-8FC247B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006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市场状态缺可核对的真标签；拟合合格仍未带来优于简单对照的收益。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C28EB27B-2EEA-4270-9680-D09EE8A9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状态：模型解释与诊断已完成；经济效果未支持作为主方案。</a:t>
            </a:r>
          </a:p>
        </p:txBody>
      </p:sp>
    </p:spTree>
    <p:extLst>
      <p:ext uri="{BB962C8B-B14F-4D97-AF65-F5344CB8AC3E}">
        <p14:creationId xmlns:p14="http://schemas.microsoft.com/office/powerpoint/2010/main" val="14253614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F21E33-6B61-42CA-A4D1-5FF3CEE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41ADB2-5B31-4935-BFA6-6185EBB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8/9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4C9F1277-F885-4B73-AA6A-AA90D3EF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信息时间与复权已分别检验，真实结算字段仍不足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95AE52C-47C8-43ED-A450-3625930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9609519-D8AB-4BF9-83D5-F02F9EB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ACB420E0-34FB-4D56-87D7-BC7DC59C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9/25九项建议记录；lag2_metrics.json；hfq_results.json；dividend_summary.json  |  29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6B85140B-6426-4F55-9CD1-746A08EC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建议要点：因子暂按每日收盘后计算，价格已复权，如何统一？</a:t>
            </a:r>
          </a:p>
        </p:txBody>
      </p:sp>
      <p:sp>
        <p:nvSpPr>
          <p:cNvPr id="8" name="response-label-0-8">
            <a:extLst xmlns:a="http://schemas.openxmlformats.org/drawingml/2006/main">
              <a:ext uri="{FF2B5EF4-FFF2-40B4-BE49-F238E27FC236}">
                <a16:creationId xmlns:a16="http://schemas.microsoft.com/office/drawing/2014/main" id="{6D2E17B9-CE27-46D1-895B-E1659E5D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response-copy-0-9">
            <a:extLst xmlns:a="http://schemas.openxmlformats.org/drawingml/2006/main">
              <a:ext uri="{FF2B5EF4-FFF2-40B4-BE49-F238E27FC236}">
                <a16:creationId xmlns:a16="http://schemas.microsoft.com/office/drawing/2014/main" id="{AA29D7C9-FDC7-4B56-9A95-17060E33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7647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先确认当时知道什么，再分清价格调整与真实现金、股份变化。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4E015F64-A862-44B7-82AD-8ABA990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ponse-label-1-11">
            <a:extLst xmlns:a="http://schemas.openxmlformats.org/drawingml/2006/main">
              <a:ext uri="{FF2B5EF4-FFF2-40B4-BE49-F238E27FC236}">
                <a16:creationId xmlns:a16="http://schemas.microsoft.com/office/drawing/2014/main" id="{242DF318-2670-4A49-AD68-A24BF607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2" name="response-copy-1-12">
            <a:extLst xmlns:a="http://schemas.openxmlformats.org/drawingml/2006/main">
              <a:ext uri="{FF2B5EF4-FFF2-40B4-BE49-F238E27FC236}">
                <a16:creationId xmlns:a16="http://schemas.microsoft.com/office/drawing/2014/main" id="{B1A26B48-7799-4B96-B7B9-12B58AE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因子按盘后可用，补1/2日延迟；核对单位，加入hfq与分红事件对照。</a:t>
            </a:r>
          </a:p>
        </p:txBody>
      </p:sp>
      <p:sp>
        <p:nvSpPr>
          <p:cNvPr id="13" name="rule-13">
            <a:extLst xmlns:a="http://schemas.openxmlformats.org/drawingml/2006/main">
              <a:ext uri="{FF2B5EF4-FFF2-40B4-BE49-F238E27FC236}">
                <a16:creationId xmlns:a16="http://schemas.microsoft.com/office/drawing/2014/main" id="{39831C61-FA7C-4286-8BA6-6AFFA4C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ponse-label-2-14">
            <a:extLst xmlns:a="http://schemas.openxmlformats.org/drawingml/2006/main">
              <a:ext uri="{FF2B5EF4-FFF2-40B4-BE49-F238E27FC236}">
                <a16:creationId xmlns:a16="http://schemas.microsoft.com/office/drawing/2014/main" id="{9123102F-F0FD-468D-8D11-A1F1C2E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5" name="response-copy-2-15">
            <a:extLst xmlns:a="http://schemas.openxmlformats.org/drawingml/2006/main">
              <a:ext uri="{FF2B5EF4-FFF2-40B4-BE49-F238E27FC236}">
                <a16:creationId xmlns:a16="http://schemas.microsoft.com/office/drawing/2014/main" id="{11AA9DF4-F223-4CE3-B2DF-6AC89F4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40因子额外延迟2日后 +16.33%；分红即时可用情景 +73.25%。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B678162D-159F-4B24-860D-A025A7B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ponse-label-3-17">
            <a:extLst xmlns:a="http://schemas.openxmlformats.org/drawingml/2006/main">
              <a:ext uri="{FF2B5EF4-FFF2-40B4-BE49-F238E27FC236}">
                <a16:creationId xmlns:a16="http://schemas.microsoft.com/office/drawing/2014/main" id="{577AE4A6-85D0-4100-98B3-98DA4C63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8" name="response-copy-3-18">
            <a:extLst xmlns:a="http://schemas.openxmlformats.org/drawingml/2006/main">
              <a:ext uri="{FF2B5EF4-FFF2-40B4-BE49-F238E27FC236}">
                <a16:creationId xmlns:a16="http://schemas.microsoft.com/office/drawing/2014/main" id="{B7298C84-8619-45FA-9902-9E04C62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缺发布时间/修订、支付日、股份可卖日、税费；现有qfq口径不能直接替换。</a:t>
            </a:r>
          </a:p>
        </p:txBody>
      </p:sp>
      <p:sp>
        <p:nvSpPr>
          <p:cNvPr id="19" name="rule-19">
            <a:extLst xmlns:a="http://schemas.openxmlformats.org/drawingml/2006/main">
              <a:ext uri="{FF2B5EF4-FFF2-40B4-BE49-F238E27FC236}">
                <a16:creationId xmlns:a16="http://schemas.microsoft.com/office/drawing/2014/main" id="{F313EC9C-817C-492B-B37C-0A164A34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D4F83CDE-E609-4E1F-9860-10C850FD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状态：时间与价格口径对照已完成；正式历史可用性及结算部分解决。</a:t>
            </a:r>
          </a:p>
        </p:txBody>
      </p:sp>
    </p:spTree>
    <p:extLst>
      <p:ext uri="{BB962C8B-B14F-4D97-AF65-F5344CB8AC3E}">
        <p14:creationId xmlns:p14="http://schemas.microsoft.com/office/powerpoint/2010/main" val="6788966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B6F2C2-3E41-44B8-A762-4F3400D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1EBCE0-2CC1-4AF0-B3F3-815561D9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9/9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FD3263D7-2008-4151-B8BE-AF248449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分钟资金账户已推进，vn.py指定环境仍未验收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D4853972-C6A0-46F5-B27A-57B8D35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D76196D-29F4-4C5A-940B-C0E98CD9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65BDFCD-840B-46CB-AF4E-458E0A9C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9/25九项建议记录；replay.py离线适配；minute_account.py；verification.json  |  30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B4B9ED37-9028-4186-8E6C-D113986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建议要点：怎样移植到vn.py做严格测试，并与同学对接？</a:t>
            </a:r>
          </a:p>
        </p:txBody>
      </p:sp>
      <p:sp>
        <p:nvSpPr>
          <p:cNvPr id="8" name="teacher-meaning-8">
            <a:extLst xmlns:a="http://schemas.openxmlformats.org/drawingml/2006/main">
              <a:ext uri="{FF2B5EF4-FFF2-40B4-BE49-F238E27FC236}">
                <a16:creationId xmlns:a16="http://schemas.microsoft.com/office/drawing/2014/main" id="{1E558DC6-7075-4D9B-9120-869986C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老师的意思：把研究信号变成可执行订单，再验证平台规则和成交结果能否一致。</a:t>
            </a:r>
          </a:p>
        </p:txBody>
      </p:sp>
      <p:sp>
        <p:nvSpPr>
          <p:cNvPr id="9" name="response-label-0-9">
            <a:extLst xmlns:a="http://schemas.openxmlformats.org/drawingml/2006/main">
              <a:ext uri="{FF2B5EF4-FFF2-40B4-BE49-F238E27FC236}">
                <a16:creationId xmlns:a16="http://schemas.microsoft.com/office/drawing/2014/main" id="{5E62E042-FA9B-425F-BEAF-599EE20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0" name="response-copy-0-10">
            <a:extLst xmlns:a="http://schemas.openxmlformats.org/drawingml/2006/main">
              <a:ext uri="{FF2B5EF4-FFF2-40B4-BE49-F238E27FC236}">
                <a16:creationId xmlns:a16="http://schemas.microsoft.com/office/drawing/2014/main" id="{DDE8AF24-E792-43E6-8A6C-5B69E55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保留离线适配与时间门控；新增两段分钟账户、三档参与率和延期卖出。</a:t>
            </a:r>
          </a:p>
        </p:txBody>
      </p:sp>
      <p:sp>
        <p:nvSpPr>
          <p:cNvPr id="11" name="rule-11">
            <a:extLst xmlns:a="http://schemas.openxmlformats.org/drawingml/2006/main">
              <a:ext uri="{FF2B5EF4-FFF2-40B4-BE49-F238E27FC236}">
                <a16:creationId xmlns:a16="http://schemas.microsoft.com/office/drawing/2014/main" id="{852F6EE4-6A07-4EA3-8BCC-98B9EEFD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ponse-label-1-12">
            <a:extLst xmlns:a="http://schemas.openxmlformats.org/drawingml/2006/main">
              <a:ext uri="{FF2B5EF4-FFF2-40B4-BE49-F238E27FC236}">
                <a16:creationId xmlns:a16="http://schemas.microsoft.com/office/drawing/2014/main" id="{5A9DC543-23E6-4718-A0AE-DCD1E5B8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3" name="response-copy-1-13">
            <a:extLst xmlns:a="http://schemas.openxmlformats.org/drawingml/2006/main">
              <a:ext uri="{FF2B5EF4-FFF2-40B4-BE49-F238E27FC236}">
                <a16:creationId xmlns:a16="http://schemas.microsoft.com/office/drawing/2014/main" id="{EE79E7B2-D8DA-446D-820F-B1728F0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检查T+1、共享分钟容量、非负现金与逐批持股；严格情景削弱日线收益。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C5C848BB-C5D5-4328-8E87-0D9400A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ponse-label-2-15">
            <a:extLst xmlns:a="http://schemas.openxmlformats.org/drawingml/2006/main">
              <a:ext uri="{FF2B5EF4-FFF2-40B4-BE49-F238E27FC236}">
                <a16:creationId xmlns:a16="http://schemas.microsoft.com/office/drawing/2014/main" id="{F7EB52F9-A65E-4B24-91EA-87A2774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6" name="response-copy-2-16">
            <a:extLst xmlns:a="http://schemas.openxmlformats.org/drawingml/2006/main">
              <a:ext uri="{FF2B5EF4-FFF2-40B4-BE49-F238E27FC236}">
                <a16:creationId xmlns:a16="http://schemas.microsoft.com/office/drawing/2014/main" id="{EF6F7389-5E7B-4C50-AF7A-29634844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未提供指定商业版版本、授权环境和接口标准；订单簿、冲击和完整规则待验收。</a:t>
            </a:r>
          </a:p>
        </p:txBody>
      </p:sp>
      <p:sp>
        <p:nvSpPr>
          <p:cNvPr id="17" name="rule-17">
            <a:extLst xmlns:a="http://schemas.openxmlformats.org/drawingml/2006/main">
              <a:ext uri="{FF2B5EF4-FFF2-40B4-BE49-F238E27FC236}">
                <a16:creationId xmlns:a16="http://schemas.microsoft.com/office/drawing/2014/main" id="{F248026F-BB2B-4CA7-B9DC-EB07AF8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87328168-0544-4977-86D2-98DB8A7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状态：本地执行验证已推进；指定平台运行与协作验收尚未完成。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4252284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483F22-2EF0-4AF9-A443-A2550EA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94BB7B-E99D-4F2A-BCAD-70D7C756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资料与服务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C26B65C-EE22-43F7-B700-23D58247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服务器已有资料支撑本轮实验，剩余需求要按目标列清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53E3297-816E-4F54-A402-C8E1E5E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8DFDFCEA-CB75-4ECC-BC56-9782492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A885115-ED63-4B02-A029-F206FFE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sftp_update_summary.json；late_server_check.json；分红事件审计  |  31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3FBD8D1A-0A2D-4CDE-AEEE-82000FF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21E44834-80DB-4D84-9C65-410E676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96596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F7A65B77-BBAB-413A-9F32-30C4B56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724025"/>
            <a:ext cx="416052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当前事实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F39A713C-43B6-49A5-BBEF-FBC7D5E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24025"/>
            <a:ext cx="416052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影响与后续需求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71ECBA31-3361-4075-8117-0D44D3A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日线 / 因子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9EF6E0B9-C503-4B49-9018-688E9D12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2764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348只日线与120张因子表到10/8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802713AB-C9FC-4CE4-86A0-3F0D6AB7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22764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已经用于研究；新信号未来5日答案未成熟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052D00F6-EFAE-467C-B767-C83E5E78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2DB77083-D184-4F66-AFA9-1C2AFBA6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分钟文件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3BFDD75C-C001-44EE-837F-BB74352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813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9/28—30已补；最新仍9/30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433C125F-E45D-4CF8-9556-C66C25F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29813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连续全历史另缺三日 2025/6/30；2026/5/18、10/8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81DEA81D-1438-4174-947A-55A4086B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148B6DB0-138B-4682-A7AE-A4785AD2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历史身份 / 发布时间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CFFF4CBF-E211-4938-A425-9B01DFB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6861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代理筛选与盘后可用假设仍在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BE728BA3-CDF6-4365-91A5-4E3BC19C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36861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需上市退市、停牌、发布和修订记录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A92D65C2-0033-4CF7-96F3-5F66E38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DB7E4B37-AD07-4E9A-A1B9-7B445CA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公司行为结算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645109E1-8329-46E1-B924-365B5BD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3910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分红表已到，2147个有效事件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2B5D2FD4-5F7D-4EAF-AE8D-9B2DF83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3910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仍需支付日、股份可卖日、税费与完整性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A9A63827-1CF6-41AE-BE63-8E5F22B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4-0-27">
            <a:extLst xmlns:a="http://schemas.openxmlformats.org/drawingml/2006/main">
              <a:ext uri="{FF2B5EF4-FFF2-40B4-BE49-F238E27FC236}">
                <a16:creationId xmlns:a16="http://schemas.microsoft.com/office/drawing/2014/main" id="{086B1C87-76B1-4BBE-8F2A-AFB28F6C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指定平台</a:t>
            </a:r>
          </a:p>
        </p:txBody>
      </p:sp>
      <p:sp>
        <p:nvSpPr>
          <p:cNvPr id="28" name="cell-4-1-28">
            <a:extLst xmlns:a="http://schemas.openxmlformats.org/drawingml/2006/main">
              <a:ext uri="{FF2B5EF4-FFF2-40B4-BE49-F238E27FC236}">
                <a16:creationId xmlns:a16="http://schemas.microsoft.com/office/drawing/2014/main" id="{B1D4E889-B556-4CCB-AB24-5A72C91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0958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本地模拟与离线适配已有</a:t>
            </a:r>
          </a:p>
        </p:txBody>
      </p:sp>
      <p:sp>
        <p:nvSpPr>
          <p:cNvPr id="29" name="cell-4-2-29">
            <a:extLst xmlns:a="http://schemas.openxmlformats.org/drawingml/2006/main">
              <a:ext uri="{FF2B5EF4-FFF2-40B4-BE49-F238E27FC236}">
                <a16:creationId xmlns:a16="http://schemas.microsoft.com/office/drawing/2014/main" id="{E86E3370-5059-49FB-9FAB-3A5F7BE6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50958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需版本、授权环境、接口与联调验收标准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405F642A-8DEF-4BDD-9BEF-35A742C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note-31">
            <a:extLst xmlns:a="http://schemas.openxmlformats.org/drawingml/2006/main">
              <a:ext uri="{FF2B5EF4-FFF2-40B4-BE49-F238E27FC236}">
                <a16:creationId xmlns:a16="http://schemas.microsoft.com/office/drawing/2014/main" id="{ACAF27F6-1D7A-4AA8-84F9-482D1C8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核查时点：10月8日23:59，北京时间。现有文件足够复现本轮实验，真实交易验收仍需补证据。</a:t>
            </a:r>
          </a:p>
        </p:txBody>
      </p:sp>
    </p:spTree>
    <p:extLst>
      <p:ext uri="{BB962C8B-B14F-4D97-AF65-F5344CB8AC3E}">
        <p14:creationId xmlns:p14="http://schemas.microsoft.com/office/powerpoint/2010/main" val="6126738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27A314-1BC0-4A19-ADD1-B64A3E6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F33A0C-5F63-460C-BE4F-ECDE042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0268B1B1-2271-434B-AAE6-3F40F9F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已形成可复核的研究流程，下一步验证真实性与稳定性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8D0D01F-C454-478D-8E09-EA945DA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1A7CC98-0789-460A-87DF-BAEBD32A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939E2C70-DF00-43CC-9825-3431B81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研究代码、冻结结果、59项检查；九项建议逐项对照  |  32 / 37</a:t>
            </a:r>
          </a:p>
        </p:txBody>
      </p:sp>
      <p:sp>
        <p:nvSpPr>
          <p:cNvPr id="7" name="section-heading-0-7">
            <a:extLst xmlns:a="http://schemas.openxmlformats.org/drawingml/2006/main">
              <a:ext uri="{FF2B5EF4-FFF2-40B4-BE49-F238E27FC236}">
                <a16:creationId xmlns:a16="http://schemas.microsoft.com/office/drawing/2014/main" id="{42F5F688-A665-4CA4-B7A8-7F672E1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已经交付</a:t>
            </a:r>
          </a:p>
        </p:txBody>
      </p:sp>
      <p:sp>
        <p:nvSpPr>
          <p:cNvPr id="8" name="section-copy-0-8">
            <a:extLst xmlns:a="http://schemas.openxmlformats.org/drawingml/2006/main">
              <a:ext uri="{FF2B5EF4-FFF2-40B4-BE49-F238E27FC236}">
                <a16:creationId xmlns:a16="http://schemas.microsoft.com/office/drawing/2014/main" id="{3C1A9B85-176D-4A02-9AE1-DEB4F577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数据核查 → 动态股票池 → 滚动模型 → 日线/分钟资金账 → 实验与核对。</a:t>
            </a:r>
          </a:p>
        </p:txBody>
      </p:sp>
      <p:sp>
        <p:nvSpPr>
          <p:cNvPr id="9" name="section-heading-1-9">
            <a:extLst xmlns:a="http://schemas.openxmlformats.org/drawingml/2006/main">
              <a:ext uri="{FF2B5EF4-FFF2-40B4-BE49-F238E27FC236}">
                <a16:creationId xmlns:a16="http://schemas.microsoft.com/office/drawing/2014/main" id="{A57F4F6C-66DD-4040-8A3B-7A7B87C2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已经认识到</a:t>
            </a:r>
          </a:p>
        </p:txBody>
      </p:sp>
      <p:sp>
        <p:nvSpPr>
          <p:cNvPr id="10" name="section-copy-1-10">
            <a:extLst xmlns:a="http://schemas.openxmlformats.org/drawingml/2006/main">
              <a:ext uri="{FF2B5EF4-FFF2-40B4-BE49-F238E27FC236}">
                <a16:creationId xmlns:a16="http://schemas.microsoft.com/office/drawing/2014/main" id="{ACD7872B-F54C-410A-A428-E113EF0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数量与时效影响结果；简单模型很强；严格成交会削弱日线成绩。</a:t>
            </a:r>
          </a:p>
        </p:txBody>
      </p:sp>
      <p:sp>
        <p:nvSpPr>
          <p:cNvPr id="11" name="section-heading-2-11">
            <a:extLst xmlns:a="http://schemas.openxmlformats.org/drawingml/2006/main">
              <a:ext uri="{FF2B5EF4-FFF2-40B4-BE49-F238E27FC236}">
                <a16:creationId xmlns:a16="http://schemas.microsoft.com/office/drawing/2014/main" id="{2CF60196-76F4-43B0-B973-9FD7E009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接下来验证</a:t>
            </a:r>
          </a:p>
        </p:txBody>
      </p:sp>
      <p:sp>
        <p:nvSpPr>
          <p:cNvPr id="12" name="section-copy-2-12">
            <a:extLst xmlns:a="http://schemas.openxmlformats.org/drawingml/2006/main">
              <a:ext uri="{FF2B5EF4-FFF2-40B4-BE49-F238E27FC236}">
                <a16:creationId xmlns:a16="http://schemas.microsoft.com/office/drawing/2014/main" id="{684B0E90-2022-449E-A25F-E7337AF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补真实数据时点和结算；留存未来记录；在指定平台联调并核对。</a:t>
            </a:r>
          </a:p>
        </p:txBody>
      </p:sp>
      <p:sp>
        <p:nvSpPr>
          <p:cNvPr id="13" name="support-note-13">
            <a:extLst xmlns:a="http://schemas.openxmlformats.org/drawingml/2006/main">
              <a:ext uri="{FF2B5EF4-FFF2-40B4-BE49-F238E27FC236}">
                <a16:creationId xmlns:a16="http://schemas.microsoft.com/office/drawing/2014/main" id="{8E95D8C1-AC3D-4622-8F85-06BFA3D0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59项检查验证程序规则与账目；市场有效性仍需新的数据和实际执行证据。</a:t>
            </a:r>
          </a:p>
        </p:txBody>
      </p:sp>
    </p:spTree>
    <p:extLst>
      <p:ext uri="{BB962C8B-B14F-4D97-AF65-F5344CB8AC3E}">
        <p14:creationId xmlns:p14="http://schemas.microsoft.com/office/powerpoint/2010/main" val="1257877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6A1733-DE60-401B-9078-1A42A16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C54CA6-EFD3-47B0-B425-CB1BB00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A · 因子数量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7D961B66-0C6B-4B87-AEF1-61A7337A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期末收益更高，也可能经历较深的中途回撤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4802E2F-DF77-48EA-86D5-7B462ED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5963C54-7D7E-48F9-97E0-81462111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F423559-4135-4F13-B30A-BDCA2C8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count_*_account.csv；validation_count_account.csv；02_count_nav.png  |  33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4d2bd2714d83"/>
          <a:stretch xmlns:a="http://schemas.openxmlformats.org/drawingml/2006/main"/>
        </p:blipFill>
        <p:spPr>
          <a:xfrm xmlns:a="http://schemas.openxmlformats.org/drawingml/2006/main">
            <a:off x="1281329" y="1466850"/>
            <a:ext cx="9629342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91FDBE05-4943-446E-8E2C-A6D34A0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读图：细线：固定数量；黑粗线：按此前验证成绩选数量。各方法共用同一日期和买卖规则。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95B05A71-D008-4069-8C7D-8A772EF4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验证方案最大回撤 −43.95%；100对40的平均IC增量区间仍包含0。</a:t>
            </a:r>
          </a:p>
        </p:txBody>
      </p:sp>
    </p:spTree>
    <p:extLst>
      <p:ext uri="{BB962C8B-B14F-4D97-AF65-F5344CB8AC3E}">
        <p14:creationId xmlns:p14="http://schemas.microsoft.com/office/powerpoint/2010/main" val="13652034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479C89-9E10-4C5A-9876-E4FF8B76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DC6F25-2E04-4523-B924-C37CB3D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B · 条件变化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6C89A70-5B39-4DDC-94B7-5181D48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数据延迟、线索来源和模型设置都会改变结果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1D909E6-68CC-4F99-8165-3B8CF54F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AF9A122-6230-4BD1-A950-603D724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4FF18E8-6135-4AF7-9CF7-BBC8256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extension_results.csv；04_sensitivity.png；成本情景结果  |  34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581fe42c1415a"/>
          <a:stretch xmlns:a="http://schemas.openxmlformats.org/drawingml/2006/main"/>
        </p:blipFill>
        <p:spPr>
          <a:xfrm xmlns:a="http://schemas.openxmlformats.org/drawingml/2006/main">
            <a:off x="1957201" y="1466850"/>
            <a:ext cx="827759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80AD7FFF-2B8D-4058-AD52-7F9E761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读图：横轴：累计价格研究收益。每条只代表该条件下的对照，不能混称为独立的新测试。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0A8A6617-1763-4BED-BF4B-3A8E7AD7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额外2日延迟降至 +16.33%；验证方案单边5 / 15 / 30bp成本：+107.39 / +76.03 / +37.73%。</a:t>
            </a:r>
          </a:p>
        </p:txBody>
      </p:sp>
    </p:spTree>
    <p:extLst>
      <p:ext uri="{BB962C8B-B14F-4D97-AF65-F5344CB8AC3E}">
        <p14:creationId xmlns:p14="http://schemas.microsoft.com/office/powerpoint/2010/main" val="29155649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FBB0F0-F985-4E4F-9074-2E70495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4D98F4-5422-4D97-9063-5CD4B72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C · HMM解释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B2A3A32-459F-4FB1-822C-E817351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状态概率、仓位上限和实际仓位，是三个不同的量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68D4776-FBAF-41C4-81E3-7081D9DA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B7FF4FC-5C5F-4359-BCE2-72889F4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F34A62F-F677-4CE5-94A3-18649AD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hmm_strict_probabilities.csv；hmm_strict_account.csv；图为已有结果重绘  |  35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159f0b1b74b52"/>
          <a:stretch xmlns:a="http://schemas.openxmlformats.org/drawingml/2006/main"/>
        </p:blipFill>
        <p:spPr>
          <a:xfrm xmlns:a="http://schemas.openxmlformats.org/drawingml/2006/main">
            <a:off x="609600" y="1962754"/>
            <a:ext cx="7943850" cy="3408742"/>
          </a:xfrm>
          <a:prstGeom xmlns:a="http://schemas.openxmlformats.org/drawingml/2006/main" prst="rect">
            <a:avLst/>
          </a:prstGeom>
        </p:spPr>
      </p:pic>
      <p:sp>
        <p:nvSpPr>
          <p:cNvPr id="8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351B4366-1481-4020-A20C-DEC37D46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2647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怎样读图</a:t>
            </a:r>
          </a:p>
        </p:txBody>
      </p:sp>
      <p:sp>
        <p:nvSpPr>
          <p:cNvPr id="9" name="rail-copy-8">
            <a:extLst xmlns:a="http://schemas.openxmlformats.org/drawingml/2006/main">
              <a:ext uri="{FF2B5EF4-FFF2-40B4-BE49-F238E27FC236}">
                <a16:creationId xmlns:a16="http://schemas.microsoft.com/office/drawing/2014/main" id="{189ED03B-3A00-47A1-B5B0-7A721231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647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上图看高波动概率；下图区分允许的仓位上限与实际股票仓位。</a:t>
            </a:r>
          </a:p>
        </p:txBody>
      </p:sp>
      <p:sp>
        <p:nvSpPr>
          <p:cNvPr id="10" name="rule-9">
            <a:extLst xmlns:a="http://schemas.openxmlformats.org/drawingml/2006/main">
              <a:ext uri="{FF2B5EF4-FFF2-40B4-BE49-F238E27FC236}">
                <a16:creationId xmlns:a16="http://schemas.microsoft.com/office/drawing/2014/main" id="{2EEC359F-697B-4C80-90DE-FD06B7C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context-10">
            <a:extLst xmlns:a="http://schemas.openxmlformats.org/drawingml/2006/main">
              <a:ext uri="{FF2B5EF4-FFF2-40B4-BE49-F238E27FC236}">
                <a16:creationId xmlns:a16="http://schemas.microsoft.com/office/drawing/2014/main" id="{4CF135AD-2DF7-4C00-BEFB-6434562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6479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概率表示模型判断。 仓位上限只是约束。 实际持仓还看资金与成交。</a:t>
            </a:r>
          </a:p>
        </p:txBody>
      </p:sp>
      <p:sp>
        <p:nvSpPr>
          <p:cNvPr id="12" name="chart-takeaway-11">
            <a:extLst xmlns:a="http://schemas.openxmlformats.org/drawingml/2006/main">
              <a:ext uri="{FF2B5EF4-FFF2-40B4-BE49-F238E27FC236}">
                <a16:creationId xmlns:a16="http://schemas.microsoft.com/office/drawing/2014/main" id="{C5BB2937-452A-4BC6-82EF-40B61345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高波动不等于下跌；上限不等于满仓；拟合通过不等于已证明择时有效。</a:t>
            </a:r>
          </a:p>
        </p:txBody>
      </p:sp>
    </p:spTree>
    <p:extLst>
      <p:ext uri="{BB962C8B-B14F-4D97-AF65-F5344CB8AC3E}">
        <p14:creationId xmlns:p14="http://schemas.microsoft.com/office/powerpoint/2010/main" val="3927940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16B5BF-859F-4DDE-9DC6-F9A9660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DBBF08-7525-493E-8CC8-9D67BD0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D · 单因子检验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2A472B48-09D0-4CB5-A51E-55835FB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高分组后续表现较好，只能支持排序信息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A7A164B-2EC4-4FFC-A96E-675A674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8393F31-40BC-4F81-9737-2AF8DEA7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9318D7E-B0E0-49AC-8402-C7D785C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teacher9_20260930/figures/quintiles.png；训练内单因子选择与外层评价  |  36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4a42994384e71"/>
          <a:stretch xmlns:a="http://schemas.openxmlformats.org/drawingml/2006/main"/>
        </p:blipFill>
        <p:spPr>
          <a:xfrm xmlns:a="http://schemas.openxmlformats.org/drawingml/2006/main">
            <a:off x="2234891" y="1466850"/>
            <a:ext cx="772221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DD13636F-9803-453E-9EA5-4344424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读图：横轴：由低分到高分的五组；纵轴：后续5日价格收益均值，不是累计账户收益。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2799918E-FBF8-45C0-9C1D-D0A25F5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它回答“这条线索是否有排序信息”，不直接回答“扣费、成交以后能赚多少”。</a:t>
            </a:r>
          </a:p>
        </p:txBody>
      </p:sp>
    </p:spTree>
    <p:extLst>
      <p:ext uri="{BB962C8B-B14F-4D97-AF65-F5344CB8AC3E}">
        <p14:creationId xmlns:p14="http://schemas.microsoft.com/office/powerpoint/2010/main" val="6147612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942599-16E7-4CFB-A01F-E7EECBA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EC8A7B-1C21-4137-8E5E-610A20A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E · 核对入口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690B06FB-092C-4866-A1F4-0BC2558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每个结论都对应结果文件，历史版本可以追溯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A8DF53E-6907-4E55-86C6-54FF901E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EA56E775-E813-4CB2-95C3-ED35F59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D681F4CE-F226-4F1C-92A7-0404772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仓库main；首次汇报讲稿；从零读懂量化项目讲义  |  37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94DB5BA7-2B2C-46A4-9FC1-000FA700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75B2EB33-EAAF-4846-8C21-EB178B6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95351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想核对什么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3BCCEC49-08F6-4A2C-AC7C-EE4C4E18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1724025"/>
            <a:ext cx="756208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证据位置（相对项目根目录）</a:t>
            </a:r>
          </a:p>
        </p:txBody>
      </p:sp>
      <p:sp>
        <p:nvSpPr>
          <p:cNvPr id="10" name="cell-0-0-10">
            <a:extLst xmlns:a="http://schemas.openxmlformats.org/drawingml/2006/main">
              <a:ext uri="{FF2B5EF4-FFF2-40B4-BE49-F238E27FC236}">
                <a16:creationId xmlns:a16="http://schemas.microsoft.com/office/drawing/2014/main" id="{C37C6BD8-F01F-45DC-B2C0-B9B21BF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本轮结果与比较规则</a:t>
            </a:r>
          </a:p>
        </p:txBody>
      </p:sp>
      <p:sp>
        <p:nvSpPr>
          <p:cNvPr id="11" name="cell-0-1-11">
            <a:extLst xmlns:a="http://schemas.openxmlformats.org/drawingml/2006/main">
              <a:ext uri="{FF2B5EF4-FFF2-40B4-BE49-F238E27FC236}">
                <a16:creationId xmlns:a16="http://schemas.microsoft.com/office/drawing/2014/main" id="{7FC116E9-5E16-4823-882B-875F396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27647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training_runs/teacher9_20261008/final_summary.json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B9FA5A0F-7E42-4B83-ADD9-1EC7D12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-1-0-13">
            <a:extLst xmlns:a="http://schemas.openxmlformats.org/drawingml/2006/main">
              <a:ext uri="{FF2B5EF4-FFF2-40B4-BE49-F238E27FC236}">
                <a16:creationId xmlns:a16="http://schemas.microsoft.com/office/drawing/2014/main" id="{E5454655-FC0A-4109-935A-533058C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每季怎么选因子和数量</a:t>
            </a:r>
          </a:p>
        </p:txBody>
      </p:sp>
      <p:sp>
        <p:nvSpPr>
          <p:cNvPr id="14" name="cell-1-1-14">
            <a:extLst xmlns:a="http://schemas.openxmlformats.org/drawingml/2006/main">
              <a:ext uri="{FF2B5EF4-FFF2-40B4-BE49-F238E27FC236}">
                <a16:creationId xmlns:a16="http://schemas.microsoft.com/office/drawing/2014/main" id="{9845BAC9-2936-4765-BEC9-BFF43FC0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86702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folds.json、validation_models.csv、bj/*/selection.json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54401627-1FE1-412F-943C-5E0D648C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ll-2-0-16">
            <a:extLst xmlns:a="http://schemas.openxmlformats.org/drawingml/2006/main">
              <a:ext uri="{FF2B5EF4-FFF2-40B4-BE49-F238E27FC236}">
                <a16:creationId xmlns:a16="http://schemas.microsoft.com/office/drawing/2014/main" id="{A667E657-DA1B-411A-BF73-F713056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资金、订单与分钟成交</a:t>
            </a:r>
          </a:p>
        </p:txBody>
      </p:sp>
      <p:sp>
        <p:nvSpPr>
          <p:cNvPr id="17" name="cell-2-1-17">
            <a:extLst xmlns:a="http://schemas.openxmlformats.org/drawingml/2006/main">
              <a:ext uri="{FF2B5EF4-FFF2-40B4-BE49-F238E27FC236}">
                <a16:creationId xmlns:a16="http://schemas.microsoft.com/office/drawing/2014/main" id="{7568015F-4343-4505-B196-51EB718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345757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*_account.csv、*_orders.csv、*_fills.csv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F325032D-7EF1-4BE6-966F-8431DEE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3-0-19">
            <a:extLst xmlns:a="http://schemas.openxmlformats.org/drawingml/2006/main">
              <a:ext uri="{FF2B5EF4-FFF2-40B4-BE49-F238E27FC236}">
                <a16:creationId xmlns:a16="http://schemas.microsoft.com/office/drawing/2014/main" id="{6AAB3D34-DEAD-46FC-85C2-AD8BAA0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服务器终检与公司行为</a:t>
            </a:r>
          </a:p>
        </p:txBody>
      </p:sp>
      <p:sp>
        <p:nvSpPr>
          <p:cNvPr id="20" name="cell-3-1-20">
            <a:extLst xmlns:a="http://schemas.openxmlformats.org/drawingml/2006/main">
              <a:ext uri="{FF2B5EF4-FFF2-40B4-BE49-F238E27FC236}">
                <a16:creationId xmlns:a16="http://schemas.microsoft.com/office/drawing/2014/main" id="{774AFF25-475B-4080-B07F-4E89954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404812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late_server_check.json、dividend_summary.json</a:t>
            </a:r>
          </a:p>
        </p:txBody>
      </p:sp>
      <p:sp>
        <p:nvSpPr>
          <p:cNvPr id="21" name="rule-21">
            <a:extLst xmlns:a="http://schemas.openxmlformats.org/drawingml/2006/main">
              <a:ext uri="{FF2B5EF4-FFF2-40B4-BE49-F238E27FC236}">
                <a16:creationId xmlns:a16="http://schemas.microsoft.com/office/drawing/2014/main" id="{9EB7C761-72CF-4C60-BE1A-A8F8B265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ell-4-0-22">
            <a:extLst xmlns:a="http://schemas.openxmlformats.org/drawingml/2006/main">
              <a:ext uri="{FF2B5EF4-FFF2-40B4-BE49-F238E27FC236}">
                <a16:creationId xmlns:a16="http://schemas.microsoft.com/office/drawing/2014/main" id="{DFD0F2E8-32CD-499F-8ABC-3C7694D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59项研究检查</a:t>
            </a:r>
          </a:p>
        </p:txBody>
      </p:sp>
      <p:sp>
        <p:nvSpPr>
          <p:cNvPr id="23" name="cell-4-1-23">
            <a:extLst xmlns:a="http://schemas.openxmlformats.org/drawingml/2006/main">
              <a:ext uri="{FF2B5EF4-FFF2-40B4-BE49-F238E27FC236}">
                <a16:creationId xmlns:a16="http://schemas.microsoft.com/office/drawing/2014/main" id="{946ADC29-BCB1-45E6-BE48-C6D65D9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463867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verification.json；对应 tools/research_20261008/verify.py</a:t>
            </a:r>
          </a:p>
        </p:txBody>
      </p:sp>
      <p:sp>
        <p:nvSpPr>
          <p:cNvPr id="24" name="rule-24">
            <a:extLst xmlns:a="http://schemas.openxmlformats.org/drawingml/2006/main">
              <a:ext uri="{FF2B5EF4-FFF2-40B4-BE49-F238E27FC236}">
                <a16:creationId xmlns:a16="http://schemas.microsoft.com/office/drawing/2014/main" id="{BFA6623D-6C76-4E24-A747-399CD3D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5-0-25">
            <a:extLst xmlns:a="http://schemas.openxmlformats.org/drawingml/2006/main">
              <a:ext uri="{FF2B5EF4-FFF2-40B4-BE49-F238E27FC236}">
                <a16:creationId xmlns:a16="http://schemas.microsoft.com/office/drawing/2014/main" id="{BD4B853E-B7BB-4EF0-847E-AC5505E3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九项建议与通俗解释</a:t>
            </a:r>
          </a:p>
        </p:txBody>
      </p:sp>
      <p:sp>
        <p:nvSpPr>
          <p:cNvPr id="26" name="cell-5-1-26">
            <a:extLst xmlns:a="http://schemas.openxmlformats.org/drawingml/2006/main">
              <a:ext uri="{FF2B5EF4-FFF2-40B4-BE49-F238E27FC236}">
                <a16:creationId xmlns:a16="http://schemas.microsoft.com/office/drawing/2014/main" id="{686D8E84-FEAB-40EE-B858-8AB6460F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522922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学习笔记/从零读懂项目_20261008/；本PPT逐页讲稿</a:t>
            </a:r>
          </a:p>
        </p:txBody>
      </p:sp>
      <p:sp>
        <p:nvSpPr>
          <p:cNvPr id="27" name="rule-27">
            <a:extLst xmlns:a="http://schemas.openxmlformats.org/drawingml/2006/main">
              <a:ext uri="{FF2B5EF4-FFF2-40B4-BE49-F238E27FC236}">
                <a16:creationId xmlns:a16="http://schemas.microsoft.com/office/drawing/2014/main" id="{B39029BF-672C-43AE-A457-0985B321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pport-note-28">
            <a:extLst xmlns:a="http://schemas.openxmlformats.org/drawingml/2006/main">
              <a:ext uri="{FF2B5EF4-FFF2-40B4-BE49-F238E27FC236}">
                <a16:creationId xmlns:a16="http://schemas.microsoft.com/office/drawing/2014/main" id="{1FC30EDA-9798-449C-88C5-84A0D75E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老师九项建议按9月25日整理记录逐项回应；不混同团队“任务1—任务9”。</a:t>
            </a:r>
          </a:p>
        </p:txBody>
      </p:sp>
    </p:spTree>
    <p:extLst>
      <p:ext uri="{BB962C8B-B14F-4D97-AF65-F5344CB8AC3E}">
        <p14:creationId xmlns:p14="http://schemas.microsoft.com/office/powerpoint/2010/main" val="1380826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2026-10-09T06:24:32.9520000Z</dcterms:created>
  <dcterms:modified xsi:type="dcterms:W3CDTF">2026-10-09T06:24:32.9520000Z</dcterms:modified>
</coreProperties>
</file>