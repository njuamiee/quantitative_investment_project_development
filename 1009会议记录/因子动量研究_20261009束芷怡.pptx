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83153"/>
          </a:solidFill>
          <a:ln w="9525">
            <a:solidFill>
              <a:srgbClr val="18315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381125"/>
            <a:ext cx="7239000" cy="1504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20000"/>
          </a:bodyPr>
          <a:lstStyle>
            <a:defPPr>
              <a:defRPr sz="36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36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3600" b="1">
                <a:solidFill>
                  <a:srgbClr val="183153"/>
                </a:solidFill>
                <a:latin typeface="宋体" charset="0"/>
                <a:ea typeface="宋体" charset="0"/>
                <a:cs typeface="Arial Unicode MS" panose="020B0604020202020204" charset="-122"/>
              </a:rPr>
              <a:t>中国股票市场因子动量研究</a:t>
            </a:r>
            <a:endParaRPr sz="3600" b="1">
              <a:solidFill>
                <a:srgbClr val="183153"/>
              </a:solidFill>
              <a:latin typeface="宋体" charset="0"/>
              <a:ea typeface="宋体" charset="0"/>
              <a:cs typeface="Arial Unicode MS" panose="020B0604020202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2805" y="2454275"/>
            <a:ext cx="5834380" cy="76200"/>
          </a:xfrm>
          <a:prstGeom prst="rect">
            <a:avLst/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9160" y="3429000"/>
            <a:ext cx="2528570" cy="676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6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2026年10月9日</a:t>
            </a:r>
            <a:endParaRPr sz="1600" b="0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研究问题与研究路线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02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287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核心问题</a:t>
            </a:r>
            <a:endParaRPr sz="15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9716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8669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股票市场是否存在因子动量</a:t>
            </a:r>
            <a:endParaRPr sz="165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23900" y="24860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3812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因子动量能否解释股票动量 UMD</a:t>
            </a:r>
            <a:endParaRPr sz="165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" y="30003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895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原文结论在中国市场是否成立</a:t>
            </a:r>
            <a:endParaRPr sz="165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4287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实证路径</a:t>
            </a:r>
            <a:endParaRPr sz="15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381750" y="1952625"/>
            <a:ext cx="1381125" cy="590550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57950" y="2028825"/>
            <a:ext cx="12287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因子库</a:t>
            </a:r>
            <a:endParaRPr sz="135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39100" y="1952625"/>
            <a:ext cx="1381125" cy="590550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15300" y="2028825"/>
            <a:ext cx="12287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因子收益</a:t>
            </a:r>
            <a:endParaRPr sz="135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696450" y="1952625"/>
            <a:ext cx="1381125" cy="590550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72650" y="2028825"/>
            <a:ext cx="12287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</a:t>
            </a:r>
            <a:endParaRPr sz="135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381750" y="3019425"/>
            <a:ext cx="1381125" cy="590550"/>
          </a:xfrm>
          <a:prstGeom prst="roundRect">
            <a:avLst>
              <a:gd name="adj" fmla="val 12903"/>
            </a:avLst>
          </a:prstGeom>
          <a:solidFill>
            <a:srgbClr val="EAF5F2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3095625"/>
            <a:ext cx="12287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UMD比较</a:t>
            </a:r>
            <a:endParaRPr sz="13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039100" y="3019425"/>
            <a:ext cx="1381125" cy="590550"/>
          </a:xfrm>
          <a:prstGeom prst="roundRect">
            <a:avLst>
              <a:gd name="adj" fmla="val 12903"/>
            </a:avLst>
          </a:prstGeom>
          <a:solidFill>
            <a:srgbClr val="EAF5F2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115300" y="3095625"/>
            <a:ext cx="12287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708"/>
          </a:bodyPr>
          <a:lstStyle>
            <a:def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Spanning检验</a:t>
            </a:r>
            <a:endParaRPr sz="13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本阶段工作重点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03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28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工作重点</a:t>
            </a:r>
            <a:endParaRPr sz="15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9907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8859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建立理论依据明确的日频因子库</a:t>
            </a:r>
            <a:endParaRPr sz="165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23900" y="25241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4193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同时覆盖原文因子与天软动量相关字段</a:t>
            </a:r>
            <a:endParaRPr sz="165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" y="30575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952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65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先完成数据审计，再开展正式回测</a:t>
            </a:r>
            <a:endParaRPr sz="165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1428750"/>
            <a:ext cx="9525" cy="4095750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72250" y="1428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选择原则</a:t>
            </a:r>
            <a:endParaRPr sz="150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1952625"/>
            <a:ext cx="1476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>
            <a:defPPr>
              <a:def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理论优先</a:t>
            </a:r>
            <a:endParaRPr sz="1425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96250" y="191452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原文与经典资产定价因子优先</a:t>
            </a:r>
            <a:endParaRPr sz="1275" b="0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72250" y="2533650"/>
            <a:ext cx="46672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572250" y="2790825"/>
            <a:ext cx="1476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>
            <a:defPPr>
              <a:def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数据合格</a:t>
            </a:r>
            <a:endParaRPr sz="1425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96250" y="275272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覆盖稳定，口径一致，避免未来信息</a:t>
            </a:r>
            <a:endParaRPr sz="1275" b="0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72250" y="3371850"/>
            <a:ext cx="46672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72250" y="3629025"/>
            <a:ext cx="1476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>
            <a:defPPr>
              <a:def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42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去除重复</a:t>
            </a:r>
            <a:endParaRPr sz="1425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96250" y="359092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75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同类期限指标保留代表性定义</a:t>
            </a:r>
            <a:endParaRPr sz="1275" b="0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因子库整体结构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04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66750" y="209550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266950"/>
            <a:ext cx="19907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68"/>
          </a:bodyPr>
          <a:lstStyle>
            <a:defPPr>
              <a:defRPr sz="285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85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85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2,444</a:t>
            </a:r>
            <a:endParaRPr sz="285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857500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天软全量因子目录</a:t>
            </a:r>
            <a:endParaRPr sz="1350" b="1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048000" y="2781300"/>
            <a:ext cx="381000" cy="19050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171825" y="2571750"/>
            <a:ext cx="2476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337"/>
          </a:bodyPr>
          <a:lstStyle>
            <a:defPPr>
              <a:def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›</a:t>
            </a:r>
            <a:endParaRPr sz="2100" b="1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524250" y="209550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EAF5F2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695700" y="2266950"/>
            <a:ext cx="19907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68"/>
          </a:bodyPr>
          <a:lstStyle>
            <a:defPPr>
              <a:defRPr sz="28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8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8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411</a:t>
            </a:r>
            <a:endParaRPr sz="28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95700" y="2857500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日频候选源字段</a:t>
            </a:r>
            <a:endParaRPr sz="1350" b="1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0" y="2781300"/>
            <a:ext cx="381000" cy="19050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29325" y="2571750"/>
            <a:ext cx="2476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337"/>
          </a:bodyPr>
          <a:lstStyle>
            <a:defPPr>
              <a:def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›</a:t>
            </a:r>
            <a:endParaRPr sz="2100" b="1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381750" y="209550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FBF2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553200" y="2266950"/>
            <a:ext cx="19907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68"/>
          </a:bodyPr>
          <a:lstStyle>
            <a:defPPr>
              <a:defRPr sz="2850" b="1">
                <a:solidFill>
                  <a:srgbClr val="D98B3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850" b="1">
                <a:solidFill>
                  <a:srgbClr val="D98B3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850" b="1">
                <a:solidFill>
                  <a:srgbClr val="D98B3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74</a:t>
            </a:r>
            <a:endParaRPr sz="2850" b="1">
              <a:solidFill>
                <a:srgbClr val="D98B3A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53200" y="2857500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第一版研究因子</a:t>
            </a:r>
            <a:endParaRPr sz="1350" b="1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0" y="2781300"/>
            <a:ext cx="381000" cy="19050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886825" y="2571750"/>
            <a:ext cx="2476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337"/>
          </a:bodyPr>
          <a:lstStyle>
            <a:defPPr>
              <a:def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100" b="1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›</a:t>
            </a:r>
            <a:endParaRPr sz="2100" b="1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239250" y="209550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F9EBEB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410700" y="2266950"/>
            <a:ext cx="19907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68"/>
          </a:bodyPr>
          <a:lstStyle>
            <a:defPPr>
              <a:defRPr sz="2850" b="1">
                <a:solidFill>
                  <a:srgbClr val="B8525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850" b="1">
                <a:solidFill>
                  <a:srgbClr val="B8525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850" b="1">
                <a:solidFill>
                  <a:srgbClr val="B8525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待确定</a:t>
            </a:r>
            <a:endParaRPr sz="2850" b="1">
              <a:solidFill>
                <a:srgbClr val="B8525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410700" y="2857500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最终论文因子集</a:t>
            </a:r>
            <a:endParaRPr sz="1350" b="1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4400" y="4095750"/>
            <a:ext cx="103632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7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7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75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411个字段用于构造、替换和扩充研究因子</a:t>
            </a:r>
            <a:endParaRPr sz="1575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第一版74因子库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05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85900"/>
            <a:ext cx="31432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619250"/>
            <a:ext cx="3143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55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55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55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47</a:t>
            </a:r>
            <a:endParaRPr sz="255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1145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原文 Table A.II 理论因子</a:t>
            </a:r>
            <a:endParaRPr sz="1200" b="0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86250" y="1485900"/>
            <a:ext cx="31432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86250" y="1619250"/>
            <a:ext cx="3143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5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5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5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27</a:t>
            </a:r>
            <a:endParaRPr sz="25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286250" y="21145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天软官方动量候选</a:t>
            </a:r>
            <a:endParaRPr sz="1200" b="0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86700" y="1485900"/>
            <a:ext cx="31432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86700" y="1619250"/>
            <a:ext cx="3143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550" b="1">
                <a:solidFill>
                  <a:srgbClr val="D98B3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550" b="1">
                <a:solidFill>
                  <a:srgbClr val="D98B3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550" b="1">
                <a:solidFill>
                  <a:srgbClr val="D98B3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74</a:t>
            </a:r>
            <a:endParaRPr sz="2550" b="1">
              <a:solidFill>
                <a:srgbClr val="D98B3A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86700" y="21145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0">
                <a:solidFill>
                  <a:srgbClr val="5C687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第一版研究因子合计</a:t>
            </a:r>
            <a:endParaRPr sz="1200" b="0">
              <a:solidFill>
                <a:srgbClr val="5C687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2857500"/>
          <a:ext cx="10344150" cy="2781303"/>
        </p:xfrm>
        <a:graphic>
          <a:graphicData uri="http://schemas.openxmlformats.org/drawingml/2006/table">
            <a:tbl>
              <a:tblPr/>
              <a:tblGrid>
                <a:gridCol w="2571750"/>
                <a:gridCol w="1238250"/>
                <a:gridCol w="6534150"/>
              </a:tblGrid>
              <a:tr h="397329"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/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已形成统一月末数值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天软字段可用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需进一步去重和历史审计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待公式构造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已有输入字段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代理指标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与原文定义存在差异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覆盖有限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股份回购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暂不可得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现金流久期、卖空比例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当前问题与下一步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08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28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1">
                <a:solidFill>
                  <a:srgbClr val="B8525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1">
                <a:solidFill>
                  <a:srgbClr val="B8525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1">
                <a:solidFill>
                  <a:srgbClr val="B8525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当前问题</a:t>
            </a:r>
            <a:endParaRPr sz="1500" b="1">
              <a:solidFill>
                <a:srgbClr val="B8525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0097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90500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部分原文因子需要多个字段联合构造</a:t>
            </a:r>
            <a:endParaRPr sz="150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23900" y="26003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49555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5个因子暂时使用代理指标</a:t>
            </a:r>
            <a:endParaRPr sz="150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" y="3190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308610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现金流久期和卖空比例暂缺</a:t>
            </a:r>
            <a:endParaRPr sz="150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23900" y="37814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67665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不同期限动量指标存在较强重复性</a:t>
            </a:r>
            <a:endParaRPr sz="1500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48375" y="1428750"/>
            <a:ext cx="9525" cy="414337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72250" y="1428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50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50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50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下一步</a:t>
            </a:r>
            <a:endParaRPr sz="150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72250" y="192405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01</a:t>
            </a:r>
            <a:endParaRPr sz="13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162800" y="1866900"/>
            <a:ext cx="4038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完成核心层及扩展层历史数据</a:t>
            </a:r>
            <a:endParaRPr sz="1425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72250" y="2400300"/>
            <a:ext cx="46291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572250" y="260985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02</a:t>
            </a:r>
            <a:endParaRPr sz="13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162800" y="2552700"/>
            <a:ext cx="4038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统一日频格式并审计未来信息</a:t>
            </a:r>
            <a:endParaRPr sz="1425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72250" y="3086100"/>
            <a:ext cx="46291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329565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03</a:t>
            </a:r>
            <a:endParaRPr sz="13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62800" y="3238500"/>
            <a:ext cx="4038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建立411字段与74因子的映射</a:t>
            </a:r>
            <a:endParaRPr sz="1425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72250" y="3771900"/>
            <a:ext cx="46291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572250" y="398145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04</a:t>
            </a:r>
            <a:endParaRPr sz="13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162800" y="3924300"/>
            <a:ext cx="4038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425" b="0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按理论和相关性确定正式因子集</a:t>
            </a:r>
            <a:endParaRPr sz="1425" b="0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72250" y="4457700"/>
            <a:ext cx="462915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572250" y="466725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2C8C8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05</a:t>
            </a:r>
            <a:endParaRPr sz="1350" b="1">
              <a:solidFill>
                <a:srgbClr val="2C8C8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62800" y="4610100"/>
            <a:ext cx="4038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425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425" b="1">
                <a:solidFill>
                  <a:srgbClr val="1F293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重跑因子动量与UMD检验</a:t>
            </a:r>
            <a:endParaRPr sz="1425" b="1">
              <a:solidFill>
                <a:srgbClr val="1F293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原文47个理论因子（1—12）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09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P01—P06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49580" y="1571625"/>
          <a:ext cx="5370195" cy="3905250"/>
        </p:xfrm>
        <a:graphic>
          <a:graphicData uri="http://schemas.openxmlformats.org/drawingml/2006/table">
            <a:tbl>
              <a:tblPr/>
              <a:tblGrid>
                <a:gridCol w="693420"/>
                <a:gridCol w="2381250"/>
                <a:gridCol w="1343025"/>
                <a:gridCol w="952500"/>
              </a:tblGrid>
              <a:tr h="557893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Gross profitability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Cash flow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现金流久期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暂缺</a:t>
                      </a:r>
                    </a:p>
                  </a:txBody>
                  <a:tcPr>
                    <a:solidFill>
                      <a:srgbClr val="F9EBEB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Value-Profitability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价值与质量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Piotroski F-score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财务质量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6276975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P07—P12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130925" y="1571625"/>
          <a:ext cx="5419725" cy="4069715"/>
        </p:xfrm>
        <a:graphic>
          <a:graphicData uri="http://schemas.openxmlformats.org/drawingml/2006/table">
            <a:tbl>
              <a:tblPr/>
              <a:tblGrid>
                <a:gridCol w="742950"/>
                <a:gridCol w="2381250"/>
                <a:gridCol w="1343025"/>
                <a:gridCol w="952500"/>
              </a:tblGrid>
              <a:tr h="557893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Debt issuance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融资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 repurchases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融资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覆盖有限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 issuance, 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融资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Accruals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Asset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Asset turnover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经营效率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原文47个理论因子（13—24）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10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P13—P18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97205" y="1571625"/>
          <a:ext cx="5322570" cy="4069715"/>
        </p:xfrm>
        <a:graphic>
          <a:graphicData uri="http://schemas.openxmlformats.org/drawingml/2006/table">
            <a:tbl>
              <a:tblPr/>
              <a:tblGrid>
                <a:gridCol w="645795"/>
                <a:gridCol w="2381250"/>
                <a:gridCol w="1343025"/>
                <a:gridCol w="952500"/>
              </a:tblGrid>
              <a:tr h="557893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Gross margins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Dividend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收益与价值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Earnings/Price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Cash flow/Market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 operating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待构造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6276975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P19—P24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228715" y="1571625"/>
          <a:ext cx="5334635" cy="3987800"/>
        </p:xfrm>
        <a:graphic>
          <a:graphicData uri="http://schemas.openxmlformats.org/drawingml/2006/table">
            <a:tbl>
              <a:tblPr/>
              <a:tblGrid>
                <a:gridCol w="657860"/>
                <a:gridCol w="2381250"/>
                <a:gridCol w="1343025"/>
                <a:gridCol w="952500"/>
              </a:tblGrid>
              <a:tr h="557893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Investment-to-capital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成长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财务风险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 on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 on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原文47个理论因子（25—36）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11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P25—P30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97840" y="1571625"/>
          <a:ext cx="5321935" cy="3987165"/>
        </p:xfrm>
        <a:graphic>
          <a:graphicData uri="http://schemas.openxmlformats.org/drawingml/2006/table">
            <a:tbl>
              <a:tblPr/>
              <a:tblGrid>
                <a:gridCol w="645160"/>
                <a:gridCol w="2381250"/>
                <a:gridCol w="1343025"/>
                <a:gridCol w="952500"/>
              </a:tblGrid>
              <a:tr h="557893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Sales-to-Price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in LTNOA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投资与应计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Dividend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Abnormal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待构造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Short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卖空约束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暂缺</a:t>
                      </a:r>
                    </a:p>
                  </a:txBody>
                  <a:tcPr>
                    <a:solidFill>
                      <a:srgbClr val="F9EBEB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Long-term reversals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长期反转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待构造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6276975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P31—P36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167120" y="1571625"/>
          <a:ext cx="5371465" cy="4152265"/>
        </p:xfrm>
        <a:graphic>
          <a:graphicData uri="http://schemas.openxmlformats.org/drawingml/2006/table">
            <a:tbl>
              <a:tblPr/>
              <a:tblGrid>
                <a:gridCol w="694690"/>
                <a:gridCol w="2381250"/>
                <a:gridCol w="1343025"/>
                <a:gridCol w="952500"/>
              </a:tblGrid>
              <a:tr h="557893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 issuance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融资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PEAD (SUE)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盈余公告后漂移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代理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 on book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代理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 on market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价值与盈利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代理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 on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代理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原文47个理论因子（37—47）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12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P37—P42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00050" y="1571625"/>
          <a:ext cx="5419725" cy="4234180"/>
        </p:xfrm>
        <a:graphic>
          <a:graphicData uri="http://schemas.openxmlformats.org/drawingml/2006/table">
            <a:tbl>
              <a:tblPr/>
              <a:tblGrid>
                <a:gridCol w="742950"/>
                <a:gridCol w="2381250"/>
                <a:gridCol w="1343025"/>
                <a:gridCol w="952500"/>
              </a:tblGrid>
              <a:tr h="557893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Short-term reversals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短期反转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Idiosyncratic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低风险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Beta arbitrage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低风险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Seasonality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季节性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待构造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Industry relative reversals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行业调整反转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待构造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P42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Industry relative reversals (low vol.)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行业调整反转与低风险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待构造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6276975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P43—P47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228715" y="1571625"/>
          <a:ext cx="5334635" cy="3905250"/>
        </p:xfrm>
        <a:graphic>
          <a:graphicData uri="http://schemas.openxmlformats.org/drawingml/2006/table">
            <a:tbl>
              <a:tblPr/>
              <a:tblGrid>
                <a:gridCol w="657860"/>
                <a:gridCol w="2381250"/>
                <a:gridCol w="1343025"/>
                <a:gridCol w="952500"/>
              </a:tblGrid>
              <a:tr h="650875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P43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Composite issuance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综合融资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待构造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P44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价格水平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待构造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P45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Firm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生命周期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P46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交易活跃度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代理</a:t>
                      </a:r>
                    </a:p>
                  </a:txBody>
                  <a:tcPr>
                    <a:solidFill>
                      <a:srgbClr val="FBF2E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P47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Initial public offering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新股效应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已实现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天软官方动量因子（1—14）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13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TR9803001—TR9803007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36245" y="1571625"/>
          <a:ext cx="5383530" cy="4057650"/>
        </p:xfrm>
        <a:graphic>
          <a:graphicData uri="http://schemas.openxmlformats.org/drawingml/2006/table">
            <a:tbl>
              <a:tblPr/>
              <a:tblGrid>
                <a:gridCol w="706755"/>
                <a:gridCol w="2381250"/>
                <a:gridCol w="1343025"/>
                <a:gridCol w="952500"/>
              </a:tblGrid>
              <a:tr h="488156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短期反转/极短期收益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6276975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TR9803008—TR9803014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240780" y="1571625"/>
          <a:ext cx="5322570" cy="3905250"/>
        </p:xfrm>
        <a:graphic>
          <a:graphicData uri="http://schemas.openxmlformats.org/drawingml/2006/table">
            <a:tbl>
              <a:tblPr/>
              <a:tblGrid>
                <a:gridCol w="645795"/>
                <a:gridCol w="2381250"/>
                <a:gridCol w="1343025"/>
                <a:gridCol w="952500"/>
              </a:tblGrid>
              <a:tr h="488156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1年涨幅(%)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2年涨幅(%)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长期反转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3年涨幅(%)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长期反转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4年涨幅(%)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长期反转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5年涨幅(%)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长期反转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810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2400" b="1">
                <a:solidFill>
                  <a:srgbClr val="18315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天软官方动量因子（15—27）</a:t>
            </a:r>
            <a:endParaRPr sz="2400" b="1">
              <a:solidFill>
                <a:srgbClr val="18315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43000"/>
            <a:ext cx="10972800" cy="9525"/>
          </a:xfrm>
          <a:prstGeom prst="rect">
            <a:avLst/>
          </a:prstGeom>
          <a:solidFill>
            <a:srgbClr val="D8E0E7"/>
          </a:solidFill>
          <a:ln w="9525">
            <a:solidFill>
              <a:srgbClr val="D8E0E7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因子动量研究｜周进展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>
            <a:def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825" b="0">
                <a:solidFill>
                  <a:srgbClr val="89939D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14</a:t>
            </a:r>
            <a:endParaRPr sz="825" b="0">
              <a:solidFill>
                <a:srgbClr val="89939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TR9803015—TR9803031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00685" y="1571625"/>
          <a:ext cx="5419090" cy="4816475"/>
        </p:xfrm>
        <a:graphic>
          <a:graphicData uri="http://schemas.openxmlformats.org/drawingml/2006/table">
            <a:tbl>
              <a:tblPr/>
              <a:tblGrid>
                <a:gridCol w="742315"/>
                <a:gridCol w="2381250"/>
                <a:gridCol w="1343025"/>
                <a:gridCol w="952500"/>
              </a:tblGrid>
              <a:tr h="488156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10年涨幅(%)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长期反转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本年涨幅(%)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日历区间收益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本月涨幅(%)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日历区间收益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本季涨幅(%)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日历区间收益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上市以来涨幅(%)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长期累计收益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最大涨幅_过去20日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收益分布极值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最小涨幅_过去20日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收益分布极值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6276975" y="123825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>
            <a:def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defPPr>
          </a:lstStyle>
          <a:p>
            <a:pPr>
              <a:def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2D6FA3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TR9803020—TR9803025</a:t>
            </a:r>
            <a:endParaRPr sz="1200" b="1">
              <a:solidFill>
                <a:srgbClr val="2D6FA3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298565" y="1547495"/>
          <a:ext cx="5371465" cy="4328160"/>
        </p:xfrm>
        <a:graphic>
          <a:graphicData uri="http://schemas.openxmlformats.org/drawingml/2006/table">
            <a:tbl>
              <a:tblPr/>
              <a:tblGrid>
                <a:gridCol w="694690"/>
                <a:gridCol w="2381250"/>
                <a:gridCol w="1343025"/>
                <a:gridCol w="952500"/>
              </a:tblGrid>
              <a:tr h="652145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因子名称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长期动量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中期动量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月度CAPM特质收益率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特质/残差动量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季度CAPM特质收益率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特质/残差动量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半年度CAPM特质收益率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特质/残差动量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年度CAPM特质收益率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特质/残差动量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可用</a:t>
                      </a:r>
                    </a:p>
                  </a:txBody>
                  <a:tcPr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2689</Words>
  <Application>WPS 文字</Application>
  <PresentationFormat>Converted Presentation</PresentationFormat>
  <Paragraphs>932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 Unicode MS</vt:lpstr>
      <vt:lpstr>微软雅黑</vt:lpstr>
      <vt:lpstr>汉仪旗黑</vt:lpstr>
      <vt:lpstr>宋体</vt:lpstr>
      <vt:lpstr>汉仪书宋二KW</vt:lpstr>
      <vt:lpstr>Aptos</vt:lpstr>
      <vt:lpstr>苹方-简</vt:lpstr>
      <vt:lpstr>Calibri</vt:lpstr>
      <vt:lpstr>Helvetica Neue</vt:lpstr>
      <vt:lpstr>Apple SD Gothic Neo Regular</vt:lpstr>
      <vt:lpstr>Arial Hebrew Regular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Azami</cp:lastModifiedBy>
  <cp:revision>3</cp:revision>
  <dcterms:created xsi:type="dcterms:W3CDTF">2026-10-09T12:00:50Z</dcterms:created>
  <dcterms:modified xsi:type="dcterms:W3CDTF">2026-10-09T12:00:50Z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497298CA8EC1FE8A05D0C86AB0B38DB1_42</vt:lpwstr>
  </property>
  <property fmtid="{D5CDD505-2E9C-101B-9397-08002B2CF9AE}" pid="3" name="KSOProductBuildVer">
    <vt:lpwstr>2052-6.10.1.8873</vt:lpwstr>
  </property>
</Properties>
</file>