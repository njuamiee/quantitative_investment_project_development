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0" r:id="rId4"/>
    <p:sldId id="261" r:id="rId5"/>
    <p:sldId id="264" r:id="rId6"/>
    <p:sldId id="265" r:id="rId7"/>
    <p:sldId id="266" r:id="rId8"/>
    <p:sldId id="268" r:id="rId9"/>
    <p:sldId id="272" r:id="rId10"/>
    <p:sldId id="273" r:id="rId11"/>
    <p:sldId id="274" r:id="rId12"/>
    <p:sldId id="281" r:id="rId13"/>
    <p:sldId id="286" r:id="rId14"/>
    <p:sldId id="288" r:id="rId15"/>
    <p:sldId id="291" r:id="rId16"/>
    <p:sldId id="296" r:id="rId17"/>
    <p:sldId id="297" r:id="rId18"/>
    <p:sldId id="298" r:id="rId19"/>
    <p:sldId id="307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84" autoAdjust="0"/>
    <p:restoredTop sz="81122" autoAdjust="0"/>
  </p:normalViewPr>
  <p:slideViewPr>
    <p:cSldViewPr snapToGrid="0">
      <p:cViewPr>
        <p:scale>
          <a:sx n="150" d="100"/>
          <a:sy n="150" d="100"/>
        </p:scale>
        <p:origin x="408" y="-54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主报告建议25至35分钟。详细公式、中文伪代码和老师问题逐项回应放在附录。所有收益是历史模拟。主流程、事后候选和新计算的诊断分别说明。</a:t>
            </a:r>
          </a:p>
          <a:p>
            <a:endParaRPr/>
          </a:p>
          <a:p>
            <a:r>
              <a:t>来源与计算口径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先说明进步和失败。后续搜索的赢家不能说成原计划一次测试成功。本报告夏普主口径扣除年化1.5%无风险收益，另有注明的无风险0对照。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C:\Users\Amiee\Downloads\量化工作文件\training_runs\research_20261011\validation_selected_summary.csv</a:t>
            </a:r>
          </a:p>
          <a:p>
            <a:r>
              <a:t>C:\Users\Amiee\Downloads\量化工作文件\training_runs\research_20261011\candidate_summary.csv</a:t>
            </a:r>
          </a:p>
          <a:p>
            <a:r>
              <a:t>C:\Users\Amiee\Downloads\量化工作文件\training_runs\research_20261011\h5\candidate_subperiods.json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当天信息用于当天输入，结束价格出现后才补答案。逐交易日清单详见16号文档。最初内部训练在验证起点之前完成，首次正式输出之前经历内部选型。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C:\Users\Amiee\Downloads\量化工作文件\学习笔记\20261015_真实日期逐步解释\16_从第一天到最后一天逐日动作.md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批量读取不决定是否泄漏，关键是筛选、拟合和预测到底接收哪些时间的数据。季度边界重训先于本季度评分。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C:\Users\Amiee\Downloads\量化工作文件\tools\research_20261011\train_models.py</a:t>
            </a:r>
          </a:p>
          <a:p>
            <a:r>
              <a:t>C:\Users\Amiee\Downloads\量化工作文件\tools\research_20261011\ledger.py</a:t>
            </a:r>
          </a:p>
          <a:p>
            <a:r>
              <a:t>C:\Users\Amiee\Downloads\量化工作文件\tools\research_20261011\prepare_data.py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先确定模型使用日期，再定义未来。筛因子也执行同样边界。这里验证日期规则，不代表因子发布时间、修订或开盘可交易性已经全面核验。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C:\Users\Amiee\Downloads\量化工作文件\tools\research_20261011\train_models.py</a:t>
            </a:r>
          </a:p>
          <a:p>
            <a:r>
              <a:t>C:\Users\Amiee\Downloads\量化工作文件\学习笔记\20261015_真实日期逐步解释\核实结果.json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504是候选历史交易日窗，删除跨界与缺答案后剩499个输入日期。内部训练49,884行。内部验证用于选型，不是独立新考试。历史已被多轮查看，应称回顾性历史测试。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C:\Users\Amiee\Downloads\量化工作文件\tools\research_20261011\train_models.py</a:t>
            </a:r>
          </a:p>
          <a:p>
            <a:r>
              <a:t>C:\Users\Amiee\Downloads\量化工作文件\学习笔记\20261015_真实日期逐步解释\08_20260401训练和内部考试完整边界.csv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缺额填0，滚动窗口须满20天。并列用稳定原始股票顺序。60天是样本内有效历史，非官方上市年龄。流动性筛选有利容量，但不保证次日开盘可以成交。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C:\Users\Amiee\Downloads\量化工作文件\tools\research_20260930\prepare.py</a:t>
            </a:r>
          </a:p>
          <a:p>
            <a:r>
              <a:t>C:\Users\Amiee\Downloads\量化工作文件\学习笔记\20261015_真实日期逐步解释\核实结果.json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x_llm列来自本地提案，不代表LLM已发现有效因子。供应商文件历史有值不保证当时已经发布或没有修订。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C:\Users\Amiee\Downloads\量化工作文件\tools\research_20261011\prepare_data.py</a:t>
            </a:r>
          </a:p>
          <a:p>
            <a:r>
              <a:t>C:\Users\Amiee\Downloads\量化工作文件\training_runs\research_20261011\factor_catalog.csv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IC不是收益百分比、胜率或因果关系。只做多时可以优先买低因子股票，负相关不要求卖空。树模型可学条件关系，不强制全部区间单调。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C:\Users\Amiee\Downloads\量化工作文件\tools\research_20261011\train_models.py</a:t>
            </a:r>
          </a:p>
          <a:p>
            <a:r>
              <a:t>C:\Users\Amiee\Downloads\量化工作文件\学习笔记\20261015_真实日期逐步解释\核实结果.json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同分按列名。去重用训练面板填0后列间Pearson相关绝对值，不是每日Spearman平均。现有筛选IC缺失集合有口径问题，附录说明，原结果未修改。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C:\Users\Amiee\Downloads\量化工作文件\tools\research_20261011\train_models.py</a:t>
            </a:r>
          </a:p>
          <a:p>
            <a:r>
              <a:t>C:\Users\Amiee\Downloads\量化工作文件\学习笔记\20261015_真实日期逐步解释\18_筛选与训练的完整中文伪代码.md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旧40列版本用另一去重规则和0.85阈值。不能把旧版剔除063决定套到新版本。本次先保留更高绝对IC者，是按顺序的筛选，非全局最优组合。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C:\Users\Amiee\Downloads\量化工作文件\tools\research_20261011\train_models.py</a:t>
            </a:r>
          </a:p>
          <a:p>
            <a:r>
              <a:t>C:\Users\Amiee\Downloads\量化工作文件\学习笔记\20261015_真实日期逐步解释\02_2026Q2五天模型全部因子筛选过程.csv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区分信号预测1日还是20日，以及关系在下个月是否延续。主项目季度模型没有自动逐因子衰减机制，补充月度短窗实验只检验一个改进方向。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C:\Users\Amiee\Downloads\量化工作文件\tools\research_20261011\train_models.py</a:t>
            </a:r>
          </a:p>
          <a:p>
            <a:r>
              <a:t>C:\Users\Amiee\Downloads\量化工作文件\tools\research_20261011\short_windows.py</a:t>
            </a:r>
          </a:p>
          <a:p>
            <a:r>
              <a:t>C:\Users\Amiee\Downloads\量化工作文件\tools\research_20261011\regimes.py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每季度先按IC挑3种方法，再比较90个账户。流程没有全部不达标就拒绝交易的硬门槛。历史已查看，不能称无污染测试。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C:\Users\Amiee\Downloads\量化工作文件\training_runs\research_20261011\validation_selected_summary.csv</a:t>
            </a:r>
          </a:p>
          <a:p>
            <a:r>
              <a:t>C:\Users\Amiee\Downloads\量化工作文件\tools\research_20261011\PROTOCOL.md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全区间累计25.5952%，年化12.0605%，夏普1.4612，卡玛2.2968。前一年盈利掩盖后一年的亏损。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C:\Users\Amiee\Downloads\量化工作文件\training_runs\research_20261011\h5\candidate_subperiods.json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487天、5bp、相同组合与top20。HMM每月拟合504天，市场平均收益、波动、趋势、流动性和分散度为输入。只用前向过滤，没有用未来观测反推过去状态。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C:\Users\Amiee\Downloads\量化工作文件\training_runs\research_20261011\h5\fixed_comparisons.csv</a:t>
            </a:r>
          </a:p>
          <a:p>
            <a:r>
              <a:t>C:\Users\Amiee\Downloads\量化工作文件\tools\research_20261011\regimes.py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答辩备用页</a:t>
            </a:r>
          </a:p>
          <a:p>
            <a:r>
              <a:t>这是信息顺序伪代码，不是原程序逐行复制。原程序按季度批量拟合和推理，季度边界模型在当季评分前拟合。每日数据变化与季度参数更新是两件事。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C:\Users\Amiee\Downloads\量化工作文件\tools\research_20261011\train_models.py</a:t>
            </a:r>
          </a:p>
          <a:p>
            <a:r>
              <a:t>C:\Users\Amiee\Downloads\量化工作文件\tools\research_20261011\prepare_data.py</a:t>
            </a:r>
          </a:p>
          <a:p>
            <a:r>
              <a:t>C:\Users\Amiee\Downloads\量化工作文件\学习笔记\20261015_真实日期逐步解释\16_从第一天到最后一天逐日动作.md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答辩备用页</a:t>
            </a:r>
          </a:p>
          <a:p>
            <a:r>
              <a:t>无缺失时对应秩相关。缺失时各列集合不同，不能说严格标准Spearman。正确口径应先取共同有效股票，再在该集合内重排。原结果保留。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C:\Users\Amiee\Downloads\量化工作文件\tools\research_20261011\train_models.py</a:t>
            </a:r>
          </a:p>
          <a:p>
            <a:r>
              <a:t>C:\Users\Amiee\Downloads\量化工作文件\学习笔记\20261015_真实日期逐步解释\18_筛选与训练的完整中文伪代码.md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答辩备用页</a:t>
            </a:r>
          </a:p>
          <a:p>
            <a:r>
              <a:t>按顺序贪心筛选非穷举最优组合。因子更少不自动更好，更多不自动更好，必须在验证中检查。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C:\Users\Amiee\Downloads\量化工作文件\tools\research_20261011\train_models.py</a:t>
            </a:r>
          </a:p>
          <a:p>
            <a:r>
              <a:t>C:\Users\Amiee\Downloads\量化工作文件\学习笔记\20261015_真实日期逐步解释\18_筛选与训练的完整中文伪代码.md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答辩备用页</a:t>
            </a:r>
          </a:p>
          <a:p>
            <a:r>
              <a:t>不包括另行拟合的内部验证模型。Q4只有10月8、9日数据，答案未成熟，不能报这些预测准确率。06号CSV含全部五个期限45组。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C:\Users\Amiee\Downloads\量化工作文件\学习笔记\20261015_真实日期逐步解释\06_所有季度所有期限训练时间表.csv</a:t>
            </a:r>
          </a:p>
          <a:p>
            <a:r>
              <a:t>C:\Users\Amiee\Downloads\量化工作文件\学习笔记\20261015_真实日期逐步解释\核实结果.json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9F0727C-5755-4F91-A5CC-F902EBE8B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514EF36-52E1-406A-9169-11294E69CC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F9CF289-2C8A-49DA-A39F-B5A7CC7B0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FADAAFF-F2E7-4C57-B74B-B9FB5947E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96AF635-15B7-4120-BF06-7D2438D2B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A6BD6EE-18FF-437E-97B4-6AA69F536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15670FF-E88C-4538-BBB0-AE64562CA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40FDE2CC-3AA4-4A81-8A91-515FC6BAF95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AC44B13-0667-42FD-9509-EAD885EDB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C6DDF67-D71D-4F3C-8AC2-7F542D0D4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774895F-ABC9-4591-8C58-89C05CF93183}"/>
              </a:ext>
            </a:extLst>
          </p:cNvPr>
          <p:cNvSpPr>
            <a:spLocks noGrp="1"/>
          </p:cNvSpPr>
          <p:nvPr/>
        </p:nvSpPr>
        <p:spPr>
          <a:xfrm>
            <a:off x="571500" y="1571625"/>
            <a:ext cx="110490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4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量化选股项目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C96456-DEB4-46AB-A6C1-DA778E2967B0}"/>
              </a:ext>
            </a:extLst>
          </p:cNvPr>
          <p:cNvSpPr>
            <a:spLocks noGrp="1"/>
          </p:cNvSpPr>
          <p:nvPr/>
        </p:nvSpPr>
        <p:spPr>
          <a:xfrm>
            <a:off x="571500" y="2714625"/>
            <a:ext cx="1104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因子筛选、模型训练与新项目结果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64D54B-3685-4E88-ADE9-52E281343479}"/>
              </a:ext>
            </a:extLst>
          </p:cNvPr>
          <p:cNvSpPr>
            <a:spLocks noGrp="1"/>
          </p:cNvSpPr>
          <p:nvPr/>
        </p:nvSpPr>
        <p:spPr>
          <a:xfrm>
            <a:off x="571500" y="4286250"/>
            <a:ext cx="110490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组会汇报  2026年10月16日</a:t>
            </a:r>
          </a:p>
          <a:p>
            <a: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数据截至2026年10月9日</a:t>
            </a:r>
          </a:p>
        </p:txBody>
      </p:sp>
    </p:spTree>
    <p:extLst>
      <p:ext uri="{BB962C8B-B14F-4D97-AF65-F5344CB8AC3E}">
        <p14:creationId xmlns:p14="http://schemas.microsoft.com/office/powerpoint/2010/main" val="8384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FF8C036-D8CE-4DCD-BFFA-1CE6F8BF56EE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当前结果与结论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2EAB1F-D6F5-48E3-A6D3-7D4C34F82F3A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7894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已实现：每日更新股票池，预测1、2、5、10、20个交易日的相对表现，每季度重新筛因子和训练模型。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A13B5C-0213-41B3-8B63-2ECAC38428CA}"/>
              </a:ext>
            </a:extLst>
          </p:cNvPr>
          <p:cNvSpPr>
            <a:spLocks noGrp="1"/>
          </p:cNvSpPr>
          <p:nvPr/>
        </p:nvSpPr>
        <p:spPr>
          <a:xfrm>
            <a:off x="571500" y="2303907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主流程按此前验证期选策略。五个期限的连续账户均未同时达到夏普大于1、卡玛大于2。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33A269-A909-49C8-A22C-A3375F43A9F8}"/>
              </a:ext>
            </a:extLst>
          </p:cNvPr>
          <p:cNvSpPr>
            <a:spLocks noGrp="1"/>
          </p:cNvSpPr>
          <p:nvPr/>
        </p:nvSpPr>
        <p:spPr>
          <a:xfrm>
            <a:off x="571500" y="2865882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后续历史搜索找到了全区间达标候选，但五天候选最近一年收益为−1.90%。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8BA721-61D3-44F0-8D93-F7473C35F2CE}"/>
              </a:ext>
            </a:extLst>
          </p:cNvPr>
          <p:cNvSpPr>
            <a:spLocks noGrp="1"/>
          </p:cNvSpPr>
          <p:nvPr/>
        </p:nvSpPr>
        <p:spPr>
          <a:xfrm>
            <a:off x="571500" y="3427857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项目已有可核对的训练、评分和资金记录，稳定达标与严格的历史可得数据核验仍未完成</a:t>
            </a:r>
            <a:r>
              <a:rPr sz="21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397A13-0F77-4F2F-991A-A2CE52464DA6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BB27079-9108-4BB6-B2DF-46DFFFDFF177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数据第一天到首次预测，分别做什么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40E2192-B472-453B-8439-5926F3E89A6A}"/>
              </a:ext>
            </a:extLst>
          </p:cNvPr>
          <p:cNvGraphicFramePr/>
          <p:nvPr/>
        </p:nvGraphicFramePr>
        <p:xfrm>
          <a:off x="571500" y="1381125"/>
          <a:ext cx="11049000" cy="3952878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日期或阶段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当天实际做什么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2021-11-15，第1天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记录行情，累计有效交易次数。历史不足60天，股票池为空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2021-11-16，第2天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继续累计历史，仍没有股票满足60天条件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2022-02-14，第60个交易日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75只股票入池，计算因子与名次，等待未来价格形成答案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2024-03-27起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首次内部验证阶段，用此前合格记录建立的模型评分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2024-10-08起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开始正式逐季历史测试，季度内每天用固定模型评分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2EB0498C-2384-49C2-8CCB-C0B861806F05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每天新增记录，不等于每天重新训练。历史不够或未来答案未出现时，不能造出训练样本。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64A0F3-D3D6-4DC5-A360-7D1B2A379111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20396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C65ACCD1-2DBC-48D3-9CFA-F221CE3FCE8F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每日运行的中文逻辑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0C0EBF-786A-4F16-B184-F89CBCB7FB21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对每个交易日：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385448-0078-491E-9AAA-3FD46D432776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如果是新季度首日：用昨天及以前已知答案重筛因子、重训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E76D7F-8342-4578-86E6-2A86E53C3557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开盘时：按上个交易日的名单，检查资金与约束后买卖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F7B2C2-3996-4964-9275-751D2B55C7D6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收盘后：记录今天行情，更新各股票历史记录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C73ABE-D0E0-4CEC-A5EA-0543A3B85D67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按今天及以前的数据，重新确定今天的股票池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30EEA2-498E-40B4-9BDA-F079CB59715E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计算335列候选指标，取本季度已选好的输入列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9584F9-110B-46B5-B2E6-D8CC8DF07159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87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用本季度保存的模型评分，保存今天的股票排序</a:t>
            </a:r>
            <a:endParaRPr sz="1875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C53216-5F7E-4CBD-8985-79878B9C0669}"/>
              </a:ext>
            </a:extLst>
          </p:cNvPr>
          <p:cNvSpPr>
            <a:spLocks noGrp="1"/>
          </p:cNvSpPr>
          <p:nvPr/>
        </p:nvSpPr>
        <p:spPr>
          <a:xfrm>
            <a:off x="609600" y="35528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如果旧记录所需结束价格今天出现：补齐那条记录的答案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97D98E-5EC9-4168-A254-C8DD0D791782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新答案存入历史库，等待下次训练或用于评价旧预测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57CCF2-4AD8-4D55-AFD1-51EB333DF07F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这是历史重演的信息先后顺序。现有代码为了效率，会批量读取与计算一段数据。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464129A-694A-459B-86EA-DFB4FF393276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54643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59E4D084-9362-459D-8892-333D6E0A197B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判断能否训练，先检查答案何时出现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95E331-ECBB-4B8A-AF2C-D218DF15B311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2026年4月1日启用模型，只能学习4月1日以前已经知道的答案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67CC59-2046-48BC-B64F-9A833A193AF2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对每条历史股票记录：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8ED1E7-3A52-43B1-A2C5-71C2F866E63B}"/>
              </a:ext>
            </a:extLst>
          </p:cNvPr>
          <p:cNvSpPr>
            <a:spLocks noGrp="1"/>
          </p:cNvSpPr>
          <p:nvPr/>
        </p:nvSpPr>
        <p:spPr>
          <a:xfrm>
            <a:off x="609600" y="24860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如果输入日期不在允许的历史窗口：丢弃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4AF2CE-D3B8-48DA-9E34-A60E29C3A9CE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否则，如果收益结束日期 &gt;= 2026-04-01：丢弃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A59F6C-DB92-4600-B2ED-1D46D37A65B7}"/>
              </a:ext>
            </a:extLst>
          </p:cNvPr>
          <p:cNvSpPr>
            <a:spLocks noGrp="1"/>
          </p:cNvSpPr>
          <p:nvPr/>
        </p:nvSpPr>
        <p:spPr>
          <a:xfrm>
            <a:off x="609600" y="31146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否则，如果答案为空：丢弃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F2FD12-9601-4052-B7A1-1B5A7ABAB109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否则：允许参与筛因子和训练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5C540D-C4F4-4F69-BBBF-8C2044793068}"/>
              </a:ext>
            </a:extLst>
          </p:cNvPr>
          <p:cNvSpPr>
            <a:spLocks noGrp="1"/>
          </p:cNvSpPr>
          <p:nvPr/>
        </p:nvSpPr>
        <p:spPr>
          <a:xfrm>
            <a:off x="609600" y="37433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BDEA26-D752-463E-A0A2-A8FF01553525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3月24日的五天答案在3月31日收盘已知，可以使用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A7A78F8-E3D0-44F4-BB9E-85B123D2FCEC}"/>
              </a:ext>
            </a:extLst>
          </p:cNvPr>
          <p:cNvSpPr>
            <a:spLocks noGrp="1"/>
          </p:cNvSpPr>
          <p:nvPr/>
        </p:nvSpPr>
        <p:spPr>
          <a:xfrm>
            <a:off x="609600" y="43719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3月25日的五天答案在4月1日收盘才知，本次不能使用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32C0E7-EB69-4AA3-9241-434480054B38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一次学习两年的已知历史可以符合边界。用它回头冒充预测那两年，才会把答案带回过去。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7AD97FA-F7F0-49A0-A259-5BC153C4D227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27357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2A2990F-C1BB-4B3B-B633-0B33D6B6B217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4月1日模型的训练、验证和使用范围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1E66ACF-24DC-438B-A724-A4002057D82B}"/>
              </a:ext>
            </a:extLst>
          </p:cNvPr>
          <p:cNvGraphicFramePr/>
          <p:nvPr/>
        </p:nvGraphicFramePr>
        <p:xfrm>
          <a:off x="571500" y="1381125"/>
          <a:ext cx="11049000" cy="3476625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实际日期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内部训练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输入2023-08-21至2025-09-09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答案最晚2025-09-16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筛因子、训练不同方法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内部验证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2025-09-17至2026-03-31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五天完整答案信号截至3月24日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比较方法和仓位规则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正式重训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输入2024-03-01至2026-03-24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答案最晚2026-03-31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重新筛因子、建立正式模型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正式使用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2026-04-01至2026-06-30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每天读当天输入并评分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26D69C71-DA56-4161-BB19-0D7F1AE28A1A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正式重训有49,881行。4、5、6月的未来收益不参加这次正式筛选或拟合。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05F2D7-FDFE-44FE-A5BD-276B9FBAEB85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29035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D9F4F4CC-4608-4747-A814-B1678F2A5B8F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股票池筛选的if/else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04122A1-D899-44C6-993A-305C59593697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对今天有文件的每只股票：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92B1AD-FAEE-4810-8CC1-705F80B5D557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有效交易 = 量、额都 &gt; 0，且开、高、低、收价格都 &gt; 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0159A7-6B73-45CE-80B0-A08B3A9C82EE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如果截至今天的有效交易记录少于60天：剔除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FBC7A-885C-4A99-98AA-C1D9090159D4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否则，如果最近20天有效交易少于16天：剔除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B654E21-52A1-431F-A0E5-FE56B2F2B5C1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否则，如果今天不是有效交易：剔除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D3E22F3-F718-40C0-A08C-354AB7072E83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否则，如果最近20天平均成交额 &lt;= 0：剔除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D3B03E-A2CA-43F7-8E7F-457A346540FC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否则：加入候选股票名单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D81B07-C855-4A56-B2E6-BEA0DFE310D7}"/>
              </a:ext>
            </a:extLst>
          </p:cNvPr>
          <p:cNvSpPr>
            <a:spLocks noGrp="1"/>
          </p:cNvSpPr>
          <p:nvPr/>
        </p:nvSpPr>
        <p:spPr>
          <a:xfrm>
            <a:off x="609600" y="35528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48F1321-E8B5-40E1-BF92-1F7D8857A7D5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按最近20天平均成交额，从大到小排序候选股票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153314-4CB7-4DDA-80EE-9ECA9DA5292E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如果排名 &lt;= 100：今天入池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3BA9DC-FF0E-4F7E-AE57-6D6C12D15703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否则：今天不入池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20E242D-4C3D-425A-88C0-A2F469711DF6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20天平均成交额 = 最近20个交易日成交额之和 ÷ 20。收盘后选池，可包含当天成交额。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AEB2B11-6FB3-444C-8393-2D2220AEB515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94677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F5F5572-5217-4B4D-9A08-06C1C358D70F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335列候选指标的来源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1A7E565-2DD2-4009-A3AD-2F20AA8780A5}"/>
              </a:ext>
            </a:extLst>
          </p:cNvPr>
          <p:cNvGraphicFramePr/>
          <p:nvPr/>
        </p:nvGraphicFramePr>
        <p:xfrm>
          <a:off x="571500" y="1381125"/>
          <a:ext cx="11049000" cy="3190875"/>
        </p:xfrm>
        <a:graphic>
          <a:graphicData uri="http://schemas.openxmlformats.org/drawingml/2006/table">
            <a:tbl>
              <a:tblPr/>
              <a:tblGrid>
                <a:gridCol w="428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列数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记录什么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供应商Alpha101和Alpha191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价格、成交量及历史运算得到的指标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本地价量特征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过去涨跌、波动和成交活跃程度，公式逐列登记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本地表达式因子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基于假说，对已有历史特征做有限算术组合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335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每只股票每天最多有335个候选输入数字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6559CB43-299C-487E-AE9E-D49C0411308E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旧版是292个供应商因子加12个价量特征，共304列。392不是核实过的供应商列数。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2C0A7F-9EAE-4690-92A9-2FE0EF34800F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69204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A477AB65-E386-4FD2-AC57-30A6A560AB80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因子正相关、负相关，分别怎样使用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358C14-6733-45B9-AF86-A475F00A07E4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IC回答：同一天里，因子数值排得越高的股票，后来的收益是否也排得越高？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1B6D9E-65A3-4173-9439-5A8EBA5F7AA9}"/>
              </a:ext>
            </a:extLst>
          </p:cNvPr>
          <p:cNvSpPr>
            <a:spLocks noGrp="1"/>
          </p:cNvSpPr>
          <p:nvPr/>
        </p:nvSpPr>
        <p:spPr>
          <a:xfrm>
            <a:off x="571500" y="1914525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因子名次[1,2,3]，收益名次[1,2,3]，完全同向，IC为+1。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799989-EFB6-4023-80B1-0D36353E68C2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11049000" cy="7894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因子名次[1,2,3]，收益名次[3,2,1]，完全反向，IC为−1。</a:t>
            </a:r>
          </a:p>
          <a:p>
            <a: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此时因子越小，后来的相对表现越好。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F1BF05-09EB-4EFA-AA51-A6DCBF5CD817}"/>
              </a:ext>
            </a:extLst>
          </p:cNvPr>
          <p:cNvSpPr>
            <a:spLocks noGrp="1"/>
          </p:cNvSpPr>
          <p:nvPr/>
        </p:nvSpPr>
        <p:spPr>
          <a:xfrm>
            <a:off x="571500" y="3427857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本次046平均IC为+0.1523，063为−0.1482。筛选按绝对值比较，因此负相关也能留下。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919E0D-0398-4774-871C-53F8A4F9C9DE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简单IC加权给负IC因子负权重。LightGBM直接学if/else，无需预先把每个负IC输入乘−1。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2F56B8-95E9-4532-8F56-60B834B18B6B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01212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94FDE930-C6C3-449E-90CC-B6FCC78D2F33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335列筛成100列的中文逻辑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49440C-1BA0-4FC7-BC34-E5BD289E2D03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只使用本次允许训练的49,881行：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17FD2D-04C1-4684-987A-09D794FFFD7D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对每个候选列，算有数值的行数 ÷ 49,881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9449B7-14B1-47CC-A97F-BB81D623BE63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如果比例 &lt; 70%：剔除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3432C1-EA3D-40ED-B6EB-3F9A61F04FC1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否则：逐日计算IC，再对每天的IC求平均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650373-F199-4D18-870B-B6B8A1802A13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38798C-B3F9-4F73-BFB0-4BC94619F608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剩余列按“平均IC绝对值”从大到小排序</a:t>
            </a:r>
            <a:endParaRPr sz="1875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6B0A1C-A0E0-4553-99B9-C1501C799694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已选列 = 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C346BD-9C2F-4AF9-9C1E-EB46E1741086}"/>
              </a:ext>
            </a:extLst>
          </p:cNvPr>
          <p:cNvSpPr>
            <a:spLocks noGrp="1"/>
          </p:cNvSpPr>
          <p:nvPr/>
        </p:nvSpPr>
        <p:spPr>
          <a:xfrm>
            <a:off x="609600" y="35528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按顺序逐列检查：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9DA860-0617-4CC9-8DE8-BCADB16B679C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87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如果与任意已选列的相关系数绝对值</a:t>
            </a:r>
            <a:r>
              <a:rPr sz="187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&gt;= 0.92：跳过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1ADD62E-A19F-49E9-861A-4F6E4761BAB1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否则：加入已选列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41ACC0-F7F5-4074-8A7C-A3837665A30A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如果已选数量达到100：停止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19C643E-8AA6-4DE0-B532-5E02250CDC75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本次覆盖不足先剔除5列，剩330列再排序去重。ICIR、夏普、最大回撤没有用于这一步设门槛。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48E638-3745-498D-B225-3887DF9933D9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3543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9AF4A01-2542-452C-8FFC-492A87D9DE77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实际筛选：063留下，067跳过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E2FBA7C-07B0-4180-B736-2CEF2EC8AEA4}"/>
              </a:ext>
            </a:extLst>
          </p:cNvPr>
          <p:cNvGraphicFramePr/>
          <p:nvPr/>
        </p:nvGraphicFramePr>
        <p:xfrm>
          <a:off x="571500" y="1381125"/>
          <a:ext cx="11049000" cy="400050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因子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平均IC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与已选列最大相似度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046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+0.1523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首列，无需比较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063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−0.1482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0.9183 &lt; 0.92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079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−0.1457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0.9112 &lt; 0.92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067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−0.1452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0.9241 ≥ 0.92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跳过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031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−0.1438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0.9289 ≥ 0.92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跳过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034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+0.1438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0.9288 ≥ 0.92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跳过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5955C9C4-D3E6-4C75-8163-686D66E66DF4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相似度是两列相关系数的绝对值。接近1，说明它们提供高度重复或方向相反的相同信息。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A315AF-7E35-4126-90E3-D54F39037819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84559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618FD99-9DEF-4F17-905E-007DAF091995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新答案每天出现，模型何时再学习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C2C4BFE-98C3-47BF-A336-619E4E3637CF}"/>
              </a:ext>
            </a:extLst>
          </p:cNvPr>
          <p:cNvGraphicFramePr/>
          <p:nvPr/>
        </p:nvGraphicFramePr>
        <p:xfrm>
          <a:off x="571500" y="1381125"/>
          <a:ext cx="11049000" cy="3619500"/>
        </p:xfrm>
        <a:graphic>
          <a:graphicData uri="http://schemas.openxmlformats.org/drawingml/2006/table">
            <a:tbl>
              <a:tblPr/>
              <a:tblGrid>
                <a:gridCol w="390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事情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主流程频率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具体含义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股票池和指标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每天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交易与价格变化会改变输入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用固定模型算分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每天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输入变化，分数可以变化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筛因子与训练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每季度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纳入已成熟新答案，替换旧训练窗口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市场状态模型HMM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每月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估计市场环境，调整股票仓位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逐因子衰减触发重训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尚未实现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当前没有自动按因子失效速度更新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DACC3BAA-AD92-4C1B-8EB8-8DEED02B8DD9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“关系漂移”指同一种输入与收益的关系随月份变化。固定模型不会因新答案出现而自动改参数。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62E3CE-0DEA-45AE-A400-518E0A944171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963060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1E7227-3CA7-4B4F-B505-C1171EB80225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主流程五个期限均未同时达到双门槛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FB44FBA-3A9A-46D3-9640-2A8F9D0BC96A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统一到2026-09-30，共485个交易日。每边5bp，无风险年收益1.5%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6E1DC89-50CA-4510-B432-8DC975CA3723}"/>
              </a:ext>
            </a:extLst>
          </p:cNvPr>
          <p:cNvGraphicFramePr/>
          <p:nvPr/>
        </p:nvGraphicFramePr>
        <p:xfrm>
          <a:off x="571500" y="2190750"/>
          <a:ext cx="11049000" cy="32385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预测期限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累计收益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年化收益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夏普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最大回撤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卡玛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1日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65.57%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29.06%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1.061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28.00%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1.038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2日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80.28%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34.74%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1.238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24.60%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1.412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5日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49.23%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22.45%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1.028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23.87%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0.940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10日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20.73%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10.00%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0.515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22.75%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0.440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20日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7.04%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3.50%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0.228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14.78%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0.237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40B28169-E344-436D-8191-905210696727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验收同时要求：夏普 &gt; 1 且卡玛 &gt; 2。只满足一个不算通过。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5D689B-D82E-402E-B701-CE16ED33BB96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467233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5F9145E-F932-4F4E-A1F5-5A3AB899EB0C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五天候选的盈利主要来自前一年</a:t>
            </a:r>
            <a:endParaRPr sz="31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82EBA34-4339-4598-9A5B-3A5FE75DA848}"/>
              </a:ext>
            </a:extLst>
          </p:cNvPr>
          <p:cNvGraphicFramePr/>
          <p:nvPr/>
        </p:nvGraphicFramePr>
        <p:xfrm>
          <a:off x="571500" y="1381125"/>
          <a:ext cx="11049000" cy="2857500"/>
        </p:xfrm>
        <a:graphic>
          <a:graphicData uri="http://schemas.openxmlformats.org/drawingml/2006/table">
            <a:tbl>
              <a:tblPr/>
              <a:tblGrid>
                <a:gridCol w="466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时间段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累计收益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夏普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卡玛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2024-10-08至2025-09-30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+28.02%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2.450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5.475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该段通过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2025-10-09至2026-09-30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−1.90%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−2.070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−0.774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该段失败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2026-04-01至2026-09-30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−1.10%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−1.875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−0.968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该段失败</a:t>
                      </a:r>
                      <a:endParaRPr sz="1800" b="0" dirty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70DC54D7-1341-473B-BD3E-120865F6C505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最近半年包含在最近一年内。全历史达标会掩盖最近区间失效，不能据此宣称稳定盈利。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36252E-0DD2-41F6-A7D8-47EF3376760B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239721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0CF3A5B-59D8-44BA-AF61-77F5313048D1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HMM调整仓位，效果是否总会更好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053DA2-9958-47D3-B75D-894EE99EAAF8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HMM给不同市场环境估计概率，再调整股票仓位。</a:t>
            </a:r>
          </a:p>
          <a:p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对照区间2024-10-08至2026-10-09，每边5bp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76CF593-D56E-4934-AA86-4DC868AAEFA0}"/>
              </a:ext>
            </a:extLst>
          </p:cNvPr>
          <p:cNvGraphicFramePr/>
          <p:nvPr/>
        </p:nvGraphicFramePr>
        <p:xfrm>
          <a:off x="571500" y="2190750"/>
          <a:ext cx="11049000" cy="285750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相同五天组合、前20只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年化收益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夏普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最大回撤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卡玛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不加仓位控制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47.83%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1.092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44.84%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1.067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两状态防御仓位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73.17%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1.631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34.08%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2.147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三状态防御仓位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49.43%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1.453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24.66%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2.004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三状态波动预算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6.00%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0.449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13.02%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0.460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CA979A96-438C-44A1-80C9-3F6A9583D722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市场状态用过去数据训练、逐日前推。不同规则改善不一致，降低仓位也会损失上涨收益。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77BD16-AAE9-4E6A-96FF-0A6139D3EBF1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115741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92E9F39-203F-4228-84F4-B13CDDDB94C1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附录：每日动作与是否训练的判断</a:t>
            </a:r>
            <a:endParaRPr sz="31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2B8569-E30A-4BEC-A577-D0C43E3CE392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每天收盘后：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42016E-4641-4456-8A66-CB52E9FD1F56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更新历史，按同样的if/else重算股票池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AB156D-9FE9-4DC0-BC4A-AF2A1F0A658C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计算只依赖今天及以前数据的候选列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2ED0B6-803A-4CBB-99CC-09BAAF7B77DF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如果历史不足：只存数据，不生成正式模型输出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D4B1EC6-D431-4009-BDD5-841F175BCD76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否则，如果是内部验证阶段：用内部训练模型评分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EAE01A-07D2-4004-A157-8F2E2693FAE2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87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否则，如果是新季度首个交易日</a:t>
            </a:r>
            <a:r>
              <a:rPr sz="187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：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1FD27EB-6AD0-4D19-9D2D-C732A495DBE4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    选此前504个交易日的历史行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1F5B7F-4EFB-445A-A784-9E4240DABA9C}"/>
              </a:ext>
            </a:extLst>
          </p:cNvPr>
          <p:cNvSpPr>
            <a:spLocks noGrp="1"/>
          </p:cNvSpPr>
          <p:nvPr/>
        </p:nvSpPr>
        <p:spPr>
          <a:xfrm>
            <a:off x="609600" y="35528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    </a:t>
            </a:r>
            <a:r>
              <a:rPr sz="187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删除答案结束日不早于当前日期的行，以及缺答案行</a:t>
            </a:r>
            <a:endParaRPr sz="1875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22E9A1-A2B8-4DA8-B760-B6C884A15650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    重新筛列，创建新模型，训练并保存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43AA997-4D74-4877-84B7-A3598907BC83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87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用该阶段已保存模型，给今天每只入池股票评分</a:t>
            </a:r>
            <a:endParaRPr sz="1875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D0FE05-B220-41D0-BECA-483A17BB3474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补齐今天刚成熟的旧答案，供下次训练或评价使用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3730B41-73B9-453C-A2F8-8C5CC0E46761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347474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6846D73-BEF0-4E22-9345-4307B871D6B8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附录：训练期间因子IC的现有实现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641982B-47F1-4283-B030-37497DACAE40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对每个候选列：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3C9023F-B23A-4661-B663-F5A5D5E25236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覆盖率 = 该列非空训练行数 ÷ 全部训练行数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66BD25-DDFE-42AA-A7EE-24068648CB44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如果覆盖率 &lt; 0.70：剔除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1C7ACB-B0A1-40C4-AFB5-0710917F481D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否则，对每个训练日期：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343A5E-CF5E-462A-BEB0-C7F98D80F238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    a = 各股票的因子名次输入 − 当天该列均值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B5CC12F-3761-4636-B282-07D45DFBF448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    b = 各股票的收益名次答案 − 当天答案均值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8D1B1A0-D78F-4FF5-BE57-AECF1EB30BA2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    当天IC = 加总(a×b) ÷ √[加总(a²)×加总(b²)]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A799EBD-6180-434F-9FDA-A1A0D4DE0A82}"/>
              </a:ext>
            </a:extLst>
          </p:cNvPr>
          <p:cNvSpPr>
            <a:spLocks noGrp="1"/>
          </p:cNvSpPr>
          <p:nvPr/>
        </p:nvSpPr>
        <p:spPr>
          <a:xfrm>
            <a:off x="609600" y="35528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    分母为0：该天IC无效，不进入平均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363DACF-CA1B-4E5A-AEB1-F75CAEA21A12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平均IC = 有效日IC的平均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5E40C75-2E98-4B87-B099-D98893FFA23A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排序分数 = 平均IC的绝对值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97B738-7BCD-4232-BC40-3AA68ECCAA32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现有实现分别跳过空值，没有统一双方共同有效的股票集合。后页列出实际影响。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EAC695-A467-4E5B-9597-70C13677262A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826328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8ED5447D-7A5B-4644-B490-AD71C7C687F9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附录：去掉重复信息的完整逻辑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62988D8-046B-4C5B-BAA1-7AA96D7C76C2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合格列按平均IC绝对值降序排列，同分按列名排序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5ACB5EE-DF64-460F-BB00-194209564264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仅取训练行，把这些列的空值填成0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CDB245-8744-4E23-A7B6-2E899E3AEBDD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计算每两列的相关系数绝对值，得到列间相似度表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CA5EE22-DAAC-45E7-8CB5-80FF62E3F285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已选 = []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33C6E0-F2BC-4356-9694-A0B85BDCD36D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对排序后的每一列：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8276A3-8257-4406-BB52-187EA2E23236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如果已选为空：加入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DD94E2-6036-43C4-8A11-AEF3EB3AB1E7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否则，如果与任意已选列的相似度 &gt;= 0.92：跳过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26B3C6F-C772-4851-8281-B2AAA8FE4A74}"/>
              </a:ext>
            </a:extLst>
          </p:cNvPr>
          <p:cNvSpPr>
            <a:spLocks noGrp="1"/>
          </p:cNvSpPr>
          <p:nvPr/>
        </p:nvSpPr>
        <p:spPr>
          <a:xfrm>
            <a:off x="609600" y="35528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否则：加入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8D1CE17-1314-4232-A2D5-97325260CB84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如果已选数量 == 100：停止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E3F6891-F0D1-4448-8434-95F40841662A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取出100列，空值填0，组成输入表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E98E46A-C314-4F2B-A1D8-89EC1D84AD88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答案单独交给模型，日期和股票代码只负责对齐行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46E91BB-993C-41A5-B851-3A11A4878327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562488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DA0111A-505D-4545-9423-A91C8D8D53A2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附录：五天模型每个季度何时重新训练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C4D5C1E-3A8A-4E99-91D8-285AB4451A0C}"/>
              </a:ext>
            </a:extLst>
          </p:cNvPr>
          <p:cNvGraphicFramePr/>
          <p:nvPr/>
        </p:nvGraphicFramePr>
        <p:xfrm>
          <a:off x="571500" y="1381125"/>
          <a:ext cx="11049000" cy="41910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启用日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训练输入起日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最后输入日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最后答案日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训练行数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2024-10-08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2022-09-01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2024-09-23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2024-09-30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49,831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2025-01-02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2022-12-05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2024-12-24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2024-12-31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49,889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2025-04-01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2023-03-02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2025-03-24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2025-03-31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49,889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2025-07-01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2023-05-31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2025-06-23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2025-06-30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49,886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2025-10-09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2023-09-04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2025-09-23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2025-09-30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49,880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2026-01-05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2023-12-05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2025-12-24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2025-12-31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49,886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2026-04-01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2024-03-01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2026-03-24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2026-03-31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49,881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2026-07-01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2024-05-31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2026-06-23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2026-06-30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49,872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2026-10-08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2024-09-02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2026-09-22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2026-09-30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49,872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049F3110-DF7D-4DDB-AF02-6F90D6D21290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每次重新筛列并创建新模型，最后答案日均早于启用日。季度内每天沿用该季度参数。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871343-57D9-455D-BC06-1F9316634A2B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9927273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2227</Words>
  <Application>Microsoft Office PowerPoint</Application>
  <DocSecurity>0</DocSecurity>
  <PresentationFormat>宽屏</PresentationFormat>
  <Paragraphs>479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1" baseType="lpstr">
      <vt:lpstr>Microsoft YaHei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志阳 翟</cp:lastModifiedBy>
  <cp:revision>1</cp:revision>
  <dcterms:created xsi:type="dcterms:W3CDTF">2026-10-15T16:54:11Z</dcterms:created>
  <dcterms:modified xsi:type="dcterms:W3CDTF">2026-10-16T02:08:40Z</dcterms:modified>
</cp:coreProperties>
</file>