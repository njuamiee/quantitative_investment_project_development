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2a4ad3c6cb4d21" /><Relationship Type="http://schemas.openxmlformats.org/officeDocument/2006/relationships/extended-properties" Target="/docProps/app.xml" Id="R8673c81570e74c3c" /><Relationship Type="http://schemas.openxmlformats.org/officeDocument/2006/relationships/officeDocument" Target="/ppt/presentation.xml" Id="R38c54a1f102a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8a6d6d625e4412"/>
  </p:sldMasterIdLst>
  <p:notesMasterIdLst>
    <p:notesMasterId xmlns:r="http://schemas.openxmlformats.org/officeDocument/2006/relationships" r:id="R67b1262c486c426a"/>
  </p:notesMasterIdLst>
  <p:sldIdLst>
    <p:sldId xmlns:r="http://schemas.openxmlformats.org/officeDocument/2006/relationships" id="256" r:id="Rf37e15d0b36f49fd"/>
    <p:sldId xmlns:r="http://schemas.openxmlformats.org/officeDocument/2006/relationships" id="257" r:id="Ra5cebaed65c744a2"/>
    <p:sldId xmlns:r="http://schemas.openxmlformats.org/officeDocument/2006/relationships" id="258" r:id="R89b3a07d221e48fc"/>
    <p:sldId xmlns:r="http://schemas.openxmlformats.org/officeDocument/2006/relationships" id="259" r:id="Rca6e3efefded4864"/>
    <p:sldId xmlns:r="http://schemas.openxmlformats.org/officeDocument/2006/relationships" id="260" r:id="R66058b653f5644b8"/>
    <p:sldId xmlns:r="http://schemas.openxmlformats.org/officeDocument/2006/relationships" id="261" r:id="R106f6fbae5764528"/>
    <p:sldId xmlns:r="http://schemas.openxmlformats.org/officeDocument/2006/relationships" id="262" r:id="Rd3a8046902054bc6"/>
    <p:sldId xmlns:r="http://schemas.openxmlformats.org/officeDocument/2006/relationships" id="263" r:id="R93705de072ab4c9e"/>
    <p:sldId xmlns:r="http://schemas.openxmlformats.org/officeDocument/2006/relationships" id="264" r:id="Rf49058bab6ea4649"/>
    <p:sldId xmlns:r="http://schemas.openxmlformats.org/officeDocument/2006/relationships" id="265" r:id="R1a6eddae85da4ce2"/>
    <p:sldId xmlns:r="http://schemas.openxmlformats.org/officeDocument/2006/relationships" id="266" r:id="R9ec4514aeb4c4522"/>
    <p:sldId xmlns:r="http://schemas.openxmlformats.org/officeDocument/2006/relationships" id="267" r:id="Rf23e6e0ef4024012"/>
    <p:sldId xmlns:r="http://schemas.openxmlformats.org/officeDocument/2006/relationships" id="268" r:id="Re68b9d0717754419"/>
    <p:sldId xmlns:r="http://schemas.openxmlformats.org/officeDocument/2006/relationships" id="269" r:id="R26e8c78e8ace49b5"/>
    <p:sldId xmlns:r="http://schemas.openxmlformats.org/officeDocument/2006/relationships" id="270" r:id="R9e2d8ea12de74114"/>
    <p:sldId xmlns:r="http://schemas.openxmlformats.org/officeDocument/2006/relationships" id="271" r:id="Rba1ccfde4b404ab3"/>
    <p:sldId xmlns:r="http://schemas.openxmlformats.org/officeDocument/2006/relationships" id="272" r:id="Rd7c7e6be7dc149c2"/>
    <p:sldId xmlns:r="http://schemas.openxmlformats.org/officeDocument/2006/relationships" id="273" r:id="R0c5e8742d7154d10"/>
    <p:sldId xmlns:r="http://schemas.openxmlformats.org/officeDocument/2006/relationships" id="274" r:id="R574125230de7495c"/>
    <p:sldId xmlns:r="http://schemas.openxmlformats.org/officeDocument/2006/relationships" id="275" r:id="Rd8f071bb75e646e6"/>
    <p:sldId xmlns:r="http://schemas.openxmlformats.org/officeDocument/2006/relationships" id="276" r:id="Rd16ac660e2394d47"/>
    <p:sldId xmlns:r="http://schemas.openxmlformats.org/officeDocument/2006/relationships" id="277" r:id="Rb104d34aacfc40b8"/>
    <p:sldId xmlns:r="http://schemas.openxmlformats.org/officeDocument/2006/relationships" id="278" r:id="R081480a926754c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a6d6d625e4412" /><Relationship Type="http://schemas.openxmlformats.org/officeDocument/2006/relationships/theme" Target="/ppt/theme/theme1.xml" Id="R4525c0b27d9f4e52" /><Relationship Type="http://schemas.openxmlformats.org/officeDocument/2006/relationships/notesMaster" Target="/ppt/notesMasters/notesMaster1.xml" Id="R67b1262c486c426a" /><Relationship Type="http://schemas.openxmlformats.org/officeDocument/2006/relationships/presProps" Target="/ppt/presProps.xml" Id="R269c20572993472f" /><Relationship Type="http://schemas.openxmlformats.org/officeDocument/2006/relationships/viewProps" Target="/ppt/viewProps.xml" Id="Rf46fb9ac3a7c42fb" /><Relationship Type="http://schemas.openxmlformats.org/officeDocument/2006/relationships/tableStyles" Target="/ppt/tableStyles.xml" Id="R00333d568e6e4902" /><Relationship Type="http://schemas.openxmlformats.org/officeDocument/2006/relationships/slide" Target="/ppt/slides/slide1.xml" Id="Rf37e15d0b36f49fd" /><Relationship Type="http://schemas.openxmlformats.org/officeDocument/2006/relationships/slide" Target="/ppt/slides/slide2.xml" Id="Ra5cebaed65c744a2" /><Relationship Type="http://schemas.openxmlformats.org/officeDocument/2006/relationships/slide" Target="/ppt/slides/slide3.xml" Id="R89b3a07d221e48fc" /><Relationship Type="http://schemas.openxmlformats.org/officeDocument/2006/relationships/slide" Target="/ppt/slides/slide4.xml" Id="Rca6e3efefded4864" /><Relationship Type="http://schemas.openxmlformats.org/officeDocument/2006/relationships/slide" Target="/ppt/slides/slide5.xml" Id="R66058b653f5644b8" /><Relationship Type="http://schemas.openxmlformats.org/officeDocument/2006/relationships/slide" Target="/ppt/slides/slide6.xml" Id="R106f6fbae5764528" /><Relationship Type="http://schemas.openxmlformats.org/officeDocument/2006/relationships/slide" Target="/ppt/slides/slide7.xml" Id="Rd3a8046902054bc6" /><Relationship Type="http://schemas.openxmlformats.org/officeDocument/2006/relationships/slide" Target="/ppt/slides/slide8.xml" Id="R93705de072ab4c9e" /><Relationship Type="http://schemas.openxmlformats.org/officeDocument/2006/relationships/slide" Target="/ppt/slides/slide9.xml" Id="Rf49058bab6ea4649" /><Relationship Type="http://schemas.openxmlformats.org/officeDocument/2006/relationships/slide" Target="/ppt/slides/slide10.xml" Id="R1a6eddae85da4ce2" /><Relationship Type="http://schemas.openxmlformats.org/officeDocument/2006/relationships/slide" Target="/ppt/slides/slide11.xml" Id="R9ec4514aeb4c4522" /><Relationship Type="http://schemas.openxmlformats.org/officeDocument/2006/relationships/slide" Target="/ppt/slides/slide12.xml" Id="Rf23e6e0ef4024012" /><Relationship Type="http://schemas.openxmlformats.org/officeDocument/2006/relationships/slide" Target="/ppt/slides/slide13.xml" Id="Re68b9d0717754419" /><Relationship Type="http://schemas.openxmlformats.org/officeDocument/2006/relationships/slide" Target="/ppt/slides/slide14.xml" Id="R26e8c78e8ace49b5" /><Relationship Type="http://schemas.openxmlformats.org/officeDocument/2006/relationships/slide" Target="/ppt/slides/slide15.xml" Id="R9e2d8ea12de74114" /><Relationship Type="http://schemas.openxmlformats.org/officeDocument/2006/relationships/slide" Target="/ppt/slides/slide16.xml" Id="Rba1ccfde4b404ab3" /><Relationship Type="http://schemas.openxmlformats.org/officeDocument/2006/relationships/slide" Target="/ppt/slides/slide17.xml" Id="Rd7c7e6be7dc149c2" /><Relationship Type="http://schemas.openxmlformats.org/officeDocument/2006/relationships/slide" Target="/ppt/slides/slide18.xml" Id="R0c5e8742d7154d10" /><Relationship Type="http://schemas.openxmlformats.org/officeDocument/2006/relationships/slide" Target="/ppt/slides/slide19.xml" Id="R574125230de7495c" /><Relationship Type="http://schemas.openxmlformats.org/officeDocument/2006/relationships/slide" Target="/ppt/slides/slide20.xml" Id="Rd8f071bb75e646e6" /><Relationship Type="http://schemas.openxmlformats.org/officeDocument/2006/relationships/slide" Target="/ppt/slides/slide21.xml" Id="Rd16ac660e2394d47" /><Relationship Type="http://schemas.openxmlformats.org/officeDocument/2006/relationships/slide" Target="/ppt/slides/slide22.xml" Id="Rb104d34aacfc40b8" /><Relationship Type="http://schemas.openxmlformats.org/officeDocument/2006/relationships/slide" Target="/ppt/slides/slide23.xml" Id="R081480a92675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a6a3e6afa3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4ada6c5f0b4bc8" /><Relationship Type="http://schemas.openxmlformats.org/officeDocument/2006/relationships/notesMaster" Target="/ppt/notesMasters/notesMaster1.xml" Id="R4ed73112b3dd46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d680aa5dd04500" /><Relationship Type="http://schemas.openxmlformats.org/officeDocument/2006/relationships/notesMaster" Target="/ppt/notesMasters/notesMaster1.xml" Id="R90140d4874bb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e343940034da9" /><Relationship Type="http://schemas.openxmlformats.org/officeDocument/2006/relationships/notesMaster" Target="/ppt/notesMasters/notesMaster1.xml" Id="R832dbda4e2064d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2defda032432e" /><Relationship Type="http://schemas.openxmlformats.org/officeDocument/2006/relationships/notesMaster" Target="/ppt/notesMasters/notesMaster1.xml" Id="Re74cdba2f9b74e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5646b338e747b2" /><Relationship Type="http://schemas.openxmlformats.org/officeDocument/2006/relationships/notesMaster" Target="/ppt/notesMasters/notesMaster1.xml" Id="R8508ed383c4344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896687485c4a02" /><Relationship Type="http://schemas.openxmlformats.org/officeDocument/2006/relationships/notesMaster" Target="/ppt/notesMasters/notesMaster1.xml" Id="Rf347c7b422c34c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1af80c6bff4e9e" /><Relationship Type="http://schemas.openxmlformats.org/officeDocument/2006/relationships/notesMaster" Target="/ppt/notesMasters/notesMaster1.xml" Id="Rf61d5d579aa341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81d3200d764b2c" /><Relationship Type="http://schemas.openxmlformats.org/officeDocument/2006/relationships/notesMaster" Target="/ppt/notesMasters/notesMaster1.xml" Id="R816778c594d2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3cc970c90946f3" /><Relationship Type="http://schemas.openxmlformats.org/officeDocument/2006/relationships/notesMaster" Target="/ppt/notesMasters/notesMaster1.xml" Id="R7461f6855b8c46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f9804c0e14450c" /><Relationship Type="http://schemas.openxmlformats.org/officeDocument/2006/relationships/notesMaster" Target="/ppt/notesMasters/notesMaster1.xml" Id="R12fe09a148b544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0104dc36dc4608" /><Relationship Type="http://schemas.openxmlformats.org/officeDocument/2006/relationships/notesMaster" Target="/ppt/notesMasters/notesMaster1.xml" Id="R892edce18f4048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cd886f23d14249" /><Relationship Type="http://schemas.openxmlformats.org/officeDocument/2006/relationships/notesMaster" Target="/ppt/notesMasters/notesMaster1.xml" Id="R74e862714e3842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121d3bc7a54655" /><Relationship Type="http://schemas.openxmlformats.org/officeDocument/2006/relationships/notesMaster" Target="/ppt/notesMasters/notesMaster1.xml" Id="Rbaf64bde69534b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f59328dce942ae" /><Relationship Type="http://schemas.openxmlformats.org/officeDocument/2006/relationships/notesMaster" Target="/ppt/notesMasters/notesMaster1.xml" Id="Rf213c138350f40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b52d90dadb43a7" /><Relationship Type="http://schemas.openxmlformats.org/officeDocument/2006/relationships/notesMaster" Target="/ppt/notesMasters/notesMaster1.xml" Id="Rc30bb6022aa74a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1d5dd04d2241d3" /><Relationship Type="http://schemas.openxmlformats.org/officeDocument/2006/relationships/notesMaster" Target="/ppt/notesMasters/notesMaster1.xml" Id="Rcef348e4e1b84b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01be1e89aa4953" /><Relationship Type="http://schemas.openxmlformats.org/officeDocument/2006/relationships/notesMaster" Target="/ppt/notesMasters/notesMaster1.xml" Id="R69632595bfed45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1409ff86b84159" /><Relationship Type="http://schemas.openxmlformats.org/officeDocument/2006/relationships/notesMaster" Target="/ppt/notesMasters/notesMaster1.xml" Id="Rd6dbbbdd497643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9c9cafffbd423c" /><Relationship Type="http://schemas.openxmlformats.org/officeDocument/2006/relationships/notesMaster" Target="/ppt/notesMasters/notesMaster1.xml" Id="R4f587d152fa74e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7391cc7e20a40e4" /><Relationship Type="http://schemas.openxmlformats.org/officeDocument/2006/relationships/notesMaster" Target="/ppt/notesMasters/notesMaster1.xml" Id="Rf1640da8eeca40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72acca80534afa" /><Relationship Type="http://schemas.openxmlformats.org/officeDocument/2006/relationships/notesMaster" Target="/ppt/notesMasters/notesMaster1.xml" Id="R4d2b7931eb5c40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0adf8ebe4248a0" /><Relationship Type="http://schemas.openxmlformats.org/officeDocument/2006/relationships/notesMaster" Target="/ppt/notesMasters/notesMaster1.xml" Id="R7d4f85aec429432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283332d5d44904" /><Relationship Type="http://schemas.openxmlformats.org/officeDocument/2006/relationships/notesMaster" Target="/ppt/notesMasters/notesMaster1.xml" Id="R7bfd792e97ab41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好，我这次报告的是项目从原有40个因子研究，到更多因子数量、分钟成交、沪深扩展和公司行为数据的进展。核心是三件事：线索是否有用、交易是否做得到、结论还有哪些条件。这里都是历史研究结果，没有真实买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来源与口径：实验代码与产物：tools/research_20261008/；training_runs/teacher9_20261008/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因子可以理解为判断股票的线索。以前笔记说可以再比较更多数量，这次已经实际训练和记账，不再只是提出建议。开始之前按要求先推送旧成果，形成可以恢复的版本。新结果单独保存，因此能区分什么是旧成绩、什么是本次增加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来源与口径：extension_protocol.json；extension_results.csv；new_data_extension_summary.json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流程图可以理解成一个软件流水线。先确认数据和股票名单，再用过去资料学习，给当天股票排序，最后模拟买卖并记账。t就是评分那一天，t加1是下一个交易日，而不是日历上的明天。五日答案要等未来发生后才知道，所以靠近测试边界的训练样本必须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来源与口径：prepare.py / train.py / accounts.py；extension_protocol.json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知道数量本身是否影响结果，各组使用相同股票池、相同日期和买卖规则。每次只改变规定的条件。1基点是万分之一，15基点是0.15%，买和卖各扣一次。即使按时间切分做对了，这段历史此前已经被研究过，因此仍不能把它包装成一次完全没见过的新考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来源与口径：extension_protocol.json；folds.json；verification.json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午检查时当日因子还没来，晚间终检已经全部到位，报告用的是终检状态。SFTP可以访问，健康接口也正常。分钟任务没有报错但新增为零，这不等于当日资料齐全；补查还没有看到三个市场10月8日的原始tick。9月28到30日的分钟资料则确实已经补到，并实际用于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来源与口径：sftp_update_summary.json；late_server_check.json；核查23:59，北京时间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左图，横轴是线索数量，纵轴是累计收益；右图是过程中从最高资产跌下来的最深幅度，叫最大回撤。100个在这段历史中收益最高、回撤也较小，但从40增加到60反而略变差。因此不能说因子越多每一步都更好。更不能看完这张图后，反过来说事先就知道100是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来源与口径：extension_results.csv｜固定北交所窗口；价格研究账户；单边15基点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每列是一个即将测试的季度。程序先看更早练习题上的排名成绩，再决定这次用多少线索。星号就是当时的选择。把各季度按这个规则接起来，LightGBM累计76.03%，最大回撤43.95%。同样规则下简单Ridge是121.53%，回撤42.29%，所以更复杂的模型没有自动获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来源与口径：validation_models.csv；folds.json｜两种模型分别验证选参，未按测试收益选赢家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净值1就是初始100万元，1.5就是150万元。不能只看最后到哪里，也要看中途从高处跌多深。100相对40的排序改善很小，按十天一组重抽样得到的区间仍含零，说明改善还不够确定。这里是描述性区间，不是对所有试过的方法统一校正后得出的盈利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来源与口径：各count账户；count_ic_bootstrap.csv｜10日块重抽2000次；未作全族显著性校正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横条图比较换一个研究条件后的结果。Alpha101和Alpha191是两套现成线索。加前一天股本等线索有改善，但两日延迟后收益明显下降。树的叶子可以理解为最后划分出的判断小格子。抽样种子17和29是在相同抽样规则下比较，两者收益差异提醒我们，不能只展示偶然最好的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来源与口径：extension_results.csv｜分组因子均来自训练去重队列；抽样实验同时启用固定抽样规则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边是消息拿得晚一点会怎样，价格线索仍用当天数据，只让Alpha多等一两天。右边是每笔买卖贵一点会怎样。两个表使用的策略不同，不能横向拼成一个模型。它们共同说明，想把回测变成可信研究，必须认真核对资料实际何时能拿到，以及买卖的全部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来源与口径：冻结lag1结果；lag2_metrics.json；validation_count_cost_*_metrics.json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前只是把已经在日线中成交的订单拿去问能成交多少。现在直接从信号开始，没买到的不算持仓，买到多少就扣多少钱，没卖掉的还要留在账里。参与率1%表示这一分钟全市场成交一万股时，我们所有同股票订单合计最多成交一百股。这是模拟容量约束，并不意味着提前知道该分钟成交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来源与口径：minute_account.py；minute_*_fills.csv / orders.csv / account.csv；verification.json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左右是两个独立区间，各自从100万元开始。灰线按日线条件成交，蓝线加入分钟数量限制和保守价格。第一段从赚1.20%变成亏2.66%，第二段亏损也加深。新补齐的9月28和29日数据使第二段检验完整做到9月29日。不能把这里的季度收益当作两年连续账户的季度切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来源与口径：minute_cash_results.json；q3_minute_cash_results.json｜各区间独立100万元；价格口径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与率高，通常可以完成更多原计划买卖，但多买到的股票也可能下跌，所以收益并不必然提高。完成率只是订单层面的指标。旧67.53%来自已经在日线成交的参考订单，本次包括自己的请求和重试，分母不同，不能宣称完成率提高了多少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来源与口径：minute_cash_results.json；q3_minute_cash_results.json｜不能把成交比例乘原收益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利用新的因子库，从Alpha001有覆盖且有日线的496只沪深股票出发，加了101个Alpha线索。其中469只曾进入每日活跃股票池。筛选模型在同样本中比12个价格线索好，但回撤仍达52.35%，也落后沪深300指数。旧300只样本与本次不同，不能把两个样本的差异全部归功于加入Alpha，更不能推广成整个沪深市场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来源与口径：shsz_alpha/account_results.json｜2019-01-02—2026-08-21；价格账户；31个季度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MM像一个市场天气判断器，估计高波动或低波动，再调整最多可以投多少股票。旧拟合最后一步似然下降时，需要区分带先验的目标和单纯数据拟合分数。这次另做无转移先验版本，按训练稳定性严格筛选。结果约44.91%，仍低于固定85%上限的65.05%，所以诊断改善并没有证明它更会控制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来源与口径：hmm_strict_fits.json；hmm_strict_metrics.json；冻结仓位对照结果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如你有100股，每10股派1元，就有10元分红。除权日是每股参考价格调整的日期，不必然就是这10元可以再买股票的日期。本次表里有登记日、除权日和比例，已经能够做情景实验。但是现金支付日、送股可卖日和税费还不完整，因此73.25%只能称为明确假设的情景结果，不能替代真实结算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来源与口径：dividend_event_audit.csv；dividend_immediate_assumption_metrics.json｜税前、零股处理简化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学习的答案与买卖资金账是两件事。后复权像把分红送股造成的价格跳变连接得更连续，适合研究相对变化，但不能真的按这个加工后的价格成交。这些行分别改变不同环节，所以不能拿93.49%的预测结果，又套上另一行的分红解释，拼成一个看似完整的新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来源与口径：hfq_results.json；cash_dividend_receivables.csv｜hfq为当前供应商口径，历史版本待核验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逐条对老师前五项意见作答。能通过写程序解决的名单重建、记账和对照已经有实际产物。不能凭代码保证的，是历史名单完整、资料在当时就可用，以及换市场后仍能稳定盈利。每一项我都把完成动作和剩余证据分开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来源与口径：对应脚本和结果见附录证据路径；“完成实验”不等于“证明有效”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滚动训练的时间边界、分钟账户的现金和持股都有自动检查。第七项的结论不是HMM成功了，而是已经把它解释清楚并证实没有胜过简单对照。第八项不再说完全没有分红资料，而是明确缺结算字段。第九项本地模拟已推进，但不能用它替代商业平台运行和真实订单簿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来源与口径：verification.json；minute_account.py；hmm_robustness.py；new_data.py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下一步不是盲目把所有服务器数据都下载一遍。要优先补会改变是否能真实交易的证据。6月30日原始BJ tick存在，可以重建；5月18日和10月8日原始资料未见，需要先补上游。沪深旧tick其他日期问题放在附录，不阻塞已经完成的日频实验。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来源与口径：晚间目录与样本核查；dividend_summary.json；学习笔记中的具体路径清单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用三句话总结这次工作，我会说：一，扩展都已经变成实际结果；二，最醒目的收益数字还有明确条件；三，下一步要补真实性证据并等新的历史发生。最新评分已经保存，但采用冻结模型，只能作为观察记录。一个晚上新来的文件，不可能立刻给出尚未发生的五日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来源与口径：final_summary.json；oct8_frozen_model_monitoring.csv｜研究评分，未发单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老师如果想核对某个数字，可以从这个索引进入。资金曲线有逐日记录，分钟成交有逐笔日志，参数选择有每一轮的验证成绩。原来的结果没有被覆盖，所以也可以检查新实验40个因子是不是完整复现旧基线。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来源与口径：旧结果：training_runs/teacher9_20260930/；9月20日首轮产物保持冻结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这张附录供追问时使用。最容易混淆的是排名好不等于账户赚钱，成交多不等于收益高，分红除权也不等于现金到账。把这些意思先说清，再使用专业名词，汇报就会更准确。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来源与口径：详细例子及九项建议解释：从零读懂量化项目（更新讲义）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7535d273a4d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1e9ff11e8604b69" /><Relationship Type="http://schemas.openxmlformats.org/officeDocument/2006/relationships/slideLayout" Target="/ppt/slideLayouts/slideLayout2.xml" Id="Reaade86eb9c54b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de86eb9c54b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51d7c4ce940c1" /><Relationship Type="http://schemas.openxmlformats.org/officeDocument/2006/relationships/notesSlide" Target="/ppt/notesSlides/notesSlide1.xml" Id="R3e82097a172d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8724baef9e440d" /><Relationship Type="http://schemas.openxmlformats.org/officeDocument/2006/relationships/notesSlide" Target="/ppt/notesSlides/notesSlide2.xml" Id="R0cfe91255864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b8d9580434520" /><Relationship Type="http://schemas.openxmlformats.org/officeDocument/2006/relationships/notesSlide" Target="/ppt/notesSlides/notesSlide3.xml" Id="Radcba3595e544f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2cccc457864a5c" /><Relationship Type="http://schemas.openxmlformats.org/officeDocument/2006/relationships/notesSlide" Target="/ppt/notesSlides/notesSlide4.xml" Id="R5d15d8b0770845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e731f846954d41" /><Relationship Type="http://schemas.openxmlformats.org/officeDocument/2006/relationships/notesSlide" Target="/ppt/notesSlides/notesSlide5.xml" Id="R9a4ba06127654a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ef03c17d6422f" /><Relationship Type="http://schemas.openxmlformats.org/officeDocument/2006/relationships/image" Target="/ppt/media/image.png" Id="Rfab5a43757324d1a" /><Relationship Type="http://schemas.openxmlformats.org/officeDocument/2006/relationships/notesSlide" Target="/ppt/notesSlides/notesSlide6.xml" Id="R82c1c2a8da9141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3ee61ebdd14f71" /><Relationship Type="http://schemas.openxmlformats.org/officeDocument/2006/relationships/image" Target="/ppt/media/image2.png" Id="Ref6928a5e5e243b1" /><Relationship Type="http://schemas.openxmlformats.org/officeDocument/2006/relationships/notesSlide" Target="/ppt/notesSlides/notesSlide7.xml" Id="R3e5169b26e9d44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101ec87c564593" /><Relationship Type="http://schemas.openxmlformats.org/officeDocument/2006/relationships/image" Target="/ppt/media/image3.png" Id="R1c80190c09d244cf" /><Relationship Type="http://schemas.openxmlformats.org/officeDocument/2006/relationships/notesSlide" Target="/ppt/notesSlides/notesSlide8.xml" Id="R0299773263dd49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cfa4921d44883" /><Relationship Type="http://schemas.openxmlformats.org/officeDocument/2006/relationships/image" Target="/ppt/media/image4.png" Id="R4f846f73245a4d18" /><Relationship Type="http://schemas.openxmlformats.org/officeDocument/2006/relationships/notesSlide" Target="/ppt/notesSlides/notesSlide9.xml" Id="Ra1ae200ea15048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89e0dcde5c4b5b" /><Relationship Type="http://schemas.openxmlformats.org/officeDocument/2006/relationships/notesSlide" Target="/ppt/notesSlides/notesSlide10.xml" Id="Rb4862b3ab47d4d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57640cd4cd4ca0" /><Relationship Type="http://schemas.openxmlformats.org/officeDocument/2006/relationships/notesSlide" Target="/ppt/notesSlides/notesSlide11.xml" Id="R662d4be8dce34b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0ac34287514c8d" /><Relationship Type="http://schemas.openxmlformats.org/officeDocument/2006/relationships/image" Target="/ppt/media/image5.png" Id="R57dcfb717cd94f28" /><Relationship Type="http://schemas.openxmlformats.org/officeDocument/2006/relationships/notesSlide" Target="/ppt/notesSlides/notesSlide12.xml" Id="R4da04639d5a640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11c330b88462f" /><Relationship Type="http://schemas.openxmlformats.org/officeDocument/2006/relationships/notesSlide" Target="/ppt/notesSlides/notesSlide13.xml" Id="R1008a787062e47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1f250d2ea4c06" /><Relationship Type="http://schemas.openxmlformats.org/officeDocument/2006/relationships/image" Target="/ppt/media/image6.png" Id="R89c497e1da4d4f94" /><Relationship Type="http://schemas.openxmlformats.org/officeDocument/2006/relationships/notesSlide" Target="/ppt/notesSlides/notesSlide14.xml" Id="R390f0754a5e94d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cbaa0e11d7486a" /><Relationship Type="http://schemas.openxmlformats.org/officeDocument/2006/relationships/image" Target="/ppt/media/image7.png" Id="Re90bef0a046443fb" /><Relationship Type="http://schemas.openxmlformats.org/officeDocument/2006/relationships/notesSlide" Target="/ppt/notesSlides/notesSlide15.xml" Id="R2986596a115546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33efea889c43fa" /><Relationship Type="http://schemas.openxmlformats.org/officeDocument/2006/relationships/image" Target="/ppt/media/image8.png" Id="Rdaa2467e67c245dd" /><Relationship Type="http://schemas.openxmlformats.org/officeDocument/2006/relationships/notesSlide" Target="/ppt/notesSlides/notesSlide16.xml" Id="Ra402564e62514b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2ddcae1054293" /><Relationship Type="http://schemas.openxmlformats.org/officeDocument/2006/relationships/notesSlide" Target="/ppt/notesSlides/notesSlide17.xml" Id="R40c4e408777442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ceae3223514778" /><Relationship Type="http://schemas.openxmlformats.org/officeDocument/2006/relationships/notesSlide" Target="/ppt/notesSlides/notesSlide18.xml" Id="Rce42ad59741349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f14ee7043a41b5" /><Relationship Type="http://schemas.openxmlformats.org/officeDocument/2006/relationships/notesSlide" Target="/ppt/notesSlides/notesSlide19.xml" Id="R24007701744346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9beba8ee8d4f5f" /><Relationship Type="http://schemas.openxmlformats.org/officeDocument/2006/relationships/notesSlide" Target="/ppt/notesSlides/notesSlide20.xml" Id="Rd656f1113a8f4b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aca59b7a2e4ebf" /><Relationship Type="http://schemas.openxmlformats.org/officeDocument/2006/relationships/notesSlide" Target="/ppt/notesSlides/notesSlide21.xml" Id="R61e0adfa84134e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4d92f3bd14ef0" /><Relationship Type="http://schemas.openxmlformats.org/officeDocument/2006/relationships/notesSlide" Target="/ppt/notesSlides/notesSlide22.xml" Id="Rda91c3a4cbbe41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d01e1f7254985" /><Relationship Type="http://schemas.openxmlformats.org/officeDocument/2006/relationships/notesSlide" Target="/ppt/notesSlides/notesSlide23.xml" Id="Rd0f1b500e6a245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ED0E861-E3E8-49DF-B530-7F9AC9D4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379CE5-F0B5-40E4-B249-FFAF7A8C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2026 · 10 · 09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8379343-1DAA-4925-BD48-994AA444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量化选股项目阶段汇报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29DAC9-1309-457D-8B02-879A7A1C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4ABDE32-7031-4C95-B679-58BB5AD6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7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因子数量、数据时点与交易执行的扩展实验</a:t>
            </a:r>
          </a:p>
        </p:txBody>
      </p:sp>
      <p:sp>
        <p:nvSpPr>
          <p:cNvPr id="6" name="cover-line0">
            <a:extLst xmlns:a="http://schemas.openxmlformats.org/drawingml/2006/main">
              <a:ext uri="{FF2B5EF4-FFF2-40B4-BE49-F238E27FC236}">
                <a16:creationId xmlns:a16="http://schemas.microsoft.com/office/drawing/2014/main" id="{21B31D41-983A-48EB-A383-D63AB3E3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围绕老师九项建议，报告已完成工作、效果与剩余证据</a:t>
            </a:r>
          </a:p>
        </p:txBody>
      </p:sp>
      <p:sp>
        <p:nvSpPr>
          <p:cNvPr id="7" name="cover-line1">
            <a:extLst xmlns:a="http://schemas.openxmlformats.org/drawingml/2006/main">
              <a:ext uri="{FF2B5EF4-FFF2-40B4-BE49-F238E27FC236}">
                <a16:creationId xmlns:a16="http://schemas.microsoft.com/office/drawing/2014/main" id="{0E7F031F-F187-439B-AB11-39684F51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数据终检：10月8日23:59｜研究汇报，未进行真实交易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22FD5C0-53CA-4A46-ABCA-8E2897F1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EF5A1B2-D362-48F5-B0C7-44E7085E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实验代码与产物：tools/research_20261008/；training_runs/teacher9_20261008/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7049CE-C7B3-4B32-B7D4-4C3F696B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01 / 23</a:t>
            </a:r>
          </a:p>
        </p:txBody>
      </p:sp>
    </p:spTree>
    <p:extLst>
      <p:ext uri="{BB962C8B-B14F-4D97-AF65-F5344CB8AC3E}">
        <p14:creationId xmlns:p14="http://schemas.microsoft.com/office/powerpoint/2010/main" val="1256572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DA7773-D1CC-46BB-88BD-0F3C41CC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180186-BC25-468F-B827-69917092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研究进展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8EDC2D8-7DED-40CE-919D-6DBCCC76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本轮把原来的待办变成了可核对的实验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478C6A-91F7-46CD-B45F-C01047B7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section-label0">
            <a:extLst xmlns:a="http://schemas.openxmlformats.org/drawingml/2006/main">
              <a:ext uri="{FF2B5EF4-FFF2-40B4-BE49-F238E27FC236}">
                <a16:creationId xmlns:a16="http://schemas.microsoft.com/office/drawing/2014/main" id="{268809E7-4D8A-4A61-ADBC-DF014DBA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数量与模型</a:t>
            </a:r>
          </a:p>
        </p:txBody>
      </p:sp>
      <p:sp>
        <p:nvSpPr>
          <p:cNvPr id="6" name="section-body0">
            <a:extLst xmlns:a="http://schemas.openxmlformats.org/drawingml/2006/main">
              <a:ext uri="{FF2B5EF4-FFF2-40B4-BE49-F238E27FC236}">
                <a16:creationId xmlns:a16="http://schemas.microsoft.com/office/drawing/2014/main" id="{A18B7959-FA42-417F-9272-29DFB961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20 / 40 / 60 / 80 / 100个因子；每季度由过去验证成绩选择数量。</a:t>
            </a:r>
          </a:p>
        </p:txBody>
      </p:sp>
      <p:sp>
        <p:nvSpPr>
          <p:cNvPr id="7" name="section-label1">
            <a:extLst xmlns:a="http://schemas.openxmlformats.org/drawingml/2006/main">
              <a:ext uri="{FF2B5EF4-FFF2-40B4-BE49-F238E27FC236}">
                <a16:creationId xmlns:a16="http://schemas.microsoft.com/office/drawing/2014/main" id="{9F86AF98-9137-48EB-A788-9C8362B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数据与口径</a:t>
            </a:r>
          </a:p>
        </p:txBody>
      </p:sp>
      <p:sp>
        <p:nvSpPr>
          <p:cNvPr id="8" name="section-body1">
            <a:extLst xmlns:a="http://schemas.openxmlformats.org/drawingml/2006/main">
              <a:ext uri="{FF2B5EF4-FFF2-40B4-BE49-F238E27FC236}">
                <a16:creationId xmlns:a16="http://schemas.microsoft.com/office/drawing/2014/main" id="{A0E353C6-59E0-4645-991E-0A625DC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新因子库、分红、比例后复权进入实验；增加2日延迟、股本与成本对照。</a:t>
            </a:r>
          </a:p>
        </p:txBody>
      </p:sp>
      <p:sp>
        <p:nvSpPr>
          <p:cNvPr id="9" name="section-label2">
            <a:extLst xmlns:a="http://schemas.openxmlformats.org/drawingml/2006/main">
              <a:ext uri="{FF2B5EF4-FFF2-40B4-BE49-F238E27FC236}">
                <a16:creationId xmlns:a16="http://schemas.microsoft.com/office/drawing/2014/main" id="{72DD53E1-83D8-4967-9FAF-2736DCF5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执行与迁移</a:t>
            </a:r>
          </a:p>
        </p:txBody>
      </p:sp>
      <p:sp>
        <p:nvSpPr>
          <p:cNvPr id="10" name="section-body2">
            <a:extLst xmlns:a="http://schemas.openxmlformats.org/drawingml/2006/main">
              <a:ext uri="{FF2B5EF4-FFF2-40B4-BE49-F238E27FC236}">
                <a16:creationId xmlns:a16="http://schemas.microsoft.com/office/drawing/2014/main" id="{A80766C3-C9A6-404B-A0A7-CCE4C020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两段历史的连续分钟资金账户；496只来源股票的沪深Alpha101扩展。</a:t>
            </a:r>
          </a:p>
        </p:txBody>
      </p:sp>
      <p:sp>
        <p:nvSpPr>
          <p:cNvPr id="1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8E6953F-C427-438F-8CD4-5732FA54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先推送旧成果（3407076），再扩展；旧实验结果保持冻结。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C45170D-8C32-4B46-9836-519BA90F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842904A-0EB6-4A2D-BAE4-F415DE2D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extension_protocol.json；extension_results.csv；new_data_extension_summary.json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5FFC22-AB09-4919-B36E-2DE8E93D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02 / 23</a:t>
            </a:r>
          </a:p>
        </p:txBody>
      </p:sp>
    </p:spTree>
    <p:extLst>
      <p:ext uri="{BB962C8B-B14F-4D97-AF65-F5344CB8AC3E}">
        <p14:creationId xmlns:p14="http://schemas.microsoft.com/office/powerpoint/2010/main" val="1381367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13BA04-DA4D-4664-B545-55018DA9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4B1FB7-0E55-48A9-B45E-A0B7A935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研究框架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5963D57-13D8-4DA7-8A27-DD646AEB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流程已形成闭环，但每一环仍有明确假设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4E4D316-894D-4B23-B570-B9B3821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step-number0">
            <a:extLst xmlns:a="http://schemas.openxmlformats.org/drawingml/2006/main">
              <a:ext uri="{FF2B5EF4-FFF2-40B4-BE49-F238E27FC236}">
                <a16:creationId xmlns:a16="http://schemas.microsoft.com/office/drawing/2014/main" id="{8AEE6987-EF11-4F00-AAF7-53FA59A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581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ep-title0">
            <a:extLst xmlns:a="http://schemas.openxmlformats.org/drawingml/2006/main">
              <a:ext uri="{FF2B5EF4-FFF2-40B4-BE49-F238E27FC236}">
                <a16:creationId xmlns:a16="http://schemas.microsoft.com/office/drawing/2014/main" id="{B7DC2705-7343-4CB2-94FF-91F9FF8B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7" name="step-detail0">
            <a:extLst xmlns:a="http://schemas.openxmlformats.org/drawingml/2006/main">
              <a:ext uri="{FF2B5EF4-FFF2-40B4-BE49-F238E27FC236}">
                <a16:creationId xmlns:a16="http://schemas.microsoft.com/office/drawing/2014/main" id="{C11C2DDB-9906-4CBA-9335-38A604CA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6859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行情、因子、事件</a:t>
            </a:r>
          </a:p>
        </p:txBody>
      </p:sp>
      <p:sp>
        <p:nvSpPr>
          <p:cNvPr id="8" name="step-base0">
            <a:extLst xmlns:a="http://schemas.openxmlformats.org/drawingml/2006/main">
              <a:ext uri="{FF2B5EF4-FFF2-40B4-BE49-F238E27FC236}">
                <a16:creationId xmlns:a16="http://schemas.microsoft.com/office/drawing/2014/main" id="{DAF9F4EA-CE64-4900-BFF8-A27B5AA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609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9" name="step-number1">
            <a:extLst xmlns:a="http://schemas.openxmlformats.org/drawingml/2006/main">
              <a:ext uri="{FF2B5EF4-FFF2-40B4-BE49-F238E27FC236}">
                <a16:creationId xmlns:a16="http://schemas.microsoft.com/office/drawing/2014/main" id="{580BBFDC-9263-4501-BB11-B1D5E825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1581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ep-title1">
            <a:extLst xmlns:a="http://schemas.openxmlformats.org/drawingml/2006/main">
              <a:ext uri="{FF2B5EF4-FFF2-40B4-BE49-F238E27FC236}">
                <a16:creationId xmlns:a16="http://schemas.microsoft.com/office/drawing/2014/main" id="{325B2B4B-0869-45D7-9441-ECE7801C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14575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股票池</a:t>
            </a:r>
          </a:p>
        </p:txBody>
      </p:sp>
      <p:sp>
        <p:nvSpPr>
          <p:cNvPr id="11" name="step-detail1">
            <a:extLst xmlns:a="http://schemas.openxmlformats.org/drawingml/2006/main">
              <a:ext uri="{FF2B5EF4-FFF2-40B4-BE49-F238E27FC236}">
                <a16:creationId xmlns:a16="http://schemas.microsoft.com/office/drawing/2014/main" id="{34BB03B8-4717-4B67-B1D9-5A5AC319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6859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每日活跃Top100</a:t>
            </a:r>
          </a:p>
        </p:txBody>
      </p:sp>
      <p:sp>
        <p:nvSpPr>
          <p:cNvPr id="12" name="step-base1">
            <a:extLst xmlns:a="http://schemas.openxmlformats.org/drawingml/2006/main">
              <a:ext uri="{FF2B5EF4-FFF2-40B4-BE49-F238E27FC236}">
                <a16:creationId xmlns:a16="http://schemas.microsoft.com/office/drawing/2014/main" id="{9FC99C73-A4F2-4854-893D-90E3CE6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1609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step-number2">
            <a:extLst xmlns:a="http://schemas.openxmlformats.org/drawingml/2006/main">
              <a:ext uri="{FF2B5EF4-FFF2-40B4-BE49-F238E27FC236}">
                <a16:creationId xmlns:a16="http://schemas.microsoft.com/office/drawing/2014/main" id="{BD03B568-EABA-4BEC-A5DB-89B8162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1581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tep-title2">
            <a:extLst xmlns:a="http://schemas.openxmlformats.org/drawingml/2006/main">
              <a:ext uri="{FF2B5EF4-FFF2-40B4-BE49-F238E27FC236}">
                <a16:creationId xmlns:a16="http://schemas.microsoft.com/office/drawing/2014/main" id="{C861A7BF-AB2B-4A94-8832-DE8F7CB0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14575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学习</a:t>
            </a:r>
          </a:p>
        </p:txBody>
      </p:sp>
      <p:sp>
        <p:nvSpPr>
          <p:cNvPr id="15" name="step-detail2">
            <a:extLst xmlns:a="http://schemas.openxmlformats.org/drawingml/2006/main">
              <a:ext uri="{FF2B5EF4-FFF2-40B4-BE49-F238E27FC236}">
                <a16:creationId xmlns:a16="http://schemas.microsoft.com/office/drawing/2014/main" id="{84E0C966-4ADB-41C2-A695-AC8A3027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16859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过去训练与验证</a:t>
            </a:r>
          </a:p>
        </p:txBody>
      </p:sp>
      <p:sp>
        <p:nvSpPr>
          <p:cNvPr id="16" name="step-base2">
            <a:extLst xmlns:a="http://schemas.openxmlformats.org/drawingml/2006/main">
              <a:ext uri="{FF2B5EF4-FFF2-40B4-BE49-F238E27FC236}">
                <a16:creationId xmlns:a16="http://schemas.microsoft.com/office/drawing/2014/main" id="{D4BD52E5-6B49-420C-A2B8-43EE37FA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1609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step-number3">
            <a:extLst xmlns:a="http://schemas.openxmlformats.org/drawingml/2006/main">
              <a:ext uri="{FF2B5EF4-FFF2-40B4-BE49-F238E27FC236}">
                <a16:creationId xmlns:a16="http://schemas.microsoft.com/office/drawing/2014/main" id="{A1F640A6-99FC-47E1-AA31-0452E397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1581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step-title3">
            <a:extLst xmlns:a="http://schemas.openxmlformats.org/drawingml/2006/main">
              <a:ext uri="{FF2B5EF4-FFF2-40B4-BE49-F238E27FC236}">
                <a16:creationId xmlns:a16="http://schemas.microsoft.com/office/drawing/2014/main" id="{F4476ECF-4DFC-46A1-9A5E-F536AFAD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14575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19" name="step-detail3">
            <a:extLst xmlns:a="http://schemas.openxmlformats.org/drawingml/2006/main">
              <a:ext uri="{FF2B5EF4-FFF2-40B4-BE49-F238E27FC236}">
                <a16:creationId xmlns:a16="http://schemas.microsoft.com/office/drawing/2014/main" id="{45E7384B-562C-4654-BF9D-33A1E8F4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6859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给股票排次序</a:t>
            </a:r>
          </a:p>
        </p:txBody>
      </p:sp>
      <p:sp>
        <p:nvSpPr>
          <p:cNvPr id="20" name="step-base3">
            <a:extLst xmlns:a="http://schemas.openxmlformats.org/drawingml/2006/main">
              <a:ext uri="{FF2B5EF4-FFF2-40B4-BE49-F238E27FC236}">
                <a16:creationId xmlns:a16="http://schemas.microsoft.com/office/drawing/2014/main" id="{FA76998E-BF19-40AA-B206-4E8116A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1609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1" name="step-number4">
            <a:extLst xmlns:a="http://schemas.openxmlformats.org/drawingml/2006/main">
              <a:ext uri="{FF2B5EF4-FFF2-40B4-BE49-F238E27FC236}">
                <a16:creationId xmlns:a16="http://schemas.microsoft.com/office/drawing/2014/main" id="{D034A3FB-D9EC-486F-A3E3-6AF868AE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1581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step-title4">
            <a:extLst xmlns:a="http://schemas.openxmlformats.org/drawingml/2006/main">
              <a:ext uri="{FF2B5EF4-FFF2-40B4-BE49-F238E27FC236}">
                <a16:creationId xmlns:a16="http://schemas.microsoft.com/office/drawing/2014/main" id="{E1FCC5EF-56EC-415D-A653-425284F7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14575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3" name="step-detail4">
            <a:extLst xmlns:a="http://schemas.openxmlformats.org/drawingml/2006/main">
              <a:ext uri="{FF2B5EF4-FFF2-40B4-BE49-F238E27FC236}">
                <a16:creationId xmlns:a16="http://schemas.microsoft.com/office/drawing/2014/main" id="{BCA5BAEE-52E7-42AC-9681-E9FFB6FF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6859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费用、容量、延期</a:t>
            </a:r>
          </a:p>
        </p:txBody>
      </p:sp>
      <p:sp>
        <p:nvSpPr>
          <p:cNvPr id="24" name="step-base4">
            <a:extLst xmlns:a="http://schemas.openxmlformats.org/drawingml/2006/main">
              <a:ext uri="{FF2B5EF4-FFF2-40B4-BE49-F238E27FC236}">
                <a16:creationId xmlns:a16="http://schemas.microsoft.com/office/drawing/2014/main" id="{79076B62-ED97-4567-864F-C8081ED5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1609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5" name="step-number5">
            <a:extLst xmlns:a="http://schemas.openxmlformats.org/drawingml/2006/main">
              <a:ext uri="{FF2B5EF4-FFF2-40B4-BE49-F238E27FC236}">
                <a16:creationId xmlns:a16="http://schemas.microsoft.com/office/drawing/2014/main" id="{B57DF813-3C5E-4846-ACFF-7CCB469E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52600"/>
            <a:ext cx="1581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step-title5">
            <a:extLst xmlns:a="http://schemas.openxmlformats.org/drawingml/2006/main">
              <a:ext uri="{FF2B5EF4-FFF2-40B4-BE49-F238E27FC236}">
                <a16:creationId xmlns:a16="http://schemas.microsoft.com/office/drawing/2014/main" id="{F36D3D61-AB07-4556-B49B-996616E8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14575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核对</a:t>
            </a:r>
          </a:p>
        </p:txBody>
      </p:sp>
      <p:sp>
        <p:nvSpPr>
          <p:cNvPr id="27" name="step-detail5">
            <a:extLst xmlns:a="http://schemas.openxmlformats.org/drawingml/2006/main">
              <a:ext uri="{FF2B5EF4-FFF2-40B4-BE49-F238E27FC236}">
                <a16:creationId xmlns:a16="http://schemas.microsoft.com/office/drawing/2014/main" id="{FA7AB207-31DD-492D-B314-307144D2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16859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净值、回撤、基准</a:t>
            </a:r>
          </a:p>
        </p:txBody>
      </p:sp>
      <p:sp>
        <p:nvSpPr>
          <p:cNvPr id="28" name="step-base5">
            <a:extLst xmlns:a="http://schemas.openxmlformats.org/drawingml/2006/main">
              <a:ext uri="{FF2B5EF4-FFF2-40B4-BE49-F238E27FC236}">
                <a16:creationId xmlns:a16="http://schemas.microsoft.com/office/drawing/2014/main" id="{3F14D81A-1EE2-4458-BC53-5733D42D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33800"/>
            <a:ext cx="1609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9" name="rule-text0">
            <a:extLst xmlns:a="http://schemas.openxmlformats.org/drawingml/2006/main">
              <a:ext uri="{FF2B5EF4-FFF2-40B4-BE49-F238E27FC236}">
                <a16:creationId xmlns:a16="http://schemas.microsoft.com/office/drawing/2014/main" id="{70F579D5-2DFD-4ABA-80A0-4C26E89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5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预测目标：t日收盘后评分，t+1开盘至t+5收盘的相对表现。</a:t>
            </a:r>
          </a:p>
        </p:txBody>
      </p:sp>
      <p:sp>
        <p:nvSpPr>
          <p:cNvPr id="30" name="rule-text1">
            <a:extLst xmlns:a="http://schemas.openxmlformats.org/drawingml/2006/main">
              <a:ext uri="{FF2B5EF4-FFF2-40B4-BE49-F238E27FC236}">
                <a16:creationId xmlns:a16="http://schemas.microsoft.com/office/drawing/2014/main" id="{25EC44B7-F1BE-4267-9A2B-57DB7C0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5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新批次最多使用20%资产；单股10%；日成交额参与约束1%。</a:t>
            </a:r>
          </a:p>
        </p:txBody>
      </p:sp>
      <p:sp>
        <p:nvSpPr>
          <p:cNvPr id="31" name="rule-text2">
            <a:extLst xmlns:a="http://schemas.openxmlformats.org/drawingml/2006/main">
              <a:ext uri="{FF2B5EF4-FFF2-40B4-BE49-F238E27FC236}">
                <a16:creationId xmlns:a16="http://schemas.microsoft.com/office/drawing/2014/main" id="{478B6C6C-7AD8-43EE-AD98-AB680039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主比较采用原始价格账户；分红和复权实验分别标注口径。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5507A0B-C11B-45E3-8AB5-1C3AF1DA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3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C97E19F-C1FD-4740-A375-1A70CF1A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prepare.py / train.py / accounts.py；extension_protocol.json</a:t>
            </a:r>
          </a:p>
        </p:txBody>
      </p:sp>
      <p:sp>
        <p:nvSpPr>
          <p:cNvPr id="3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19DB62-EADE-4A88-8876-698248E6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03 / 23</a:t>
            </a:r>
          </a:p>
        </p:txBody>
      </p:sp>
    </p:spTree>
    <p:extLst>
      <p:ext uri="{BB962C8B-B14F-4D97-AF65-F5344CB8AC3E}">
        <p14:creationId xmlns:p14="http://schemas.microsoft.com/office/powerpoint/2010/main" val="132423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466C5F-429B-4D7D-BEB0-83AB1A13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C54D75-305F-4596-A135-3441E78C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2C268CB-CF40-43AD-98CC-5CAA17F8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公平比较固定日期与交易规则，选参只看过去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6B6CAC-878B-41E9-92EC-9D0E73E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proof-table-header-fill">
            <a:extLst xmlns:a="http://schemas.openxmlformats.org/drawingml/2006/main">
              <a:ext uri="{FF2B5EF4-FFF2-40B4-BE49-F238E27FC236}">
                <a16:creationId xmlns:a16="http://schemas.microsoft.com/office/drawing/2014/main" id="{AB35D572-04ED-4F35-AE33-F9D03753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6" name="proof-table-h0">
            <a:extLst xmlns:a="http://schemas.openxmlformats.org/drawingml/2006/main">
              <a:ext uri="{FF2B5EF4-FFF2-40B4-BE49-F238E27FC236}">
                <a16:creationId xmlns:a16="http://schemas.microsoft.com/office/drawing/2014/main" id="{F03C2D54-BDD0-47E3-9E68-7FA0032A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21812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7" name="proof-table-h1">
            <a:extLst xmlns:a="http://schemas.openxmlformats.org/drawingml/2006/main">
              <a:ext uri="{FF2B5EF4-FFF2-40B4-BE49-F238E27FC236}">
                <a16:creationId xmlns:a16="http://schemas.microsoft.com/office/drawing/2014/main" id="{9F94AD05-6385-4213-9511-EFC7CA83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704975"/>
            <a:ext cx="83343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本轮固定规则</a:t>
            </a:r>
          </a:p>
        </p:txBody>
      </p:sp>
      <p:sp>
        <p:nvSpPr>
          <p:cNvPr id="8" name="proof-table-r0c0">
            <a:extLst xmlns:a="http://schemas.openxmlformats.org/drawingml/2006/main">
              <a:ext uri="{FF2B5EF4-FFF2-40B4-BE49-F238E27FC236}">
                <a16:creationId xmlns:a16="http://schemas.microsoft.com/office/drawing/2014/main" id="{0990C389-89EA-41F5-9217-5A1C2ED1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18122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北交所主窗口</a:t>
            </a:r>
          </a:p>
        </p:txBody>
      </p:sp>
      <p:sp>
        <p:nvSpPr>
          <p:cNvPr id="9" name="proof-table-r0c1">
            <a:extLst xmlns:a="http://schemas.openxmlformats.org/drawingml/2006/main">
              <a:ext uri="{FF2B5EF4-FFF2-40B4-BE49-F238E27FC236}">
                <a16:creationId xmlns:a16="http://schemas.microsoft.com/office/drawing/2014/main" id="{DD8E4435-DBAE-411D-A9DA-1FF674D8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238375"/>
            <a:ext cx="833437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2024-10-08—2026-09-29；8个季度；初始100万元</a:t>
            </a:r>
          </a:p>
        </p:txBody>
      </p:sp>
      <p:sp>
        <p:nvSpPr>
          <p:cNvPr id="10" name="proof-table-row0">
            <a:extLst xmlns:a="http://schemas.openxmlformats.org/drawingml/2006/main">
              <a:ext uri="{FF2B5EF4-FFF2-40B4-BE49-F238E27FC236}">
                <a16:creationId xmlns:a16="http://schemas.microsoft.com/office/drawing/2014/main" id="{BB49A524-D1AC-4889-AFC2-03BB33A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1" name="proof-table-r1c0">
            <a:extLst xmlns:a="http://schemas.openxmlformats.org/drawingml/2006/main">
              <a:ext uri="{FF2B5EF4-FFF2-40B4-BE49-F238E27FC236}">
                <a16:creationId xmlns:a16="http://schemas.microsoft.com/office/drawing/2014/main" id="{F7C25E7B-2ACF-4FC7-B88F-57CDD372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18122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候选与去重</a:t>
            </a:r>
          </a:p>
        </p:txBody>
      </p:sp>
      <p:sp>
        <p:nvSpPr>
          <p:cNvPr id="12" name="proof-table-r1c1">
            <a:extLst xmlns:a="http://schemas.openxmlformats.org/drawingml/2006/main">
              <a:ext uri="{FF2B5EF4-FFF2-40B4-BE49-F238E27FC236}">
                <a16:creationId xmlns:a16="http://schemas.microsoft.com/office/drawing/2014/main" id="{2404FD55-388C-41AF-A6D6-CDE0D360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57500"/>
            <a:ext cx="833437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304个候选；覆盖率≥70%；训练期按日Spearman去重，阈值0.85</a:t>
            </a:r>
          </a:p>
        </p:txBody>
      </p:sp>
      <p:sp>
        <p:nvSpPr>
          <p:cNvPr id="13" name="proof-table-row1">
            <a:extLst xmlns:a="http://schemas.openxmlformats.org/drawingml/2006/main">
              <a:ext uri="{FF2B5EF4-FFF2-40B4-BE49-F238E27FC236}">
                <a16:creationId xmlns:a16="http://schemas.microsoft.com/office/drawing/2014/main" id="{151A9602-D976-4C60-9415-8B63658C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4" name="proof-table-r2c0">
            <a:extLst xmlns:a="http://schemas.openxmlformats.org/drawingml/2006/main">
              <a:ext uri="{FF2B5EF4-FFF2-40B4-BE49-F238E27FC236}">
                <a16:creationId xmlns:a16="http://schemas.microsoft.com/office/drawing/2014/main" id="{E87AD867-3A4F-4E40-A42A-B647A195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18122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数量组</a:t>
            </a:r>
          </a:p>
        </p:txBody>
      </p:sp>
      <p:sp>
        <p:nvSpPr>
          <p:cNvPr id="15" name="proof-table-r2c1">
            <a:extLst xmlns:a="http://schemas.openxmlformats.org/drawingml/2006/main">
              <a:ext uri="{FF2B5EF4-FFF2-40B4-BE49-F238E27FC236}">
                <a16:creationId xmlns:a16="http://schemas.microsoft.com/office/drawing/2014/main" id="{C7062768-BCE0-43AF-8D7E-68108895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476625"/>
            <a:ext cx="833437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20 / 40 / 60 / 80 / 100；每轮去重后217—223个，五档均选足</a:t>
            </a:r>
          </a:p>
        </p:txBody>
      </p:sp>
      <p:sp>
        <p:nvSpPr>
          <p:cNvPr id="16" name="proof-table-row2">
            <a:extLst xmlns:a="http://schemas.openxmlformats.org/drawingml/2006/main">
              <a:ext uri="{FF2B5EF4-FFF2-40B4-BE49-F238E27FC236}">
                <a16:creationId xmlns:a16="http://schemas.microsoft.com/office/drawing/2014/main" id="{6F59C749-829D-4EE2-BB81-B48B9B6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proof-table-r3c0">
            <a:extLst xmlns:a="http://schemas.openxmlformats.org/drawingml/2006/main">
              <a:ext uri="{FF2B5EF4-FFF2-40B4-BE49-F238E27FC236}">
                <a16:creationId xmlns:a16="http://schemas.microsoft.com/office/drawing/2014/main" id="{829DB115-6B76-4014-873F-52DBF29F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18122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训练与验证</a:t>
            </a:r>
          </a:p>
        </p:txBody>
      </p:sp>
      <p:sp>
        <p:nvSpPr>
          <p:cNvPr id="18" name="proof-table-r3c1">
            <a:extLst xmlns:a="http://schemas.openxmlformats.org/drawingml/2006/main">
              <a:ext uri="{FF2B5EF4-FFF2-40B4-BE49-F238E27FC236}">
                <a16:creationId xmlns:a16="http://schemas.microsoft.com/office/drawing/2014/main" id="{D101F812-7DB1-4B17-B1DD-B07FBB92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095750"/>
            <a:ext cx="833437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约504日训练 + 126日验证；清除5日答案跨界的记录</a:t>
            </a:r>
          </a:p>
        </p:txBody>
      </p:sp>
      <p:sp>
        <p:nvSpPr>
          <p:cNvPr id="19" name="proof-table-row3">
            <a:extLst xmlns:a="http://schemas.openxmlformats.org/drawingml/2006/main">
              <a:ext uri="{FF2B5EF4-FFF2-40B4-BE49-F238E27FC236}">
                <a16:creationId xmlns:a16="http://schemas.microsoft.com/office/drawing/2014/main" id="{989A9213-15B5-498A-A990-7171B554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0" name="proof-table-r4c0">
            <a:extLst xmlns:a="http://schemas.openxmlformats.org/drawingml/2006/main">
              <a:ext uri="{FF2B5EF4-FFF2-40B4-BE49-F238E27FC236}">
                <a16:creationId xmlns:a16="http://schemas.microsoft.com/office/drawing/2014/main" id="{1790E1BA-2BC7-44D5-9F64-F8B17D8F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218122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交易成本</a:t>
            </a:r>
          </a:p>
        </p:txBody>
      </p:sp>
      <p:sp>
        <p:nvSpPr>
          <p:cNvPr id="21" name="proof-table-r4c1">
            <a:extLst xmlns:a="http://schemas.openxmlformats.org/drawingml/2006/main">
              <a:ext uri="{FF2B5EF4-FFF2-40B4-BE49-F238E27FC236}">
                <a16:creationId xmlns:a16="http://schemas.microsoft.com/office/drawing/2014/main" id="{66D779C4-0CB1-4CBF-89C8-3451609A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14875"/>
            <a:ext cx="833437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主比较单边15基点；另测5与30基点</a:t>
            </a:r>
          </a:p>
        </p:txBody>
      </p:sp>
      <p:sp>
        <p:nvSpPr>
          <p:cNvPr id="22" name="proof-table-row4">
            <a:extLst xmlns:a="http://schemas.openxmlformats.org/drawingml/2006/main">
              <a:ext uri="{FF2B5EF4-FFF2-40B4-BE49-F238E27FC236}">
                <a16:creationId xmlns:a16="http://schemas.microsoft.com/office/drawing/2014/main" id="{653E5B4E-2376-4E6C-A139-D01F909D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3" name="proof-table-r5c0">
            <a:extLst xmlns:a="http://schemas.openxmlformats.org/drawingml/2006/main">
              <a:ext uri="{FF2B5EF4-FFF2-40B4-BE49-F238E27FC236}">
                <a16:creationId xmlns:a16="http://schemas.microsoft.com/office/drawing/2014/main" id="{B9F4340B-6BAD-4D27-A6E4-A5A16A71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18122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研究性质</a:t>
            </a:r>
          </a:p>
        </p:txBody>
      </p:sp>
      <p:sp>
        <p:nvSpPr>
          <p:cNvPr id="24" name="proof-table-r5c1">
            <a:extLst xmlns:a="http://schemas.openxmlformats.org/drawingml/2006/main">
              <a:ext uri="{FF2B5EF4-FFF2-40B4-BE49-F238E27FC236}">
                <a16:creationId xmlns:a16="http://schemas.microsoft.com/office/drawing/2014/main" id="{9FABF3C6-B077-4FB8-BBD6-BEDB62F3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34000"/>
            <a:ext cx="833437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已研究过区间的回顾扩展；不是全新未观察测试</a:t>
            </a:r>
          </a:p>
        </p:txBody>
      </p:sp>
      <p:sp>
        <p:nvSpPr>
          <p:cNvPr id="25" name="proof-table-row5">
            <a:extLst xmlns:a="http://schemas.openxmlformats.org/drawingml/2006/main">
              <a:ext uri="{FF2B5EF4-FFF2-40B4-BE49-F238E27FC236}">
                <a16:creationId xmlns:a16="http://schemas.microsoft.com/office/drawing/2014/main" id="{C5083670-F0F9-4426-9526-E300CF9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AD6765-DD9A-4092-AE70-82704FBE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F487D09-09C8-43AC-B6C9-42FD77C6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extension_protocol.json；folds.json；verification.json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C0BFB4-775F-474E-B5C1-C7976B10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04 / 23</a:t>
            </a:r>
          </a:p>
        </p:txBody>
      </p:sp>
    </p:spTree>
    <p:extLst>
      <p:ext uri="{BB962C8B-B14F-4D97-AF65-F5344CB8AC3E}">
        <p14:creationId xmlns:p14="http://schemas.microsoft.com/office/powerpoint/2010/main" val="438032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4D4A36-C9DA-458A-8290-41725C0A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6B145A-BAF3-4A18-9D7D-A8DF00B4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数据更新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661F88B-5448-4449-A610-529E086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服务器新增资料已进入研究，分钟上游仍有缺口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C4CD53-058D-4137-B725-6479B329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proof-table-header-fill">
            <a:extLst xmlns:a="http://schemas.openxmlformats.org/drawingml/2006/main">
              <a:ext uri="{FF2B5EF4-FFF2-40B4-BE49-F238E27FC236}">
                <a16:creationId xmlns:a16="http://schemas.microsoft.com/office/drawing/2014/main" id="{CC17800E-F76D-4114-B214-8BD16C97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6" name="proof-table-h0">
            <a:extLst xmlns:a="http://schemas.openxmlformats.org/drawingml/2006/main">
              <a:ext uri="{FF2B5EF4-FFF2-40B4-BE49-F238E27FC236}">
                <a16:creationId xmlns:a16="http://schemas.microsoft.com/office/drawing/2014/main" id="{6D6CACF4-8D7C-41B6-A5E8-4142FC54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17430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7" name="proof-table-h1">
            <a:extLst xmlns:a="http://schemas.openxmlformats.org/drawingml/2006/main">
              <a:ext uri="{FF2B5EF4-FFF2-40B4-BE49-F238E27FC236}">
                <a16:creationId xmlns:a16="http://schemas.microsoft.com/office/drawing/2014/main" id="{43170EEA-E08A-461A-B290-B9899931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704975"/>
            <a:ext cx="55340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10月8日晚间状态</a:t>
            </a:r>
          </a:p>
        </p:txBody>
      </p:sp>
      <p:sp>
        <p:nvSpPr>
          <p:cNvPr id="8" name="proof-table-h2">
            <a:extLst xmlns:a="http://schemas.openxmlformats.org/drawingml/2006/main">
              <a:ext uri="{FF2B5EF4-FFF2-40B4-BE49-F238E27FC236}">
                <a16:creationId xmlns:a16="http://schemas.microsoft.com/office/drawing/2014/main" id="{D137382F-F6CC-45A6-A4E5-8B676673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04975"/>
            <a:ext cx="30099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本轮用途</a:t>
            </a:r>
          </a:p>
        </p:txBody>
      </p:sp>
      <p:sp>
        <p:nvSpPr>
          <p:cNvPr id="9" name="proof-table-r0c0">
            <a:extLst xmlns:a="http://schemas.openxmlformats.org/drawingml/2006/main">
              <a:ext uri="{FF2B5EF4-FFF2-40B4-BE49-F238E27FC236}">
                <a16:creationId xmlns:a16="http://schemas.microsoft.com/office/drawing/2014/main" id="{0409867C-47AA-4E34-9334-B6478D83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74307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日线 / 指数</a:t>
            </a:r>
          </a:p>
        </p:txBody>
      </p:sp>
      <p:sp>
        <p:nvSpPr>
          <p:cNvPr id="10" name="proof-table-r0c1">
            <a:extLst xmlns:a="http://schemas.openxmlformats.org/drawingml/2006/main">
              <a:ext uri="{FF2B5EF4-FFF2-40B4-BE49-F238E27FC236}">
                <a16:creationId xmlns:a16="http://schemas.microsoft.com/office/drawing/2014/main" id="{8546A36E-0990-4C32-84D0-A787A123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38375"/>
            <a:ext cx="55340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BJ 348只与核查基准到10/8；hfq 348只</a:t>
            </a:r>
          </a:p>
        </p:txBody>
      </p:sp>
      <p:sp>
        <p:nvSpPr>
          <p:cNvPr id="11" name="proof-table-r0c2">
            <a:extLst xmlns:a="http://schemas.openxmlformats.org/drawingml/2006/main">
              <a:ext uri="{FF2B5EF4-FFF2-40B4-BE49-F238E27FC236}">
                <a16:creationId xmlns:a16="http://schemas.microsoft.com/office/drawing/2014/main" id="{035352F5-558C-4104-B794-0269244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30099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延长原账户；复权对照</a:t>
            </a:r>
          </a:p>
        </p:txBody>
      </p:sp>
      <p:sp>
        <p:nvSpPr>
          <p:cNvPr id="12" name="proof-table-row0">
            <a:extLst xmlns:a="http://schemas.openxmlformats.org/drawingml/2006/main">
              <a:ext uri="{FF2B5EF4-FFF2-40B4-BE49-F238E27FC236}">
                <a16:creationId xmlns:a16="http://schemas.microsoft.com/office/drawing/2014/main" id="{7749F766-027C-4F9D-B98A-C0A60965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proof-table-r1c0">
            <a:extLst xmlns:a="http://schemas.openxmlformats.org/drawingml/2006/main">
              <a:ext uri="{FF2B5EF4-FFF2-40B4-BE49-F238E27FC236}">
                <a16:creationId xmlns:a16="http://schemas.microsoft.com/office/drawing/2014/main" id="{748068E5-0FB3-497D-A486-3A07E2C3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74307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因子</a:t>
            </a:r>
          </a:p>
        </p:txBody>
      </p:sp>
      <p:sp>
        <p:nvSpPr>
          <p:cNvPr id="14" name="proof-table-r1c1">
            <a:extLst xmlns:a="http://schemas.openxmlformats.org/drawingml/2006/main">
              <a:ext uri="{FF2B5EF4-FFF2-40B4-BE49-F238E27FC236}">
                <a16:creationId xmlns:a16="http://schemas.microsoft.com/office/drawing/2014/main" id="{C393EAD7-C1B2-4D02-92B1-9DEDC1B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952750"/>
            <a:ext cx="55340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120张表均到10/8；任务120成功 / 0失败</a:t>
            </a:r>
          </a:p>
        </p:txBody>
      </p:sp>
      <p:sp>
        <p:nvSpPr>
          <p:cNvPr id="15" name="proof-table-r1c2">
            <a:extLst xmlns:a="http://schemas.openxmlformats.org/drawingml/2006/main">
              <a:ext uri="{FF2B5EF4-FFF2-40B4-BE49-F238E27FC236}">
                <a16:creationId xmlns:a16="http://schemas.microsoft.com/office/drawing/2014/main" id="{9405192A-7450-4709-9190-86C19087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30099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五档比较；最新冻结模型观察评分</a:t>
            </a:r>
          </a:p>
        </p:txBody>
      </p:sp>
      <p:sp>
        <p:nvSpPr>
          <p:cNvPr id="16" name="proof-table-row1">
            <a:extLst xmlns:a="http://schemas.openxmlformats.org/drawingml/2006/main">
              <a:ext uri="{FF2B5EF4-FFF2-40B4-BE49-F238E27FC236}">
                <a16:creationId xmlns:a16="http://schemas.microsoft.com/office/drawing/2014/main" id="{61C3265D-7D29-47FE-AFE2-F51488CD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proof-table-r2c0">
            <a:extLst xmlns:a="http://schemas.openxmlformats.org/drawingml/2006/main">
              <a:ext uri="{FF2B5EF4-FFF2-40B4-BE49-F238E27FC236}">
                <a16:creationId xmlns:a16="http://schemas.microsoft.com/office/drawing/2014/main" id="{1CEB4220-C9D4-48A6-A41C-D86F6252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74307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分钟</a:t>
            </a:r>
          </a:p>
        </p:txBody>
      </p:sp>
      <p:sp>
        <p:nvSpPr>
          <p:cNvPr id="18" name="proof-table-r2c1">
            <a:extLst xmlns:a="http://schemas.openxmlformats.org/drawingml/2006/main">
              <a:ext uri="{FF2B5EF4-FFF2-40B4-BE49-F238E27FC236}">
                <a16:creationId xmlns:a16="http://schemas.microsoft.com/office/drawing/2014/main" id="{782E4F65-532A-4C38-9A6C-9A002AFE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67125"/>
            <a:ext cx="55340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1184文件，最新9/30；18:45任务新增0</a:t>
            </a:r>
          </a:p>
        </p:txBody>
      </p:sp>
      <p:sp>
        <p:nvSpPr>
          <p:cNvPr id="19" name="proof-table-r2c2">
            <a:extLst xmlns:a="http://schemas.openxmlformats.org/drawingml/2006/main">
              <a:ext uri="{FF2B5EF4-FFF2-40B4-BE49-F238E27FC236}">
                <a16:creationId xmlns:a16="http://schemas.microsoft.com/office/drawing/2014/main" id="{3093CBE5-C3C0-4FBD-ABF4-37D9BB2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30099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补齐9/28—30；用于2026Q3</a:t>
            </a:r>
          </a:p>
        </p:txBody>
      </p:sp>
      <p:sp>
        <p:nvSpPr>
          <p:cNvPr id="20" name="proof-table-row2">
            <a:extLst xmlns:a="http://schemas.openxmlformats.org/drawingml/2006/main">
              <a:ext uri="{FF2B5EF4-FFF2-40B4-BE49-F238E27FC236}">
                <a16:creationId xmlns:a16="http://schemas.microsoft.com/office/drawing/2014/main" id="{177EE0EA-7E0D-45E6-8AEF-A8D3321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1" name="proof-table-r3c0">
            <a:extLst xmlns:a="http://schemas.openxmlformats.org/drawingml/2006/main">
              <a:ext uri="{FF2B5EF4-FFF2-40B4-BE49-F238E27FC236}">
                <a16:creationId xmlns:a16="http://schemas.microsoft.com/office/drawing/2014/main" id="{0C0925D2-03AA-4359-A2C6-D83B7B7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74307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分红</a:t>
            </a:r>
          </a:p>
        </p:txBody>
      </p:sp>
      <p:sp>
        <p:nvSpPr>
          <p:cNvPr id="22" name="proof-table-r3c1">
            <a:extLst xmlns:a="http://schemas.openxmlformats.org/drawingml/2006/main">
              <a:ext uri="{FF2B5EF4-FFF2-40B4-BE49-F238E27FC236}">
                <a16:creationId xmlns:a16="http://schemas.microsoft.com/office/drawing/2014/main" id="{ECF3E71C-DC34-437E-890D-DA13BA7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81500"/>
            <a:ext cx="55340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2187行、315只；有效非未来事件2147</a:t>
            </a:r>
          </a:p>
        </p:txBody>
      </p:sp>
      <p:sp>
        <p:nvSpPr>
          <p:cNvPr id="23" name="proof-table-r3c2">
            <a:extLst xmlns:a="http://schemas.openxmlformats.org/drawingml/2006/main">
              <a:ext uri="{FF2B5EF4-FFF2-40B4-BE49-F238E27FC236}">
                <a16:creationId xmlns:a16="http://schemas.microsoft.com/office/drawing/2014/main" id="{BDA8F32D-5509-46A1-8669-C4C569A9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099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事件核查、记账情景</a:t>
            </a:r>
          </a:p>
        </p:txBody>
      </p:sp>
      <p:sp>
        <p:nvSpPr>
          <p:cNvPr id="24" name="proof-table-row3">
            <a:extLst xmlns:a="http://schemas.openxmlformats.org/drawingml/2006/main">
              <a:ext uri="{FF2B5EF4-FFF2-40B4-BE49-F238E27FC236}">
                <a16:creationId xmlns:a16="http://schemas.microsoft.com/office/drawing/2014/main" id="{03D91808-1B36-449E-8938-C5BB65BF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5" name="proof-table-r4c0">
            <a:extLst xmlns:a="http://schemas.openxmlformats.org/drawingml/2006/main">
              <a:ext uri="{FF2B5EF4-FFF2-40B4-BE49-F238E27FC236}">
                <a16:creationId xmlns:a16="http://schemas.microsoft.com/office/drawing/2014/main" id="{88FCE34F-A688-4F5F-BB69-49C6BEF8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74307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新因子库</a:t>
            </a:r>
          </a:p>
        </p:txBody>
      </p:sp>
      <p:sp>
        <p:nvSpPr>
          <p:cNvPr id="26" name="proof-table-r4c1">
            <a:extLst xmlns:a="http://schemas.openxmlformats.org/drawingml/2006/main">
              <a:ext uri="{FF2B5EF4-FFF2-40B4-BE49-F238E27FC236}">
                <a16:creationId xmlns:a16="http://schemas.microsoft.com/office/drawing/2014/main" id="{7B155A3C-23E3-46FB-93FC-BFEE0CFC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95875"/>
            <a:ext cx="55340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2447个parquet + registry.csv</a:t>
            </a:r>
          </a:p>
        </p:txBody>
      </p:sp>
      <p:sp>
        <p:nvSpPr>
          <p:cNvPr id="27" name="proof-table-r4c2">
            <a:extLst xmlns:a="http://schemas.openxmlformats.org/drawingml/2006/main">
              <a:ext uri="{FF2B5EF4-FFF2-40B4-BE49-F238E27FC236}">
                <a16:creationId xmlns:a16="http://schemas.microsoft.com/office/drawing/2014/main" id="{1D8005DA-8C07-427A-85C1-3E4CDE85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95875"/>
            <a:ext cx="30099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沪深Alpha101扩展</a:t>
            </a:r>
          </a:p>
        </p:txBody>
      </p:sp>
      <p:sp>
        <p:nvSpPr>
          <p:cNvPr id="28" name="proof-table-row4">
            <a:extLst xmlns:a="http://schemas.openxmlformats.org/drawingml/2006/main">
              <a:ext uri="{FF2B5EF4-FFF2-40B4-BE49-F238E27FC236}">
                <a16:creationId xmlns:a16="http://schemas.microsoft.com/office/drawing/2014/main" id="{67FCBDD1-C40F-4D67-9017-7090CDE7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D3C316F-2167-4AC0-9FEB-B2C8967A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3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7D3002D-65E4-4568-A1D4-16A4C7A6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sftp_update_summary.json；late_server_check.json；核查23:59，北京时间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A721F0-2E2F-4CE2-AA75-A97C3554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05 / 23</a:t>
            </a:r>
          </a:p>
        </p:txBody>
      </p:sp>
    </p:spTree>
    <p:extLst>
      <p:ext uri="{BB962C8B-B14F-4D97-AF65-F5344CB8AC3E}">
        <p14:creationId xmlns:p14="http://schemas.microsoft.com/office/powerpoint/2010/main" val="232448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82D3D5F-3230-4934-BF6D-C8B3D375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75AC2D8-7732-4A2B-A2BE-5D391622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因子数量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B7BDD7F-7E38-4491-8BDB-ED06AA94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100个在本段收益最高，40到60却没有改善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E0C7274-5E5D-458B-9863-8AE97CFA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5a43757324d1a"/>
          <a:stretch xmlns:a="http://schemas.openxmlformats.org/drawingml/2006/main"/>
        </p:blipFill>
        <p:spPr>
          <a:xfrm xmlns:a="http://schemas.openxmlformats.org/drawingml/2006/main">
            <a:off x="552450" y="1620851"/>
            <a:ext cx="11087100" cy="3892524"/>
          </a:xfrm>
          <a:prstGeom xmlns:a="http://schemas.openxmlformats.org/drawingml/2006/main" prst="rect">
            <a:avLst/>
          </a:prstGeom>
        </p:spPr>
      </p:pic>
      <p:sp>
        <p:nvSpPr>
          <p:cNvPr id="6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E5E6F46-AA4E-48CF-A137-879ED38F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20 / 40 / 60 / 80 / 100个：LightGBM累计 +37.43 / +64.47 / +62.53 / +76.42 / +100.07%。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13A7D0-71C4-4A15-85B1-18127834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BEA13BD-59B3-447C-A62D-620F4F1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extension_results.csv｜固定北交所窗口；价格研究账户；单边15基点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CCFEC46-B66A-4D06-81F8-8AEB6F80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06 / 23</a:t>
            </a:r>
          </a:p>
        </p:txBody>
      </p:sp>
    </p:spTree>
    <p:extLst>
      <p:ext uri="{BB962C8B-B14F-4D97-AF65-F5344CB8AC3E}">
        <p14:creationId xmlns:p14="http://schemas.microsoft.com/office/powerpoint/2010/main" val="1274278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8E57C0-1F0D-46D8-90D4-B28ED17C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A3641E-B8BB-4E78-9B8D-EDAF494C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参数选择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739B0DA-6215-4249-A789-BB7AB0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按过去验证成绩选数量，LightGBM累计为76.03%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8702FA-79B6-4B16-96A1-A9DC2E50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928a5e5e243b1"/>
          <a:stretch xmlns:a="http://schemas.openxmlformats.org/drawingml/2006/main"/>
        </p:blipFill>
        <p:spPr>
          <a:xfrm xmlns:a="http://schemas.openxmlformats.org/drawingml/2006/main">
            <a:off x="552450" y="1632100"/>
            <a:ext cx="11087100" cy="3870025"/>
          </a:xfrm>
          <a:prstGeom xmlns:a="http://schemas.openxmlformats.org/drawingml/2006/main" prst="rect">
            <a:avLst/>
          </a:prstGeom>
        </p:spPr>
      </p:pic>
      <p:sp>
        <p:nvSpPr>
          <p:cNvPr id="6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4982359-CDA9-4752-983B-7BCD0F40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每列是一轮；星号由该轮之前的验证Rank IC决定。Ridge同法选择累计 +121.53%。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AE270C3-F029-45A1-9136-2B20FF22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9789F0-239A-4387-BBB8-81580356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validation_models.csv；folds.json｜两种模型分别验证选参，未按测试收益选赢家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5C71E5-F45F-4558-9651-864BB489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07 / 23</a:t>
            </a:r>
          </a:p>
        </p:txBody>
      </p:sp>
    </p:spTree>
    <p:extLst>
      <p:ext uri="{BB962C8B-B14F-4D97-AF65-F5344CB8AC3E}">
        <p14:creationId xmlns:p14="http://schemas.microsoft.com/office/powerpoint/2010/main" val="636845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1C38F8-3871-4D44-909D-DA78AE1D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C980F7-4DE5-4995-80C6-0809DFEE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稳健性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8989F2B-2D13-4396-A271-82F35A96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收益更高仍伴随深度回撤，排名增益还有不确定性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CA575E7-4235-49B2-AAEB-22D50A02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0190c09d244cf"/>
          <a:stretch xmlns:a="http://schemas.openxmlformats.org/drawingml/2006/main"/>
        </p:blipFill>
        <p:spPr>
          <a:xfrm xmlns:a="http://schemas.openxmlformats.org/drawingml/2006/main">
            <a:off x="361950" y="2042965"/>
            <a:ext cx="8324850" cy="3219746"/>
          </a:xfrm>
          <a:prstGeom xmlns:a="http://schemas.openxmlformats.org/drawingml/2006/main" prst="rect">
            <a:avLst/>
          </a:prstGeom>
        </p:spPr>
      </p:pic>
      <p:sp>
        <p:nvSpPr>
          <p:cNvPr id="6" name="rail-value0">
            <a:extLst xmlns:a="http://schemas.openxmlformats.org/drawingml/2006/main">
              <a:ext uri="{FF2B5EF4-FFF2-40B4-BE49-F238E27FC236}">
                <a16:creationId xmlns:a16="http://schemas.microsoft.com/office/drawing/2014/main" id="{A20067B9-9196-4991-9942-F52CEAC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250507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55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−43.95%</a:t>
            </a:r>
          </a:p>
        </p:txBody>
      </p:sp>
      <p:sp>
        <p:nvSpPr>
          <p:cNvPr id="7" name="rail-label0">
            <a:extLst xmlns:a="http://schemas.openxmlformats.org/drawingml/2006/main">
              <a:ext uri="{FF2B5EF4-FFF2-40B4-BE49-F238E27FC236}">
                <a16:creationId xmlns:a16="http://schemas.microsoft.com/office/drawing/2014/main" id="{0DC55F8B-9BF8-43DB-AC25-183BB626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28850"/>
            <a:ext cx="25050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验证选数量的最大回撤</a:t>
            </a:r>
          </a:p>
        </p:txBody>
      </p:sp>
      <p:sp>
        <p:nvSpPr>
          <p:cNvPr id="8" name="rail-value1">
            <a:extLst xmlns:a="http://schemas.openxmlformats.org/drawingml/2006/main">
              <a:ext uri="{FF2B5EF4-FFF2-40B4-BE49-F238E27FC236}">
                <a16:creationId xmlns:a16="http://schemas.microsoft.com/office/drawing/2014/main" id="{A1639641-2FFC-4393-BC68-3A08616A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50507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55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0.00447</a:t>
            </a:r>
          </a:p>
        </p:txBody>
      </p:sp>
      <p:sp>
        <p:nvSpPr>
          <p:cNvPr id="9" name="rail-label1">
            <a:extLst xmlns:a="http://schemas.openxmlformats.org/drawingml/2006/main">
              <a:ext uri="{FF2B5EF4-FFF2-40B4-BE49-F238E27FC236}">
                <a16:creationId xmlns:a16="http://schemas.microsoft.com/office/drawing/2014/main" id="{72C9147B-852B-400D-A6DA-93755C43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9975"/>
            <a:ext cx="25050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100相对40：平均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Rank IC增量</a:t>
            </a:r>
          </a:p>
        </p:txBody>
      </p:sp>
      <p:sp>
        <p:nvSpPr>
          <p:cNvPr id="10" name="rail-value2">
            <a:extLst xmlns:a="http://schemas.openxmlformats.org/drawingml/2006/main">
              <a:ext uri="{FF2B5EF4-FFF2-40B4-BE49-F238E27FC236}">
                <a16:creationId xmlns:a16="http://schemas.microsoft.com/office/drawing/2014/main" id="{B14E0D0E-50CE-40D3-8FFF-75C98FEE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19600"/>
            <a:ext cx="250507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55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含 0</a:t>
            </a:r>
          </a:p>
        </p:txBody>
      </p:sp>
      <p:sp>
        <p:nvSpPr>
          <p:cNvPr id="11" name="rail-label2">
            <a:extLst xmlns:a="http://schemas.openxmlformats.org/drawingml/2006/main">
              <a:ext uri="{FF2B5EF4-FFF2-40B4-BE49-F238E27FC236}">
                <a16:creationId xmlns:a16="http://schemas.microsoft.com/office/drawing/2014/main" id="{2D32B82E-B24B-4147-B5BE-5FC7B5CF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91100"/>
            <a:ext cx="2505075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95%描述性区间：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[−0.00042, 0.00959]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F2B200-D5C0-4C07-90E9-0631A71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B68968E-BAD2-44AF-83AE-39130845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各count账户；count_ic_bootstrap.csv｜10日块重抽2000次；未作全族显著性校正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BC6571-BEED-4408-8B84-3937C142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08 / 23</a:t>
            </a:r>
          </a:p>
        </p:txBody>
      </p:sp>
    </p:spTree>
    <p:extLst>
      <p:ext uri="{BB962C8B-B14F-4D97-AF65-F5344CB8AC3E}">
        <p14:creationId xmlns:p14="http://schemas.microsoft.com/office/powerpoint/2010/main" val="1773947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2539ED7-5E96-4FC4-97D1-55737E9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E6ADC0-3CD0-4085-BA08-26D0317D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扩展对照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AA71CFA-7995-44E8-BDE3-8EC1F841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不同线索来源和模型设置，会改变账户结果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139279-10D6-46DE-A9F3-62931A7F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46f73245a4d18"/>
          <a:stretch xmlns:a="http://schemas.openxmlformats.org/drawingml/2006/main"/>
        </p:blipFill>
        <p:spPr>
          <a:xfrm xmlns:a="http://schemas.openxmlformats.org/drawingml/2006/main">
            <a:off x="1639646" y="1562100"/>
            <a:ext cx="8912708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5C22E7E-C588-4329-9C9D-0B350A6F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每个实验按规则单列；额外2日延迟明显削弱收益，股本线索仍需核实历史发布时间。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DC84A91-513D-428E-A8CC-0DDBDC0A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16A15E2-5FB7-4FA3-B603-EA62CE6D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extension_results.csv｜分组因子均来自训练去重队列；抽样实验同时启用固定抽样规则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EDD9F8-E8A3-4C40-9F22-2E07F87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09 / 23</a:t>
            </a:r>
          </a:p>
        </p:txBody>
      </p:sp>
    </p:spTree>
    <p:extLst>
      <p:ext uri="{BB962C8B-B14F-4D97-AF65-F5344CB8AC3E}">
        <p14:creationId xmlns:p14="http://schemas.microsoft.com/office/powerpoint/2010/main" val="1937013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96FD6D5-48BA-41A2-BEB8-DD5606E5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FE2E51-E6C8-4C44-946C-F91D7328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敏感性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E7675A3-A572-4467-A75C-08E7A446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资料时效与交易成本，是结果的关键条件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9C38E44-B519-442F-940E-9DBC80FF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E06C441E-78D9-4430-A4C5-FCC82CA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01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40个因子：Alpha额外延迟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B3D157A-228C-44E0-AA53-ECBBB93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00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验证选数量：单边假设成本</a:t>
            </a:r>
          </a:p>
        </p:txBody>
      </p:sp>
      <p:sp>
        <p:nvSpPr>
          <p:cNvPr id="7" name="left-proof-header-fill">
            <a:extLst xmlns:a="http://schemas.openxmlformats.org/drawingml/2006/main">
              <a:ext uri="{FF2B5EF4-FFF2-40B4-BE49-F238E27FC236}">
                <a16:creationId xmlns:a16="http://schemas.microsoft.com/office/drawing/2014/main" id="{8A3040FF-787B-44F6-AA05-C61F7681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8" name="left-proof-h0">
            <a:extLst xmlns:a="http://schemas.openxmlformats.org/drawingml/2006/main">
              <a:ext uri="{FF2B5EF4-FFF2-40B4-BE49-F238E27FC236}">
                <a16:creationId xmlns:a16="http://schemas.microsoft.com/office/drawing/2014/main" id="{215511D7-D40B-4A2C-AEC0-BDED6BC8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956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可用时间</a:t>
            </a:r>
          </a:p>
        </p:txBody>
      </p:sp>
      <p:sp>
        <p:nvSpPr>
          <p:cNvPr id="9" name="left-proof-h1">
            <a:extLst xmlns:a="http://schemas.openxmlformats.org/drawingml/2006/main">
              <a:ext uri="{FF2B5EF4-FFF2-40B4-BE49-F238E27FC236}">
                <a16:creationId xmlns:a16="http://schemas.microsoft.com/office/drawing/2014/main" id="{43B14B38-6C89-4CCF-90A2-AC386F4D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57450"/>
            <a:ext cx="18478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累计收益</a:t>
            </a:r>
          </a:p>
        </p:txBody>
      </p:sp>
      <p:sp>
        <p:nvSpPr>
          <p:cNvPr id="10" name="left-proof-r0c0">
            <a:extLst xmlns:a="http://schemas.openxmlformats.org/drawingml/2006/main">
              <a:ext uri="{FF2B5EF4-FFF2-40B4-BE49-F238E27FC236}">
                <a16:creationId xmlns:a16="http://schemas.microsoft.com/office/drawing/2014/main" id="{81E12F5D-6849-4387-9BBF-004C5175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895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原盘后假设</a:t>
            </a:r>
          </a:p>
        </p:txBody>
      </p:sp>
      <p:sp>
        <p:nvSpPr>
          <p:cNvPr id="11" name="left-proof-r0c1">
            <a:extLst xmlns:a="http://schemas.openxmlformats.org/drawingml/2006/main">
              <a:ext uri="{FF2B5EF4-FFF2-40B4-BE49-F238E27FC236}">
                <a16:creationId xmlns:a16="http://schemas.microsoft.com/office/drawing/2014/main" id="{F9658921-8AEE-45CF-AB9F-A6B1C060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90850"/>
            <a:ext cx="18478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+64.47%</a:t>
            </a:r>
          </a:p>
        </p:txBody>
      </p:sp>
      <p:sp>
        <p:nvSpPr>
          <p:cNvPr id="12" name="left-proof-row0">
            <a:extLst xmlns:a="http://schemas.openxmlformats.org/drawingml/2006/main">
              <a:ext uri="{FF2B5EF4-FFF2-40B4-BE49-F238E27FC236}">
                <a16:creationId xmlns:a16="http://schemas.microsoft.com/office/drawing/2014/main" id="{CB610834-6935-47A7-98E1-6B2969A1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520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left-proof-r1c0">
            <a:extLst xmlns:a="http://schemas.openxmlformats.org/drawingml/2006/main">
              <a:ext uri="{FF2B5EF4-FFF2-40B4-BE49-F238E27FC236}">
                <a16:creationId xmlns:a16="http://schemas.microsoft.com/office/drawing/2014/main" id="{3E3BEAFB-2BAB-4B8E-B3A8-6807690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2895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多等1个交易日</a:t>
            </a:r>
          </a:p>
        </p:txBody>
      </p:sp>
      <p:sp>
        <p:nvSpPr>
          <p:cNvPr id="14" name="left-proof-r1c1">
            <a:extLst xmlns:a="http://schemas.openxmlformats.org/drawingml/2006/main">
              <a:ext uri="{FF2B5EF4-FFF2-40B4-BE49-F238E27FC236}">
                <a16:creationId xmlns:a16="http://schemas.microsoft.com/office/drawing/2014/main" id="{47002E69-E5A1-4712-9353-493D2D62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24275"/>
            <a:ext cx="18478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+27.27%</a:t>
            </a:r>
          </a:p>
        </p:txBody>
      </p:sp>
      <p:sp>
        <p:nvSpPr>
          <p:cNvPr id="15" name="left-proof-row1">
            <a:extLst xmlns:a="http://schemas.openxmlformats.org/drawingml/2006/main">
              <a:ext uri="{FF2B5EF4-FFF2-40B4-BE49-F238E27FC236}">
                <a16:creationId xmlns:a16="http://schemas.microsoft.com/office/drawing/2014/main" id="{E0EDA767-4FC6-4D85-8107-760AC305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520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6" name="left-proof-r2c0">
            <a:extLst xmlns:a="http://schemas.openxmlformats.org/drawingml/2006/main">
              <a:ext uri="{FF2B5EF4-FFF2-40B4-BE49-F238E27FC236}">
                <a16:creationId xmlns:a16="http://schemas.microsoft.com/office/drawing/2014/main" id="{D84C0FCC-9A68-44E5-A739-7DE5BA85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895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多等2个交易日</a:t>
            </a:r>
          </a:p>
        </p:txBody>
      </p:sp>
      <p:sp>
        <p:nvSpPr>
          <p:cNvPr id="17" name="left-proof-r2c1">
            <a:extLst xmlns:a="http://schemas.openxmlformats.org/drawingml/2006/main">
              <a:ext uri="{FF2B5EF4-FFF2-40B4-BE49-F238E27FC236}">
                <a16:creationId xmlns:a16="http://schemas.microsoft.com/office/drawing/2014/main" id="{FB830FE7-034C-4616-929D-B155F74F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57700"/>
            <a:ext cx="18478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+16.33%</a:t>
            </a:r>
          </a:p>
        </p:txBody>
      </p:sp>
      <p:sp>
        <p:nvSpPr>
          <p:cNvPr id="18" name="left-proof-row2">
            <a:extLst xmlns:a="http://schemas.openxmlformats.org/drawingml/2006/main">
              <a:ext uri="{FF2B5EF4-FFF2-40B4-BE49-F238E27FC236}">
                <a16:creationId xmlns:a16="http://schemas.microsoft.com/office/drawing/2014/main" id="{07B669BA-3E6D-4236-B700-E6C79F27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520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9" name="right-proof-header-fill">
            <a:extLst xmlns:a="http://schemas.openxmlformats.org/drawingml/2006/main">
              <a:ext uri="{FF2B5EF4-FFF2-40B4-BE49-F238E27FC236}">
                <a16:creationId xmlns:a16="http://schemas.microsoft.com/office/drawing/2014/main" id="{2A778F39-012F-4C60-97B5-C59CB792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20" name="right-proof-h0">
            <a:extLst xmlns:a="http://schemas.openxmlformats.org/drawingml/2006/main">
              <a:ext uri="{FF2B5EF4-FFF2-40B4-BE49-F238E27FC236}">
                <a16:creationId xmlns:a16="http://schemas.microsoft.com/office/drawing/2014/main" id="{FB83BAC0-4D38-456F-B677-D5B4616C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8956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费用</a:t>
            </a:r>
          </a:p>
        </p:txBody>
      </p:sp>
      <p:sp>
        <p:nvSpPr>
          <p:cNvPr id="21" name="right-proof-h1">
            <a:extLst xmlns:a="http://schemas.openxmlformats.org/drawingml/2006/main">
              <a:ext uri="{FF2B5EF4-FFF2-40B4-BE49-F238E27FC236}">
                <a16:creationId xmlns:a16="http://schemas.microsoft.com/office/drawing/2014/main" id="{60443B4B-D098-4908-93EC-6A6EC7F3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8478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累计收益</a:t>
            </a:r>
          </a:p>
        </p:txBody>
      </p:sp>
      <p:sp>
        <p:nvSpPr>
          <p:cNvPr id="22" name="right-proof-r0c0">
            <a:extLst xmlns:a="http://schemas.openxmlformats.org/drawingml/2006/main">
              <a:ext uri="{FF2B5EF4-FFF2-40B4-BE49-F238E27FC236}">
                <a16:creationId xmlns:a16="http://schemas.microsoft.com/office/drawing/2014/main" id="{FF538CED-6A34-48D9-AE8B-FF85DCD0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2895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5基点（0.05%）</a:t>
            </a:r>
          </a:p>
        </p:txBody>
      </p:sp>
      <p:sp>
        <p:nvSpPr>
          <p:cNvPr id="23" name="right-proof-r0c1">
            <a:extLst xmlns:a="http://schemas.openxmlformats.org/drawingml/2006/main">
              <a:ext uri="{FF2B5EF4-FFF2-40B4-BE49-F238E27FC236}">
                <a16:creationId xmlns:a16="http://schemas.microsoft.com/office/drawing/2014/main" id="{9F4D5637-B40B-491B-BBAF-7B0CEB95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90850"/>
            <a:ext cx="18478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+107.39%</a:t>
            </a:r>
          </a:p>
        </p:txBody>
      </p:sp>
      <p:sp>
        <p:nvSpPr>
          <p:cNvPr id="24" name="right-proof-row0">
            <a:extLst xmlns:a="http://schemas.openxmlformats.org/drawingml/2006/main">
              <a:ext uri="{FF2B5EF4-FFF2-40B4-BE49-F238E27FC236}">
                <a16:creationId xmlns:a16="http://schemas.microsoft.com/office/drawing/2014/main" id="{86B50E2B-31C5-4975-91C6-F68BC796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9975"/>
            <a:ext cx="520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5" name="right-proof-r1c0">
            <a:extLst xmlns:a="http://schemas.openxmlformats.org/drawingml/2006/main">
              <a:ext uri="{FF2B5EF4-FFF2-40B4-BE49-F238E27FC236}">
                <a16:creationId xmlns:a16="http://schemas.microsoft.com/office/drawing/2014/main" id="{073F0EB8-CB77-44A3-9E6D-40A2E928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24275"/>
            <a:ext cx="2895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15基点（0.15%）</a:t>
            </a:r>
          </a:p>
        </p:txBody>
      </p:sp>
      <p:sp>
        <p:nvSpPr>
          <p:cNvPr id="26" name="right-proof-r1c1">
            <a:extLst xmlns:a="http://schemas.openxmlformats.org/drawingml/2006/main">
              <a:ext uri="{FF2B5EF4-FFF2-40B4-BE49-F238E27FC236}">
                <a16:creationId xmlns:a16="http://schemas.microsoft.com/office/drawing/2014/main" id="{EFF5D399-4045-4A00-B633-66F2534A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24275"/>
            <a:ext cx="18478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+76.03%</a:t>
            </a:r>
          </a:p>
        </p:txBody>
      </p:sp>
      <p:sp>
        <p:nvSpPr>
          <p:cNvPr id="27" name="right-proof-row1">
            <a:extLst xmlns:a="http://schemas.openxmlformats.org/drawingml/2006/main">
              <a:ext uri="{FF2B5EF4-FFF2-40B4-BE49-F238E27FC236}">
                <a16:creationId xmlns:a16="http://schemas.microsoft.com/office/drawing/2014/main" id="{9D7CB302-D18D-48FA-85B4-1EFC3714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520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8" name="right-proof-r2c0">
            <a:extLst xmlns:a="http://schemas.openxmlformats.org/drawingml/2006/main">
              <a:ext uri="{FF2B5EF4-FFF2-40B4-BE49-F238E27FC236}">
                <a16:creationId xmlns:a16="http://schemas.microsoft.com/office/drawing/2014/main" id="{14A5657E-8172-47ED-87E6-0558EF46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2895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30基点（0.30%）</a:t>
            </a:r>
          </a:p>
        </p:txBody>
      </p:sp>
      <p:sp>
        <p:nvSpPr>
          <p:cNvPr id="29" name="right-proof-r2c1">
            <a:extLst xmlns:a="http://schemas.openxmlformats.org/drawingml/2006/main">
              <a:ext uri="{FF2B5EF4-FFF2-40B4-BE49-F238E27FC236}">
                <a16:creationId xmlns:a16="http://schemas.microsoft.com/office/drawing/2014/main" id="{0B374AFE-D3A3-4359-8777-B31981C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57700"/>
            <a:ext cx="18478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+37.73%</a:t>
            </a:r>
          </a:p>
        </p:txBody>
      </p:sp>
      <p:sp>
        <p:nvSpPr>
          <p:cNvPr id="30" name="right-proof-row2">
            <a:extLst xmlns:a="http://schemas.openxmlformats.org/drawingml/2006/main">
              <a:ext uri="{FF2B5EF4-FFF2-40B4-BE49-F238E27FC236}">
                <a16:creationId xmlns:a16="http://schemas.microsoft.com/office/drawing/2014/main" id="{A2B3D625-9C53-4535-9DA7-1221D3F3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76825"/>
            <a:ext cx="520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3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E341D18-8F00-4A18-9E93-3E32B04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延迟测试不能证明不存在未来信息；费用情景也不是交易所实际费率表。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1383222-F6B5-4E89-9571-70AF5E5B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3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509CDAB-D59B-4229-BD8D-62F6EF79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冻结lag1结果；lag2_metrics.json；validation_count_cost_*_metrics.json</a:t>
            </a:r>
          </a:p>
        </p:txBody>
      </p:sp>
      <p:sp>
        <p:nvSpPr>
          <p:cNvPr id="3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90BFFC-32C1-4DB7-8B3C-2DB4582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10 / 23</a:t>
            </a:r>
          </a:p>
        </p:txBody>
      </p:sp>
    </p:spTree>
    <p:extLst>
      <p:ext uri="{BB962C8B-B14F-4D97-AF65-F5344CB8AC3E}">
        <p14:creationId xmlns:p14="http://schemas.microsoft.com/office/powerpoint/2010/main" val="1227885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18E631-9780-4E94-8E68-89B9FE1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FFCE0B-1953-4CFF-BFAD-7EAA3297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执行模型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FEB3BAF-FCE3-48A6-B132-DC2F247D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分钟账户已把部分成交、现金与持股连续连起来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8D17A6-0187-40D1-9447-1B441819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section-label0">
            <a:extLst xmlns:a="http://schemas.openxmlformats.org/drawingml/2006/main">
              <a:ext uri="{FF2B5EF4-FFF2-40B4-BE49-F238E27FC236}">
                <a16:creationId xmlns:a16="http://schemas.microsoft.com/office/drawing/2014/main" id="{3F6F52CD-45BA-4F6B-ACE4-45C88615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从信号直接发单</a:t>
            </a:r>
          </a:p>
        </p:txBody>
      </p:sp>
      <p:sp>
        <p:nvSpPr>
          <p:cNvPr id="6" name="section-body0">
            <a:extLst xmlns:a="http://schemas.openxmlformats.org/drawingml/2006/main">
              <a:ext uri="{FF2B5EF4-FFF2-40B4-BE49-F238E27FC236}">
                <a16:creationId xmlns:a16="http://schemas.microsoft.com/office/drawing/2014/main" id="{6A05A4EB-0F62-4866-ACDD-0F0A1383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包含新买请求、未成交、部分成交；未买部分日终取消，未卖部分保留重试。</a:t>
            </a:r>
          </a:p>
        </p:txBody>
      </p:sp>
      <p:sp>
        <p:nvSpPr>
          <p:cNvPr id="7" name="section-label1">
            <a:extLst xmlns:a="http://schemas.openxmlformats.org/drawingml/2006/main">
              <a:ext uri="{FF2B5EF4-FFF2-40B4-BE49-F238E27FC236}">
                <a16:creationId xmlns:a16="http://schemas.microsoft.com/office/drawing/2014/main" id="{F69A25C3-605B-4E0C-8029-6344BACF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按实际模拟成交记账</a:t>
            </a:r>
          </a:p>
        </p:txBody>
      </p:sp>
      <p:sp>
        <p:nvSpPr>
          <p:cNvPr id="8" name="section-body1">
            <a:extLst xmlns:a="http://schemas.openxmlformats.org/drawingml/2006/main">
              <a:ext uri="{FF2B5EF4-FFF2-40B4-BE49-F238E27FC236}">
                <a16:creationId xmlns:a16="http://schemas.microsoft.com/office/drawing/2014/main" id="{57A42948-7B42-42F8-BD43-7D9C34FF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100万元起步；买入扣现金、卖出收现金；按成交扣费并保留逐批持股。</a:t>
            </a:r>
          </a:p>
        </p:txBody>
      </p:sp>
      <p:sp>
        <p:nvSpPr>
          <p:cNvPr id="9" name="section-label2">
            <a:extLst xmlns:a="http://schemas.openxmlformats.org/drawingml/2006/main">
              <a:ext uri="{FF2B5EF4-FFF2-40B4-BE49-F238E27FC236}">
                <a16:creationId xmlns:a16="http://schemas.microsoft.com/office/drawing/2014/main" id="{1B90BC66-CF4C-45CC-8474-0CB14A7E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共享分钟容量</a:t>
            </a:r>
          </a:p>
        </p:txBody>
      </p:sp>
      <p:sp>
        <p:nvSpPr>
          <p:cNvPr id="10" name="section-body2">
            <a:extLst xmlns:a="http://schemas.openxmlformats.org/drawingml/2006/main">
              <a:ext uri="{FF2B5EF4-FFF2-40B4-BE49-F238E27FC236}">
                <a16:creationId xmlns:a16="http://schemas.microsoft.com/office/drawing/2014/main" id="{1B952E3D-0E10-4AD4-8AEF-2FC89EEB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买09:31—10:00，卖14:50—15:00；0.5% / 1% / 2%参与率；买高卖低压力情景。</a:t>
            </a:r>
          </a:p>
        </p:txBody>
      </p:sp>
      <p:sp>
        <p:nvSpPr>
          <p:cNvPr id="1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99A77AD7-0C62-45DE-8DCA-D69E141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T+1、非负现金、逐批非负持仓和共享容量均通过检查；仍无订单簿排队模型。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0C0FE27-E507-4CA1-ACFB-79A6BC52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CC8A8EC-9660-43F2-9FD8-61767F40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minute_account.py；minute_*_fills.csv / orders.csv / account.csv；verification.json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57F795-1B3A-41FF-83C0-27349774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11 / 23</a:t>
            </a:r>
          </a:p>
        </p:txBody>
      </p:sp>
    </p:spTree>
    <p:extLst>
      <p:ext uri="{BB962C8B-B14F-4D97-AF65-F5344CB8AC3E}">
        <p14:creationId xmlns:p14="http://schemas.microsoft.com/office/powerpoint/2010/main" val="12381577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C5E6B3E-9486-4938-A59D-7B822B9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A03F26-2D42-48F0-82C0-36F67C40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1A6919A-516F-4D3D-A0A4-7A4FCFB5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更严格的成交假设削弱了两段日线账户表现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B52A0D-5DA2-42B2-9EBB-69769B8C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cfb717cd94f28"/>
          <a:stretch xmlns:a="http://schemas.openxmlformats.org/drawingml/2006/main"/>
        </p:blipFill>
        <p:spPr>
          <a:xfrm xmlns:a="http://schemas.openxmlformats.org/drawingml/2006/main">
            <a:off x="552450" y="1570860"/>
            <a:ext cx="11087100" cy="3992505"/>
          </a:xfrm>
          <a:prstGeom xmlns:a="http://schemas.openxmlformats.org/drawingml/2006/main" prst="rect">
            <a:avLst/>
          </a:prstGeom>
        </p:spPr>
      </p:pic>
      <p:sp>
        <p:nvSpPr>
          <p:cNvPr id="6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875BB6AB-406E-48C5-A3D2-A18EA81B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2025Q4：+1.20% → −2.66%；2026Q3至9/29：−5.12% → −7.07%（1%参与率）。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E736578-D6AA-40B9-AEE1-DD97B8E4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2699570-D495-4771-8054-0A68C02A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minute_cash_results.json；q3_minute_cash_results.json｜各区间独立100万元；价格口径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8F4B4D-39F6-4B13-942A-F7F6D1AA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12 / 23</a:t>
            </a:r>
          </a:p>
        </p:txBody>
      </p:sp>
    </p:spTree>
    <p:extLst>
      <p:ext uri="{BB962C8B-B14F-4D97-AF65-F5344CB8AC3E}">
        <p14:creationId xmlns:p14="http://schemas.microsoft.com/office/powerpoint/2010/main" val="11897737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6E96B0-BFC5-4D29-B814-D37A93E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E8A875-E0C7-44DB-8624-2A23089D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执行容量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E098A10-8E2D-4F2A-B359-8CF2B48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成交更多不保证赚钱更多，参与率应作为压力条件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90FA031-1A93-4780-ACCE-54ECA647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proof-table-header-fill">
            <a:extLst xmlns:a="http://schemas.openxmlformats.org/drawingml/2006/main">
              <a:ext uri="{FF2B5EF4-FFF2-40B4-BE49-F238E27FC236}">
                <a16:creationId xmlns:a16="http://schemas.microsoft.com/office/drawing/2014/main" id="{8601CF7F-2EB3-4443-9F19-98A6DA37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6" name="proof-table-h0">
            <a:extLst xmlns:a="http://schemas.openxmlformats.org/drawingml/2006/main">
              <a:ext uri="{FF2B5EF4-FFF2-40B4-BE49-F238E27FC236}">
                <a16:creationId xmlns:a16="http://schemas.microsoft.com/office/drawing/2014/main" id="{E43DBFC6-CE99-43BF-BB8C-66416908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42672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情景</a:t>
            </a:r>
          </a:p>
        </p:txBody>
      </p:sp>
      <p:sp>
        <p:nvSpPr>
          <p:cNvPr id="7" name="proof-table-h1">
            <a:extLst xmlns:a="http://schemas.openxmlformats.org/drawingml/2006/main">
              <a:ext uri="{FF2B5EF4-FFF2-40B4-BE49-F238E27FC236}">
                <a16:creationId xmlns:a16="http://schemas.microsoft.com/office/drawing/2014/main" id="{B1872E85-3376-4E49-A7CA-AFA7B37B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04975"/>
            <a:ext cx="28479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2025Q4收益</a:t>
            </a:r>
          </a:p>
        </p:txBody>
      </p:sp>
      <p:sp>
        <p:nvSpPr>
          <p:cNvPr id="8" name="proof-table-h2">
            <a:extLst xmlns:a="http://schemas.openxmlformats.org/drawingml/2006/main">
              <a:ext uri="{FF2B5EF4-FFF2-40B4-BE49-F238E27FC236}">
                <a16:creationId xmlns:a16="http://schemas.microsoft.com/office/drawing/2014/main" id="{EC2E1266-30CA-4009-9FE1-9BCD30E2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704975"/>
            <a:ext cx="31718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2026Q3至9/29收益</a:t>
            </a:r>
          </a:p>
        </p:txBody>
      </p:sp>
      <p:sp>
        <p:nvSpPr>
          <p:cNvPr id="9" name="proof-table-r0c0">
            <a:extLst xmlns:a="http://schemas.openxmlformats.org/drawingml/2006/main">
              <a:ext uri="{FF2B5EF4-FFF2-40B4-BE49-F238E27FC236}">
                <a16:creationId xmlns:a16="http://schemas.microsoft.com/office/drawing/2014/main" id="{B514DCF8-4164-408B-8C84-F29556D8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267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日线参照</a:t>
            </a:r>
          </a:p>
        </p:txBody>
      </p:sp>
      <p:sp>
        <p:nvSpPr>
          <p:cNvPr id="10" name="proof-table-r0c1">
            <a:extLst xmlns:a="http://schemas.openxmlformats.org/drawingml/2006/main">
              <a:ext uri="{FF2B5EF4-FFF2-40B4-BE49-F238E27FC236}">
                <a16:creationId xmlns:a16="http://schemas.microsoft.com/office/drawing/2014/main" id="{0130E4E0-B91E-4E57-B353-7010C690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38375"/>
            <a:ext cx="28479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+1.20%</a:t>
            </a:r>
          </a:p>
        </p:txBody>
      </p:sp>
      <p:sp>
        <p:nvSpPr>
          <p:cNvPr id="11" name="proof-table-r0c2">
            <a:extLst xmlns:a="http://schemas.openxmlformats.org/drawingml/2006/main">
              <a:ext uri="{FF2B5EF4-FFF2-40B4-BE49-F238E27FC236}">
                <a16:creationId xmlns:a16="http://schemas.microsoft.com/office/drawing/2014/main" id="{58B44776-9087-499F-99E2-7959D70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38375"/>
            <a:ext cx="31718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−5.12%</a:t>
            </a:r>
          </a:p>
        </p:txBody>
      </p:sp>
      <p:sp>
        <p:nvSpPr>
          <p:cNvPr id="12" name="proof-table-row0">
            <a:extLst xmlns:a="http://schemas.openxmlformats.org/drawingml/2006/main">
              <a:ext uri="{FF2B5EF4-FFF2-40B4-BE49-F238E27FC236}">
                <a16:creationId xmlns:a16="http://schemas.microsoft.com/office/drawing/2014/main" id="{C8A58D9A-4E02-4591-A710-8CC4B395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proof-table-r1c0">
            <a:extLst xmlns:a="http://schemas.openxmlformats.org/drawingml/2006/main">
              <a:ext uri="{FF2B5EF4-FFF2-40B4-BE49-F238E27FC236}">
                <a16:creationId xmlns:a16="http://schemas.microsoft.com/office/drawing/2014/main" id="{BB60E30F-7550-46B4-BEC0-93497F30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4267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分钟参与率0.5%</a:t>
            </a:r>
          </a:p>
        </p:txBody>
      </p:sp>
      <p:sp>
        <p:nvSpPr>
          <p:cNvPr id="14" name="proof-table-r1c1">
            <a:extLst xmlns:a="http://schemas.openxmlformats.org/drawingml/2006/main">
              <a:ext uri="{FF2B5EF4-FFF2-40B4-BE49-F238E27FC236}">
                <a16:creationId xmlns:a16="http://schemas.microsoft.com/office/drawing/2014/main" id="{7E767766-D91F-4C22-8E5E-7890E4D0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28479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−0.18%</a:t>
            </a:r>
          </a:p>
        </p:txBody>
      </p:sp>
      <p:sp>
        <p:nvSpPr>
          <p:cNvPr id="15" name="proof-table-r1c2">
            <a:extLst xmlns:a="http://schemas.openxmlformats.org/drawingml/2006/main">
              <a:ext uri="{FF2B5EF4-FFF2-40B4-BE49-F238E27FC236}">
                <a16:creationId xmlns:a16="http://schemas.microsoft.com/office/drawing/2014/main" id="{FED1AE65-ABDA-4E89-9F39-BB74243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81325"/>
            <a:ext cx="31718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−5.71%</a:t>
            </a:r>
          </a:p>
        </p:txBody>
      </p:sp>
      <p:sp>
        <p:nvSpPr>
          <p:cNvPr id="16" name="proof-table-row1">
            <a:extLst xmlns:a="http://schemas.openxmlformats.org/drawingml/2006/main">
              <a:ext uri="{FF2B5EF4-FFF2-40B4-BE49-F238E27FC236}">
                <a16:creationId xmlns:a16="http://schemas.microsoft.com/office/drawing/2014/main" id="{688FE46D-6DAE-46E8-8187-58F37D14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proof-table-r2c0">
            <a:extLst xmlns:a="http://schemas.openxmlformats.org/drawingml/2006/main">
              <a:ext uri="{FF2B5EF4-FFF2-40B4-BE49-F238E27FC236}">
                <a16:creationId xmlns:a16="http://schemas.microsoft.com/office/drawing/2014/main" id="{4C7B9EBD-5325-4C5A-8C1E-1031265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4267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分钟参与率1%</a:t>
            </a:r>
          </a:p>
        </p:txBody>
      </p:sp>
      <p:sp>
        <p:nvSpPr>
          <p:cNvPr id="18" name="proof-table-r2c1">
            <a:extLst xmlns:a="http://schemas.openxmlformats.org/drawingml/2006/main">
              <a:ext uri="{FF2B5EF4-FFF2-40B4-BE49-F238E27FC236}">
                <a16:creationId xmlns:a16="http://schemas.microsoft.com/office/drawing/2014/main" id="{8AAE4629-7B4F-4806-85D4-919471BC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24275"/>
            <a:ext cx="28479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−2.66%</a:t>
            </a:r>
          </a:p>
        </p:txBody>
      </p:sp>
      <p:sp>
        <p:nvSpPr>
          <p:cNvPr id="19" name="proof-table-r2c2">
            <a:extLst xmlns:a="http://schemas.openxmlformats.org/drawingml/2006/main">
              <a:ext uri="{FF2B5EF4-FFF2-40B4-BE49-F238E27FC236}">
                <a16:creationId xmlns:a16="http://schemas.microsoft.com/office/drawing/2014/main" id="{68992939-FCB8-4723-97B4-8D62CCA4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724275"/>
            <a:ext cx="31718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−7.07%</a:t>
            </a:r>
          </a:p>
        </p:txBody>
      </p:sp>
      <p:sp>
        <p:nvSpPr>
          <p:cNvPr id="20" name="proof-table-row2">
            <a:extLst xmlns:a="http://schemas.openxmlformats.org/drawingml/2006/main">
              <a:ext uri="{FF2B5EF4-FFF2-40B4-BE49-F238E27FC236}">
                <a16:creationId xmlns:a16="http://schemas.microsoft.com/office/drawing/2014/main" id="{2BEAF3C4-A262-4224-AF30-EEB634BD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1" name="proof-table-r3c0">
            <a:extLst xmlns:a="http://schemas.openxmlformats.org/drawingml/2006/main">
              <a:ext uri="{FF2B5EF4-FFF2-40B4-BE49-F238E27FC236}">
                <a16:creationId xmlns:a16="http://schemas.microsoft.com/office/drawing/2014/main" id="{A84EFFE9-0411-48BA-A1DF-3F586B6F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4267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分钟参与率2%</a:t>
            </a:r>
          </a:p>
        </p:txBody>
      </p:sp>
      <p:sp>
        <p:nvSpPr>
          <p:cNvPr id="22" name="proof-table-r3c1">
            <a:extLst xmlns:a="http://schemas.openxmlformats.org/drawingml/2006/main">
              <a:ext uri="{FF2B5EF4-FFF2-40B4-BE49-F238E27FC236}">
                <a16:creationId xmlns:a16="http://schemas.microsoft.com/office/drawing/2014/main" id="{65455414-0DB1-47FC-BBA9-59D20BCC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67225"/>
            <a:ext cx="28479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−3.02%</a:t>
            </a:r>
          </a:p>
        </p:txBody>
      </p:sp>
      <p:sp>
        <p:nvSpPr>
          <p:cNvPr id="23" name="proof-table-r3c2">
            <a:extLst xmlns:a="http://schemas.openxmlformats.org/drawingml/2006/main">
              <a:ext uri="{FF2B5EF4-FFF2-40B4-BE49-F238E27FC236}">
                <a16:creationId xmlns:a16="http://schemas.microsoft.com/office/drawing/2014/main" id="{A5B90868-7907-4F61-BF03-53DBE1DD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67225"/>
            <a:ext cx="31718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−8.70%</a:t>
            </a:r>
          </a:p>
        </p:txBody>
      </p:sp>
      <p:sp>
        <p:nvSpPr>
          <p:cNvPr id="24" name="proof-table-row3">
            <a:extLst xmlns:a="http://schemas.openxmlformats.org/drawingml/2006/main">
              <a:ext uri="{FF2B5EF4-FFF2-40B4-BE49-F238E27FC236}">
                <a16:creationId xmlns:a16="http://schemas.microsoft.com/office/drawing/2014/main" id="{5100C54A-4F44-4B60-A9B3-32E34927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D64C66D-15D3-4D99-8045-9E68B974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1%情景目标股数完成约83.65% / 69.36%；与旧订单回放的67.53%不是同一统计集合。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499E68-AAF3-482D-8754-D8B556DF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86FB3A8-5786-41D5-B1EA-25BA2FBA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minute_cash_results.json；q3_minute_cash_results.json｜不能把成交比例乘原收益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85ACDC-2381-424F-9146-87450E0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13 / 23</a:t>
            </a:r>
          </a:p>
        </p:txBody>
      </p:sp>
    </p:spTree>
    <p:extLst>
      <p:ext uri="{BB962C8B-B14F-4D97-AF65-F5344CB8AC3E}">
        <p14:creationId xmlns:p14="http://schemas.microsoft.com/office/powerpoint/2010/main" val="37273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52CBB50-2663-43CD-A29F-82DBFCD7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573DE8-61A3-4080-8DD3-774F4183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跨市场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6C8BC8B-9517-418D-9C33-65D2354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沪深Alpha扩展改善了同样本结果，仍未超过指数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184123-BEC6-4411-BF37-17316FD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497e1da4d4f94"/>
          <a:stretch xmlns:a="http://schemas.openxmlformats.org/drawingml/2006/main"/>
        </p:blipFill>
        <p:spPr>
          <a:xfrm xmlns:a="http://schemas.openxmlformats.org/drawingml/2006/main">
            <a:off x="796842" y="1562100"/>
            <a:ext cx="10598315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B35E197-9222-4FC1-A393-3CF57806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同一496只来源样本：价格 +12.78%，Alpha筛选 +24.21%，Ridge −11.51%；沪深300约 +55.54%。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8E779BF-27F7-44FA-88C0-C125ACDD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55EF8D2-5395-45C5-8B4C-A80B25F4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shsz_alpha/account_results.json｜2019-01-02—2026-08-21；价格账户；31个季度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7BB230-9954-4596-8468-B7F1BFFC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19941492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878EE52-B3EF-4D10-8897-B738C53F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32D500D-DE82-4533-9C34-0ABE4168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仓位控制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0BF0560-05AC-4332-8FC5-C2718130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HMM严格拟合通过，仍未胜过固定85%上限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DBE034D-54B1-43B9-AC57-C071DEAD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bef0a046443fb"/>
          <a:stretch xmlns:a="http://schemas.openxmlformats.org/drawingml/2006/main"/>
        </p:blipFill>
        <p:spPr>
          <a:xfrm xmlns:a="http://schemas.openxmlformats.org/drawingml/2006/main">
            <a:off x="654627" y="1562100"/>
            <a:ext cx="10882747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19B08A5-2BB7-420A-A8D5-5E22B5D3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去掉转移先验后按训练诊断筛选；24个月找到合格拟合，未触发固定85%回退。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0170C8A-BD20-4A78-8A4A-E0EB94B3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2C98119-E0A6-4F99-A5A3-B0DDA1CE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hmm_strict_fits.json；hmm_strict_metrics.json；冻结仓位对照结果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FD168A-BEB6-48BE-ADF9-39C037E6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15 / 23</a:t>
            </a:r>
          </a:p>
        </p:txBody>
      </p:sp>
    </p:spTree>
    <p:extLst>
      <p:ext uri="{BB962C8B-B14F-4D97-AF65-F5344CB8AC3E}">
        <p14:creationId xmlns:p14="http://schemas.microsoft.com/office/powerpoint/2010/main" val="6374839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23A77F-3E02-4F73-9BE1-C3993870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935392-50C8-4B83-8A54-70EB657C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公司行为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B2B13A3-72EA-4011-BA15-6C3BCB6B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新分红表能量化口径影响，但未补齐结算时点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AB704A-1A4C-4C5A-836B-B902C4BD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2467e67c245dd"/>
          <a:stretch xmlns:a="http://schemas.openxmlformats.org/drawingml/2006/main"/>
        </p:blipFill>
        <p:spPr>
          <a:xfrm xmlns:a="http://schemas.openxmlformats.org/drawingml/2006/main">
            <a:off x="798604" y="1562100"/>
            <a:ext cx="1059479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F389AF8C-E700-442D-9203-776411B4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原40因子 +64.47% → 除权日即时可用情景 +73.25%；后者含未经核实的结算假设。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2FFCC1-F393-4FDF-ACD2-5BDFC3E5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DC385A6-9836-43BF-A033-CFBCFD89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dividend_event_audit.csv；dividend_immediate_assumption_metrics.json｜税前、零股处理简化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72556B-8358-450F-B1EB-E14BF544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16 / 23</a:t>
            </a:r>
          </a:p>
        </p:txBody>
      </p:sp>
    </p:spTree>
    <p:extLst>
      <p:ext uri="{BB962C8B-B14F-4D97-AF65-F5344CB8AC3E}">
        <p14:creationId xmlns:p14="http://schemas.microsoft.com/office/powerpoint/2010/main" val="247217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295F970-D1FD-465B-8C8E-C33DE3E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BCB55E-3233-4F1D-956C-9B53EBB6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复权对照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72EC612-55B6-4B70-B8CF-FBD3C92B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改学习目标与改资金账，必须分别解释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1B6071-3F5C-4492-A19C-BA288E3A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proof-table-header-fill">
            <a:extLst xmlns:a="http://schemas.openxmlformats.org/drawingml/2006/main">
              <a:ext uri="{FF2B5EF4-FFF2-40B4-BE49-F238E27FC236}">
                <a16:creationId xmlns:a16="http://schemas.microsoft.com/office/drawing/2014/main" id="{C0DEE347-2C43-4F2B-8AEE-349409CE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6" name="proof-table-h0">
            <a:extLst xmlns:a="http://schemas.openxmlformats.org/drawingml/2006/main">
              <a:ext uri="{FF2B5EF4-FFF2-40B4-BE49-F238E27FC236}">
                <a16:creationId xmlns:a16="http://schemas.microsoft.com/office/drawing/2014/main" id="{90B0EDE2-E5B4-420A-9F63-E69F22D6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32861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改变的环节</a:t>
            </a:r>
          </a:p>
        </p:txBody>
      </p:sp>
      <p:sp>
        <p:nvSpPr>
          <p:cNvPr id="7" name="proof-table-h1">
            <a:extLst xmlns:a="http://schemas.openxmlformats.org/drawingml/2006/main">
              <a:ext uri="{FF2B5EF4-FFF2-40B4-BE49-F238E27FC236}">
                <a16:creationId xmlns:a16="http://schemas.microsoft.com/office/drawing/2014/main" id="{5AB3417B-20DB-4C62-84E0-C64D0BE5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04975"/>
            <a:ext cx="48196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保持不变的条件</a:t>
            </a:r>
          </a:p>
        </p:txBody>
      </p:sp>
      <p:sp>
        <p:nvSpPr>
          <p:cNvPr id="8" name="proof-table-h2">
            <a:extLst xmlns:a="http://schemas.openxmlformats.org/drawingml/2006/main">
              <a:ext uri="{FF2B5EF4-FFF2-40B4-BE49-F238E27FC236}">
                <a16:creationId xmlns:a16="http://schemas.microsoft.com/office/drawing/2014/main" id="{F3B619F2-D52A-4561-A29C-046A83E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04975"/>
            <a:ext cx="21812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累计结果</a:t>
            </a:r>
          </a:p>
        </p:txBody>
      </p:sp>
      <p:sp>
        <p:nvSpPr>
          <p:cNvPr id="9" name="proof-table-r0c0">
            <a:extLst xmlns:a="http://schemas.openxmlformats.org/drawingml/2006/main">
              <a:ext uri="{FF2B5EF4-FFF2-40B4-BE49-F238E27FC236}">
                <a16:creationId xmlns:a16="http://schemas.microsoft.com/office/drawing/2014/main" id="{49AC384E-EF93-4E56-8349-3D7BB861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3286125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只用hfq定义学习答案</a:t>
            </a:r>
          </a:p>
        </p:txBody>
      </p:sp>
      <p:sp>
        <p:nvSpPr>
          <p:cNvPr id="10" name="proof-table-r0c1">
            <a:extLst xmlns:a="http://schemas.openxmlformats.org/drawingml/2006/main">
              <a:ext uri="{FF2B5EF4-FFF2-40B4-BE49-F238E27FC236}">
                <a16:creationId xmlns:a16="http://schemas.microsoft.com/office/drawing/2014/main" id="{C4B3A825-9500-42C3-B58E-D9E4366C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38375"/>
            <a:ext cx="48196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冻结每季因子身份；原始价格买卖</a:t>
            </a:r>
          </a:p>
        </p:txBody>
      </p:sp>
      <p:sp>
        <p:nvSpPr>
          <p:cNvPr id="11" name="proof-table-r0c2">
            <a:extLst xmlns:a="http://schemas.openxmlformats.org/drawingml/2006/main">
              <a:ext uri="{FF2B5EF4-FFF2-40B4-BE49-F238E27FC236}">
                <a16:creationId xmlns:a16="http://schemas.microsoft.com/office/drawing/2014/main" id="{6ECFC146-932A-4363-BE48-BB9C5269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38375"/>
            <a:ext cx="2181225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+93.49%</a:t>
            </a:r>
          </a:p>
        </p:txBody>
      </p:sp>
      <p:sp>
        <p:nvSpPr>
          <p:cNvPr id="12" name="proof-table-row0">
            <a:extLst xmlns:a="http://schemas.openxmlformats.org/drawingml/2006/main">
              <a:ext uri="{FF2B5EF4-FFF2-40B4-BE49-F238E27FC236}">
                <a16:creationId xmlns:a16="http://schemas.microsoft.com/office/drawing/2014/main" id="{6F9B0321-A6FA-479A-B1AB-6724DB51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proof-table-r1c0">
            <a:extLst xmlns:a="http://schemas.openxmlformats.org/drawingml/2006/main">
              <a:ext uri="{FF2B5EF4-FFF2-40B4-BE49-F238E27FC236}">
                <a16:creationId xmlns:a16="http://schemas.microsoft.com/office/drawing/2014/main" id="{0552C9AF-B7CC-4417-BE5F-5945D35B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3286125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答案 + 部分价格线索用hfq</a:t>
            </a:r>
          </a:p>
        </p:txBody>
      </p:sp>
      <p:sp>
        <p:nvSpPr>
          <p:cNvPr id="14" name="proof-table-r1c1">
            <a:extLst xmlns:a="http://schemas.openxmlformats.org/drawingml/2006/main">
              <a:ext uri="{FF2B5EF4-FFF2-40B4-BE49-F238E27FC236}">
                <a16:creationId xmlns:a16="http://schemas.microsoft.com/office/drawing/2014/main" id="{E95578FC-FEEA-4B8D-AB9B-7F5F1419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09900"/>
            <a:ext cx="48196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实际买卖仍用原始价格</a:t>
            </a:r>
          </a:p>
        </p:txBody>
      </p:sp>
      <p:sp>
        <p:nvSpPr>
          <p:cNvPr id="15" name="proof-table-r1c2">
            <a:extLst xmlns:a="http://schemas.openxmlformats.org/drawingml/2006/main">
              <a:ext uri="{FF2B5EF4-FFF2-40B4-BE49-F238E27FC236}">
                <a16:creationId xmlns:a16="http://schemas.microsoft.com/office/drawing/2014/main" id="{AB288F51-BFF8-4086-A35C-3DEE9138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09900"/>
            <a:ext cx="2181225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+55.39%</a:t>
            </a:r>
          </a:p>
        </p:txBody>
      </p:sp>
      <p:sp>
        <p:nvSpPr>
          <p:cNvPr id="16" name="proof-table-row1">
            <a:extLst xmlns:a="http://schemas.openxmlformats.org/drawingml/2006/main">
              <a:ext uri="{FF2B5EF4-FFF2-40B4-BE49-F238E27FC236}">
                <a16:creationId xmlns:a16="http://schemas.microsoft.com/office/drawing/2014/main" id="{9E4D536D-77D1-4A50-9B78-003A2298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proof-table-r2c0">
            <a:extLst xmlns:a="http://schemas.openxmlformats.org/drawingml/2006/main">
              <a:ext uri="{FF2B5EF4-FFF2-40B4-BE49-F238E27FC236}">
                <a16:creationId xmlns:a16="http://schemas.microsoft.com/office/drawing/2014/main" id="{3C48668F-0019-4230-B61C-FE823399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3286125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分红送股除权日即时可用</a:t>
            </a:r>
          </a:p>
        </p:txBody>
      </p:sp>
      <p:sp>
        <p:nvSpPr>
          <p:cNvPr id="18" name="proof-table-r2c1">
            <a:extLst xmlns:a="http://schemas.openxmlformats.org/drawingml/2006/main">
              <a:ext uri="{FF2B5EF4-FFF2-40B4-BE49-F238E27FC236}">
                <a16:creationId xmlns:a16="http://schemas.microsoft.com/office/drawing/2014/main" id="{6BD3D80B-2CB8-439B-82E5-8A61790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48196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原40因子预测不变；改记账情景</a:t>
            </a:r>
          </a:p>
        </p:txBody>
      </p:sp>
      <p:sp>
        <p:nvSpPr>
          <p:cNvPr id="19" name="proof-table-r2c2">
            <a:extLst xmlns:a="http://schemas.openxmlformats.org/drawingml/2006/main">
              <a:ext uri="{FF2B5EF4-FFF2-40B4-BE49-F238E27FC236}">
                <a16:creationId xmlns:a16="http://schemas.microsoft.com/office/drawing/2014/main" id="{10F40C0B-30AF-4522-88A9-475ABB24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81425"/>
            <a:ext cx="2181225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+73.25%</a:t>
            </a:r>
          </a:p>
        </p:txBody>
      </p:sp>
      <p:sp>
        <p:nvSpPr>
          <p:cNvPr id="20" name="proof-table-row2">
            <a:extLst xmlns:a="http://schemas.openxmlformats.org/drawingml/2006/main">
              <a:ext uri="{FF2B5EF4-FFF2-40B4-BE49-F238E27FC236}">
                <a16:creationId xmlns:a16="http://schemas.microsoft.com/office/drawing/2014/main" id="{26E0BC41-C215-4878-ABF8-E3939364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1" name="proof-table-r3c0">
            <a:extLst xmlns:a="http://schemas.openxmlformats.org/drawingml/2006/main">
              <a:ext uri="{FF2B5EF4-FFF2-40B4-BE49-F238E27FC236}">
                <a16:creationId xmlns:a16="http://schemas.microsoft.com/office/drawing/2014/main" id="{3EE60424-B569-4BFC-92FB-77721898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3286125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仅单列应收现金分红</a:t>
            </a:r>
          </a:p>
        </p:txBody>
      </p:sp>
      <p:sp>
        <p:nvSpPr>
          <p:cNvPr id="22" name="proof-table-r3c1">
            <a:extLst xmlns:a="http://schemas.openxmlformats.org/drawingml/2006/main">
              <a:ext uri="{FF2B5EF4-FFF2-40B4-BE49-F238E27FC236}">
                <a16:creationId xmlns:a16="http://schemas.microsoft.com/office/drawing/2014/main" id="{EFE7686D-5ED0-4DB6-9CB8-7CE777CB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52950"/>
            <a:ext cx="48196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原买卖不变，不再投资，不修复送转</a:t>
            </a:r>
          </a:p>
        </p:txBody>
      </p:sp>
      <p:sp>
        <p:nvSpPr>
          <p:cNvPr id="23" name="proof-table-r3c2">
            <a:extLst xmlns:a="http://schemas.openxmlformats.org/drawingml/2006/main">
              <a:ext uri="{FF2B5EF4-FFF2-40B4-BE49-F238E27FC236}">
                <a16:creationId xmlns:a16="http://schemas.microsoft.com/office/drawing/2014/main" id="{52C24DDA-B2B9-4EA3-B575-AB7B3211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52950"/>
            <a:ext cx="2181225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16874.83元</a:t>
            </a:r>
          </a:p>
        </p:txBody>
      </p:sp>
      <p:sp>
        <p:nvSpPr>
          <p:cNvPr id="24" name="proof-table-row3">
            <a:extLst xmlns:a="http://schemas.openxmlformats.org/drawingml/2006/main">
              <a:ext uri="{FF2B5EF4-FFF2-40B4-BE49-F238E27FC236}">
                <a16:creationId xmlns:a16="http://schemas.microsoft.com/office/drawing/2014/main" id="{275554A7-7210-4DA1-94CE-F143FE45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001DE8F-83EF-4060-9133-D0D04744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348只比例后复权文件；原价有答案样本覆盖98.54%；不能把这些支线拼成一个模型。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F946268-7BF8-426F-A5A0-DAFAFFD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F3E9813-0321-42CD-AA7B-FD5D58B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hfq_results.json；cash_dividend_receivables.csv｜hfq为当前供应商口径，历史版本待核验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D36EB3-F4B1-4E10-AF9A-735C01F4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17 / 23</a:t>
            </a:r>
          </a:p>
        </p:txBody>
      </p:sp>
    </p:spTree>
    <p:extLst>
      <p:ext uri="{BB962C8B-B14F-4D97-AF65-F5344CB8AC3E}">
        <p14:creationId xmlns:p14="http://schemas.microsoft.com/office/powerpoint/2010/main" val="17697856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5A88175-118D-42D0-9512-78474AE9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E72AF9-3CC2-4E86-8624-19442D8E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逐项回应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DA9CD49-DEE2-4AE5-ADC7-DA51E719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九项建议1—5：工程已推进，市场有效性仍有限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7AD9A1-72DC-467F-AF46-6C47A509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proof-table-header-fill">
            <a:extLst xmlns:a="http://schemas.openxmlformats.org/drawingml/2006/main">
              <a:ext uri="{FF2B5EF4-FFF2-40B4-BE49-F238E27FC236}">
                <a16:creationId xmlns:a16="http://schemas.microsoft.com/office/drawing/2014/main" id="{C0CCF7F3-812C-4C4E-811F-5D68A6F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6" name="proof-table-h0">
            <a:extLst xmlns:a="http://schemas.openxmlformats.org/drawingml/2006/main">
              <a:ext uri="{FF2B5EF4-FFF2-40B4-BE49-F238E27FC236}">
                <a16:creationId xmlns:a16="http://schemas.microsoft.com/office/drawing/2014/main" id="{C2A110B0-37B8-4076-BB54-F129944A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21812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7" name="proof-table-h1">
            <a:extLst xmlns:a="http://schemas.openxmlformats.org/drawingml/2006/main">
              <a:ext uri="{FF2B5EF4-FFF2-40B4-BE49-F238E27FC236}">
                <a16:creationId xmlns:a16="http://schemas.microsoft.com/office/drawing/2014/main" id="{8D8E50F7-4797-4F23-AAB9-960F007F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704975"/>
            <a:ext cx="43243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本轮完成</a:t>
            </a:r>
          </a:p>
        </p:txBody>
      </p:sp>
      <p:sp>
        <p:nvSpPr>
          <p:cNvPr id="8" name="proof-table-h2">
            <a:extLst xmlns:a="http://schemas.openxmlformats.org/drawingml/2006/main">
              <a:ext uri="{FF2B5EF4-FFF2-40B4-BE49-F238E27FC236}">
                <a16:creationId xmlns:a16="http://schemas.microsoft.com/office/drawing/2014/main" id="{770BF2F0-2464-4341-900C-3F3B51ED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04975"/>
            <a:ext cx="37719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仍未解决</a:t>
            </a:r>
          </a:p>
        </p:txBody>
      </p:sp>
      <p:sp>
        <p:nvSpPr>
          <p:cNvPr id="9" name="proof-table-r0c0">
            <a:extLst xmlns:a="http://schemas.openxmlformats.org/drawingml/2006/main">
              <a:ext uri="{FF2B5EF4-FFF2-40B4-BE49-F238E27FC236}">
                <a16:creationId xmlns:a16="http://schemas.microsoft.com/office/drawing/2014/main" id="{3E241680-B1D1-4A02-845F-9E45F288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1812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 动态股票池</a:t>
            </a:r>
          </a:p>
        </p:txBody>
      </p:sp>
      <p:sp>
        <p:nvSpPr>
          <p:cNvPr id="10" name="proof-table-r0c1">
            <a:extLst xmlns:a="http://schemas.openxmlformats.org/drawingml/2006/main">
              <a:ext uri="{FF2B5EF4-FFF2-40B4-BE49-F238E27FC236}">
                <a16:creationId xmlns:a16="http://schemas.microsoft.com/office/drawing/2014/main" id="{28053608-16E9-4D66-A9E4-784450F6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238375"/>
            <a:ext cx="43243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日更Top100，记录排除原因</a:t>
            </a:r>
          </a:p>
        </p:txBody>
      </p:sp>
      <p:sp>
        <p:nvSpPr>
          <p:cNvPr id="11" name="proof-table-r0c2">
            <a:extLst xmlns:a="http://schemas.openxmlformats.org/drawingml/2006/main">
              <a:ext uri="{FF2B5EF4-FFF2-40B4-BE49-F238E27FC236}">
                <a16:creationId xmlns:a16="http://schemas.microsoft.com/office/drawing/2014/main" id="{93F16D86-C1C4-4491-8000-E4E1F9B7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38375"/>
            <a:ext cx="37719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正式历史身份/停牌/退市资料</a:t>
            </a:r>
          </a:p>
        </p:txBody>
      </p:sp>
      <p:sp>
        <p:nvSpPr>
          <p:cNvPr id="12" name="proof-table-row0">
            <a:extLst xmlns:a="http://schemas.openxmlformats.org/drawingml/2006/main">
              <a:ext uri="{FF2B5EF4-FFF2-40B4-BE49-F238E27FC236}">
                <a16:creationId xmlns:a16="http://schemas.microsoft.com/office/drawing/2014/main" id="{987A82A1-A8D9-4E64-A90E-301B2751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proof-table-r1c0">
            <a:extLst xmlns:a="http://schemas.openxmlformats.org/drawingml/2006/main">
              <a:ext uri="{FF2B5EF4-FFF2-40B4-BE49-F238E27FC236}">
                <a16:creationId xmlns:a16="http://schemas.microsoft.com/office/drawing/2014/main" id="{0949F174-7DD3-43F5-ADAD-EB79EE9C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1812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 资金与基准</a:t>
            </a:r>
          </a:p>
        </p:txBody>
      </p:sp>
      <p:sp>
        <p:nvSpPr>
          <p:cNvPr id="14" name="proof-table-r1c1">
            <a:extLst xmlns:a="http://schemas.openxmlformats.org/drawingml/2006/main">
              <a:ext uri="{FF2B5EF4-FFF2-40B4-BE49-F238E27FC236}">
                <a16:creationId xmlns:a16="http://schemas.microsoft.com/office/drawing/2014/main" id="{0D866141-4381-45F6-A0F9-E19D10DB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33700"/>
            <a:ext cx="43243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连续日线账 + 分钟账 + 费用对照</a:t>
            </a:r>
          </a:p>
        </p:txBody>
      </p:sp>
      <p:sp>
        <p:nvSpPr>
          <p:cNvPr id="15" name="proof-table-r1c2">
            <a:extLst xmlns:a="http://schemas.openxmlformats.org/drawingml/2006/main">
              <a:ext uri="{FF2B5EF4-FFF2-40B4-BE49-F238E27FC236}">
                <a16:creationId xmlns:a16="http://schemas.microsoft.com/office/drawing/2014/main" id="{6EA9B494-541F-4894-8EF1-C1B4BE20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37719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完整结算与真实成交成本</a:t>
            </a:r>
          </a:p>
        </p:txBody>
      </p:sp>
      <p:sp>
        <p:nvSpPr>
          <p:cNvPr id="16" name="proof-table-row1">
            <a:extLst xmlns:a="http://schemas.openxmlformats.org/drawingml/2006/main">
              <a:ext uri="{FF2B5EF4-FFF2-40B4-BE49-F238E27FC236}">
                <a16:creationId xmlns:a16="http://schemas.microsoft.com/office/drawing/2014/main" id="{4E71DEB6-7AC8-4861-9903-B84DEC2B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proof-table-r2c0">
            <a:extLst xmlns:a="http://schemas.openxmlformats.org/drawingml/2006/main">
              <a:ext uri="{FF2B5EF4-FFF2-40B4-BE49-F238E27FC236}">
                <a16:creationId xmlns:a16="http://schemas.microsoft.com/office/drawing/2014/main" id="{5D814FFC-A43E-4FF8-A526-C20F6F94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21812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3 因子盘点/去重</a:t>
            </a:r>
          </a:p>
        </p:txBody>
      </p:sp>
      <p:sp>
        <p:nvSpPr>
          <p:cNvPr id="18" name="proof-table-r2c1">
            <a:extLst xmlns:a="http://schemas.openxmlformats.org/drawingml/2006/main">
              <a:ext uri="{FF2B5EF4-FFF2-40B4-BE49-F238E27FC236}">
                <a16:creationId xmlns:a16="http://schemas.microsoft.com/office/drawing/2014/main" id="{4BC72CEE-60A9-4854-8F1D-16EFD7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29025"/>
            <a:ext cx="43243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304候选；五档数量均实测</a:t>
            </a:r>
          </a:p>
        </p:txBody>
      </p:sp>
      <p:sp>
        <p:nvSpPr>
          <p:cNvPr id="19" name="proof-table-r2c2">
            <a:extLst xmlns:a="http://schemas.openxmlformats.org/drawingml/2006/main">
              <a:ext uri="{FF2B5EF4-FFF2-40B4-BE49-F238E27FC236}">
                <a16:creationId xmlns:a16="http://schemas.microsoft.com/office/drawing/2014/main" id="{9007F0C6-DD1D-490F-9F0B-B1E2E1E9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29025"/>
            <a:ext cx="37719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2447全库历史时点/质量验收</a:t>
            </a:r>
          </a:p>
        </p:txBody>
      </p:sp>
      <p:sp>
        <p:nvSpPr>
          <p:cNvPr id="20" name="proof-table-row2">
            <a:extLst xmlns:a="http://schemas.openxmlformats.org/drawingml/2006/main">
              <a:ext uri="{FF2B5EF4-FFF2-40B4-BE49-F238E27FC236}">
                <a16:creationId xmlns:a16="http://schemas.microsoft.com/office/drawing/2014/main" id="{98B810CB-3C2F-469C-AADD-3084D479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1" name="proof-table-r3c0">
            <a:extLst xmlns:a="http://schemas.openxmlformats.org/drawingml/2006/main">
              <a:ext uri="{FF2B5EF4-FFF2-40B4-BE49-F238E27FC236}">
                <a16:creationId xmlns:a16="http://schemas.microsoft.com/office/drawing/2014/main" id="{7F03003B-6400-4A23-A6B0-328B5878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1812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4 因子/模型效果</a:t>
            </a:r>
          </a:p>
        </p:txBody>
      </p:sp>
      <p:sp>
        <p:nvSpPr>
          <p:cNvPr id="22" name="proof-table-r3c1">
            <a:extLst xmlns:a="http://schemas.openxmlformats.org/drawingml/2006/main">
              <a:ext uri="{FF2B5EF4-FFF2-40B4-BE49-F238E27FC236}">
                <a16:creationId xmlns:a16="http://schemas.microsoft.com/office/drawing/2014/main" id="{D879857D-9B4B-4D04-A227-7091DD17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24350"/>
            <a:ext cx="43243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IC、分组、多模型、稳健性区间</a:t>
            </a:r>
          </a:p>
        </p:txBody>
      </p:sp>
      <p:sp>
        <p:nvSpPr>
          <p:cNvPr id="23" name="proof-table-r3c2">
            <a:extLst xmlns:a="http://schemas.openxmlformats.org/drawingml/2006/main">
              <a:ext uri="{FF2B5EF4-FFF2-40B4-BE49-F238E27FC236}">
                <a16:creationId xmlns:a16="http://schemas.microsoft.com/office/drawing/2014/main" id="{D2436ED9-DE31-41BC-AC5E-9928E079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24350"/>
            <a:ext cx="37719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新的未观察样本证据</a:t>
            </a:r>
          </a:p>
        </p:txBody>
      </p:sp>
      <p:sp>
        <p:nvSpPr>
          <p:cNvPr id="24" name="proof-table-row3">
            <a:extLst xmlns:a="http://schemas.openxmlformats.org/drawingml/2006/main">
              <a:ext uri="{FF2B5EF4-FFF2-40B4-BE49-F238E27FC236}">
                <a16:creationId xmlns:a16="http://schemas.microsoft.com/office/drawing/2014/main" id="{C8EAA766-741D-4AC5-8766-AAE0C82D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5" name="proof-table-r4c0">
            <a:extLst xmlns:a="http://schemas.openxmlformats.org/drawingml/2006/main">
              <a:ext uri="{FF2B5EF4-FFF2-40B4-BE49-F238E27FC236}">
                <a16:creationId xmlns:a16="http://schemas.microsoft.com/office/drawing/2014/main" id="{5B7660B0-DD28-463E-B634-580F1E3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21812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5 长历史/跨市场</a:t>
            </a:r>
          </a:p>
        </p:txBody>
      </p:sp>
      <p:sp>
        <p:nvSpPr>
          <p:cNvPr id="26" name="proof-table-r4c1">
            <a:extLst xmlns:a="http://schemas.openxmlformats.org/drawingml/2006/main">
              <a:ext uri="{FF2B5EF4-FFF2-40B4-BE49-F238E27FC236}">
                <a16:creationId xmlns:a16="http://schemas.microsoft.com/office/drawing/2014/main" id="{82C871CC-ECA3-425F-9534-774C9BD4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19675"/>
            <a:ext cx="43243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496只来源沪深Alpha101，31季度</a:t>
            </a:r>
          </a:p>
        </p:txBody>
      </p:sp>
      <p:sp>
        <p:nvSpPr>
          <p:cNvPr id="27" name="proof-table-r4c2">
            <a:extLst xmlns:a="http://schemas.openxmlformats.org/drawingml/2006/main">
              <a:ext uri="{FF2B5EF4-FFF2-40B4-BE49-F238E27FC236}">
                <a16:creationId xmlns:a16="http://schemas.microsoft.com/office/drawing/2014/main" id="{F807259F-0536-4E2B-A4E1-92F08D6A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19675"/>
            <a:ext cx="37719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幸存者偏差与跨市场普遍性</a:t>
            </a:r>
          </a:p>
        </p:txBody>
      </p:sp>
      <p:sp>
        <p:nvSpPr>
          <p:cNvPr id="28" name="proof-table-row4">
            <a:extLst xmlns:a="http://schemas.openxmlformats.org/drawingml/2006/main">
              <a:ext uri="{FF2B5EF4-FFF2-40B4-BE49-F238E27FC236}">
                <a16:creationId xmlns:a16="http://schemas.microsoft.com/office/drawing/2014/main" id="{7A4549B5-7E80-4583-BF03-3C615A5A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DD56593-D72B-405B-83CE-ECDEEEA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3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083C17B-0786-468B-98B1-0699223A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对应脚本和结果见附录证据路径；“完成实验”不等于“证明有效”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E9F968-4CD9-45C6-BF69-DCB53158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18 / 23</a:t>
            </a:r>
          </a:p>
        </p:txBody>
      </p:sp>
    </p:spTree>
    <p:extLst>
      <p:ext uri="{BB962C8B-B14F-4D97-AF65-F5344CB8AC3E}">
        <p14:creationId xmlns:p14="http://schemas.microsoft.com/office/powerpoint/2010/main" val="1587286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0570C7-E6A7-46D8-A299-9C5293A3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E56628-C873-4B53-B47B-AF3CD9BB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逐项回应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68703B4-8A13-4115-AE6A-257A570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九项建议6—9：已有时间与执行检查，仍需外部证据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8BBB3A-B711-4ACE-A14D-3E22E501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proof-table-header-fill">
            <a:extLst xmlns:a="http://schemas.openxmlformats.org/drawingml/2006/main">
              <a:ext uri="{FF2B5EF4-FFF2-40B4-BE49-F238E27FC236}">
                <a16:creationId xmlns:a16="http://schemas.microsoft.com/office/drawing/2014/main" id="{87CAA39E-55A0-4388-8636-E5954B1A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6" name="proof-table-h0">
            <a:extLst xmlns:a="http://schemas.openxmlformats.org/drawingml/2006/main">
              <a:ext uri="{FF2B5EF4-FFF2-40B4-BE49-F238E27FC236}">
                <a16:creationId xmlns:a16="http://schemas.microsoft.com/office/drawing/2014/main" id="{AD9F6864-5CD5-4B3A-B227-0DE33439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21336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7" name="proof-table-h1">
            <a:extLst xmlns:a="http://schemas.openxmlformats.org/drawingml/2006/main">
              <a:ext uri="{FF2B5EF4-FFF2-40B4-BE49-F238E27FC236}">
                <a16:creationId xmlns:a16="http://schemas.microsoft.com/office/drawing/2014/main" id="{BF7ADC0A-691E-423D-A8A0-700F0833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04975"/>
            <a:ext cx="44862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本轮完成</a:t>
            </a:r>
          </a:p>
        </p:txBody>
      </p:sp>
      <p:sp>
        <p:nvSpPr>
          <p:cNvPr id="8" name="proof-table-h2">
            <a:extLst xmlns:a="http://schemas.openxmlformats.org/drawingml/2006/main">
              <a:ext uri="{FF2B5EF4-FFF2-40B4-BE49-F238E27FC236}">
                <a16:creationId xmlns:a16="http://schemas.microsoft.com/office/drawing/2014/main" id="{8EF38746-6278-4317-A6C1-09FF58CE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36671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仍未解决</a:t>
            </a:r>
          </a:p>
        </p:txBody>
      </p:sp>
      <p:sp>
        <p:nvSpPr>
          <p:cNvPr id="9" name="proof-table-r0c0">
            <a:extLst xmlns:a="http://schemas.openxmlformats.org/drawingml/2006/main">
              <a:ext uri="{FF2B5EF4-FFF2-40B4-BE49-F238E27FC236}">
                <a16:creationId xmlns:a16="http://schemas.microsoft.com/office/drawing/2014/main" id="{F9FF2782-AC65-4A2F-B08F-68F452E4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1336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6 滚动训练</a:t>
            </a:r>
          </a:p>
        </p:txBody>
      </p:sp>
      <p:sp>
        <p:nvSpPr>
          <p:cNvPr id="10" name="proof-table-r0c1">
            <a:extLst xmlns:a="http://schemas.openxmlformats.org/drawingml/2006/main">
              <a:ext uri="{FF2B5EF4-FFF2-40B4-BE49-F238E27FC236}">
                <a16:creationId xmlns:a16="http://schemas.microsoft.com/office/drawing/2014/main" id="{CFED326B-F833-4A00-A40B-D1FC1896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38375"/>
            <a:ext cx="4486275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逐季验证选数量；剔除跨界答案</a:t>
            </a:r>
          </a:p>
        </p:txBody>
      </p:sp>
      <p:sp>
        <p:nvSpPr>
          <p:cNvPr id="11" name="proof-table-r0c2">
            <a:extLst xmlns:a="http://schemas.openxmlformats.org/drawingml/2006/main">
              <a:ext uri="{FF2B5EF4-FFF2-40B4-BE49-F238E27FC236}">
                <a16:creationId xmlns:a16="http://schemas.microsoft.com/office/drawing/2014/main" id="{F892AC6A-AE2B-4701-AA83-D963719D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38375"/>
            <a:ext cx="3667125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未来实时留存与新答案检验</a:t>
            </a:r>
          </a:p>
        </p:txBody>
      </p:sp>
      <p:sp>
        <p:nvSpPr>
          <p:cNvPr id="12" name="proof-table-row0">
            <a:extLst xmlns:a="http://schemas.openxmlformats.org/drawingml/2006/main">
              <a:ext uri="{FF2B5EF4-FFF2-40B4-BE49-F238E27FC236}">
                <a16:creationId xmlns:a16="http://schemas.microsoft.com/office/drawing/2014/main" id="{60E1FA68-33CD-41E1-9311-CF92444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proof-table-r1c0">
            <a:extLst xmlns:a="http://schemas.openxmlformats.org/drawingml/2006/main">
              <a:ext uri="{FF2B5EF4-FFF2-40B4-BE49-F238E27FC236}">
                <a16:creationId xmlns:a16="http://schemas.microsoft.com/office/drawing/2014/main" id="{031936D9-762B-443D-A30D-AB844163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1336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7 HMM解释与对照</a:t>
            </a:r>
          </a:p>
        </p:txBody>
      </p:sp>
      <p:sp>
        <p:nvSpPr>
          <p:cNvPr id="14" name="proof-table-r1c1">
            <a:extLst xmlns:a="http://schemas.openxmlformats.org/drawingml/2006/main">
              <a:ext uri="{FF2B5EF4-FFF2-40B4-BE49-F238E27FC236}">
                <a16:creationId xmlns:a16="http://schemas.microsoft.com/office/drawing/2014/main" id="{D3249AAD-F9E2-424D-BCAD-DC80876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86100"/>
            <a:ext cx="4486275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严格拟合、状态概率与固定仓位对照</a:t>
            </a:r>
          </a:p>
        </p:txBody>
      </p:sp>
      <p:sp>
        <p:nvSpPr>
          <p:cNvPr id="15" name="proof-table-r1c2">
            <a:extLst xmlns:a="http://schemas.openxmlformats.org/drawingml/2006/main">
              <a:ext uri="{FF2B5EF4-FFF2-40B4-BE49-F238E27FC236}">
                <a16:creationId xmlns:a16="http://schemas.microsoft.com/office/drawing/2014/main" id="{47749182-26ED-4A28-B75F-BCCC7A85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86100"/>
            <a:ext cx="3667125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未显示超过简单仓位控制的效果</a:t>
            </a:r>
          </a:p>
        </p:txBody>
      </p:sp>
      <p:sp>
        <p:nvSpPr>
          <p:cNvPr id="16" name="proof-table-row1">
            <a:extLst xmlns:a="http://schemas.openxmlformats.org/drawingml/2006/main">
              <a:ext uri="{FF2B5EF4-FFF2-40B4-BE49-F238E27FC236}">
                <a16:creationId xmlns:a16="http://schemas.microsoft.com/office/drawing/2014/main" id="{3C369214-6327-47FD-9A60-FF59ADC4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proof-table-r2c0">
            <a:extLst xmlns:a="http://schemas.openxmlformats.org/drawingml/2006/main">
              <a:ext uri="{FF2B5EF4-FFF2-40B4-BE49-F238E27FC236}">
                <a16:creationId xmlns:a16="http://schemas.microsoft.com/office/drawing/2014/main" id="{59D7CB4B-2FD4-4032-8674-63C02CEC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21336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8 时点/复权/单位</a:t>
            </a:r>
          </a:p>
        </p:txBody>
      </p:sp>
      <p:sp>
        <p:nvSpPr>
          <p:cNvPr id="18" name="proof-table-r2c1">
            <a:extLst xmlns:a="http://schemas.openxmlformats.org/drawingml/2006/main">
              <a:ext uri="{FF2B5EF4-FFF2-40B4-BE49-F238E27FC236}">
                <a16:creationId xmlns:a16="http://schemas.microsoft.com/office/drawing/2014/main" id="{B5F37C63-6BC7-483F-B994-41521783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4486275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额外2日延迟、股本、hfq、分红情景</a:t>
            </a:r>
          </a:p>
        </p:txBody>
      </p:sp>
      <p:sp>
        <p:nvSpPr>
          <p:cNvPr id="19" name="proof-table-r2c2">
            <a:extLst xmlns:a="http://schemas.openxmlformats.org/drawingml/2006/main">
              <a:ext uri="{FF2B5EF4-FFF2-40B4-BE49-F238E27FC236}">
                <a16:creationId xmlns:a16="http://schemas.microsoft.com/office/drawing/2014/main" id="{D5D3A369-FEDB-41D6-966B-09B416B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33825"/>
            <a:ext cx="3667125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发布时间/修订、到账/可卖日/税费</a:t>
            </a:r>
          </a:p>
        </p:txBody>
      </p:sp>
      <p:sp>
        <p:nvSpPr>
          <p:cNvPr id="20" name="proof-table-row2">
            <a:extLst xmlns:a="http://schemas.openxmlformats.org/drawingml/2006/main">
              <a:ext uri="{FF2B5EF4-FFF2-40B4-BE49-F238E27FC236}">
                <a16:creationId xmlns:a16="http://schemas.microsoft.com/office/drawing/2014/main" id="{7C3E286C-20F2-426A-A755-CDF8085B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1" name="proof-table-r3c0">
            <a:extLst xmlns:a="http://schemas.openxmlformats.org/drawingml/2006/main">
              <a:ext uri="{FF2B5EF4-FFF2-40B4-BE49-F238E27FC236}">
                <a16:creationId xmlns:a16="http://schemas.microsoft.com/office/drawing/2014/main" id="{2B02EDAE-8984-486E-8E42-C020018B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21336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9 平台与执行</a:t>
            </a:r>
          </a:p>
        </p:txBody>
      </p:sp>
      <p:sp>
        <p:nvSpPr>
          <p:cNvPr id="22" name="proof-table-r3c1">
            <a:extLst xmlns:a="http://schemas.openxmlformats.org/drawingml/2006/main">
              <a:ext uri="{FF2B5EF4-FFF2-40B4-BE49-F238E27FC236}">
                <a16:creationId xmlns:a16="http://schemas.microsoft.com/office/drawing/2014/main" id="{7C69F32D-E500-4C07-AEAD-2D00C0A9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81550"/>
            <a:ext cx="4486275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两段分钟现金账户、三档容量；离线适配</a:t>
            </a:r>
          </a:p>
        </p:txBody>
      </p:sp>
      <p:sp>
        <p:nvSpPr>
          <p:cNvPr id="23" name="proof-table-r3c2">
            <a:extLst xmlns:a="http://schemas.openxmlformats.org/drawingml/2006/main">
              <a:ext uri="{FF2B5EF4-FFF2-40B4-BE49-F238E27FC236}">
                <a16:creationId xmlns:a16="http://schemas.microsoft.com/office/drawing/2014/main" id="{FE6E1875-055F-4AE2-91A1-CAF076F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81550"/>
            <a:ext cx="3667125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订单簿/冲击/完整规则与商业平台验收</a:t>
            </a:r>
          </a:p>
        </p:txBody>
      </p:sp>
      <p:sp>
        <p:nvSpPr>
          <p:cNvPr id="24" name="proof-table-row3">
            <a:extLst xmlns:a="http://schemas.openxmlformats.org/drawingml/2006/main">
              <a:ext uri="{FF2B5EF4-FFF2-40B4-BE49-F238E27FC236}">
                <a16:creationId xmlns:a16="http://schemas.microsoft.com/office/drawing/2014/main" id="{14F3038E-722F-4103-9B4E-146ECB0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7BAC0693-5F89-4F88-9B7D-308E060C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59项自动检查通过；这证明规则实现与核对结果，不是未来盈利证明。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4B5928B-E8B6-4ED1-9263-998450A9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0008B41-13DE-4C84-9460-4B1FACD0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verification.json；minute_account.py；hmm_robustness.py；new_data.py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B23274-841F-4EEF-B00C-AA9ABB43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19 / 23</a:t>
            </a:r>
          </a:p>
        </p:txBody>
      </p:sp>
    </p:spTree>
    <p:extLst>
      <p:ext uri="{BB962C8B-B14F-4D97-AF65-F5344CB8AC3E}">
        <p14:creationId xmlns:p14="http://schemas.microsoft.com/office/powerpoint/2010/main" val="13676263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FB60DE-218C-471D-987E-EBE4C8EC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D006EB1-9B86-4C4D-A66F-17E2B5FC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必要补齐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F293589-F46B-44CA-AB53-501394A5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下一阶段优先补决定真实性的资料，而非继续挑最高收益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CA1E42-500A-4FA8-A986-AB344E49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section-label0">
            <a:extLst xmlns:a="http://schemas.openxmlformats.org/drawingml/2006/main">
              <a:ext uri="{FF2B5EF4-FFF2-40B4-BE49-F238E27FC236}">
                <a16:creationId xmlns:a16="http://schemas.microsoft.com/office/drawing/2014/main" id="{C0A23130-CB79-4F8A-9B8B-A627FF4F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历史身份与信息时点</a:t>
            </a:r>
          </a:p>
        </p:txBody>
      </p:sp>
      <p:sp>
        <p:nvSpPr>
          <p:cNvPr id="6" name="section-body0">
            <a:extLst xmlns:a="http://schemas.openxmlformats.org/drawingml/2006/main">
              <a:ext uri="{FF2B5EF4-FFF2-40B4-BE49-F238E27FC236}">
                <a16:creationId xmlns:a16="http://schemas.microsoft.com/office/drawing/2014/main" id="{A0457C22-5DCE-4603-954C-9B9DE2AB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上市/退市/停牌/代码历史；因子发布、财报公告与修订版本。</a:t>
            </a:r>
          </a:p>
        </p:txBody>
      </p:sp>
      <p:sp>
        <p:nvSpPr>
          <p:cNvPr id="7" name="section-label1">
            <a:extLst xmlns:a="http://schemas.openxmlformats.org/drawingml/2006/main">
              <a:ext uri="{FF2B5EF4-FFF2-40B4-BE49-F238E27FC236}">
                <a16:creationId xmlns:a16="http://schemas.microsoft.com/office/drawing/2014/main" id="{E87DCB13-0EFF-46E1-9847-02505336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公司行为结算</a:t>
            </a:r>
          </a:p>
        </p:txBody>
      </p:sp>
      <p:sp>
        <p:nvSpPr>
          <p:cNvPr id="8" name="section-body1">
            <a:extLst xmlns:a="http://schemas.openxmlformats.org/drawingml/2006/main">
              <a:ext uri="{FF2B5EF4-FFF2-40B4-BE49-F238E27FC236}">
                <a16:creationId xmlns:a16="http://schemas.microsoft.com/office/drawing/2014/main" id="{98749E24-87C0-45D8-8CA1-51B143EF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现金支付日、新增股份可交易日、税费与零股规则、事件完整性。</a:t>
            </a:r>
          </a:p>
        </p:txBody>
      </p:sp>
      <p:sp>
        <p:nvSpPr>
          <p:cNvPr id="9" name="section-label2">
            <a:extLst xmlns:a="http://schemas.openxmlformats.org/drawingml/2006/main">
              <a:ext uri="{FF2B5EF4-FFF2-40B4-BE49-F238E27FC236}">
                <a16:creationId xmlns:a16="http://schemas.microsoft.com/office/drawing/2014/main" id="{57B8369F-558E-457F-B77E-3277F3F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执行与平台</a:t>
            </a:r>
          </a:p>
        </p:txBody>
      </p:sp>
      <p:sp>
        <p:nvSpPr>
          <p:cNvPr id="10" name="section-body2">
            <a:extLst xmlns:a="http://schemas.openxmlformats.org/drawingml/2006/main">
              <a:ext uri="{FF2B5EF4-FFF2-40B4-BE49-F238E27FC236}">
                <a16:creationId xmlns:a16="http://schemas.microsoft.com/office/drawing/2014/main" id="{6329A053-2F97-48BD-9963-6AFA32CC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BJ分钟2025-06-30、2026-05-18、2026-10-08；指定商业平台环境与验收规则。</a:t>
            </a:r>
          </a:p>
        </p:txBody>
      </p:sp>
      <p:sp>
        <p:nvSpPr>
          <p:cNvPr id="1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6DE5AD7-F66F-4866-84A3-86BD5F0D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当前实验可复现；跨越缺口的更长分钟测试，以及真实总收益验收，需要相应补齐。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452E06-20DC-486A-842F-909DB463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7E35A8A-2397-44B0-85CC-5A2A0C2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晚间目录与样本核查；dividend_summary.json；学习笔记中的具体路径清单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E514B2-81E8-4C75-B0B6-2063167C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20 / 23</a:t>
            </a:r>
          </a:p>
        </p:txBody>
      </p:sp>
    </p:spTree>
    <p:extLst>
      <p:ext uri="{BB962C8B-B14F-4D97-AF65-F5344CB8AC3E}">
        <p14:creationId xmlns:p14="http://schemas.microsoft.com/office/powerpoint/2010/main" val="14801505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49F17D6-AF28-41D5-A366-38DC9BA4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92B6E9-1618-435C-8F06-CDE3DCD7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研究结论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86DB929-E7C2-4B49-8893-9DE32C7D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本轮结论：数量与执行值得研究，尚不能宣称可实盘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5F202F4-3FDF-4A3F-8C90-805DA58B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section-label0">
            <a:extLst xmlns:a="http://schemas.openxmlformats.org/drawingml/2006/main">
              <a:ext uri="{FF2B5EF4-FFF2-40B4-BE49-F238E27FC236}">
                <a16:creationId xmlns:a16="http://schemas.microsoft.com/office/drawing/2014/main" id="{3BCEAE36-C34A-4579-9FF2-9EE0E113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已得到的证据</a:t>
            </a:r>
          </a:p>
        </p:txBody>
      </p:sp>
      <p:sp>
        <p:nvSpPr>
          <p:cNvPr id="6" name="section-body0">
            <a:extLst xmlns:a="http://schemas.openxmlformats.org/drawingml/2006/main">
              <a:ext uri="{FF2B5EF4-FFF2-40B4-BE49-F238E27FC236}">
                <a16:creationId xmlns:a16="http://schemas.microsoft.com/office/drawing/2014/main" id="{34101FCF-C1FB-40B0-9C00-FAC8A8EA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数量选择影响结果；Ridge是有力对照；分钟执行会削弱日线成绩。</a:t>
            </a:r>
          </a:p>
        </p:txBody>
      </p:sp>
      <p:sp>
        <p:nvSpPr>
          <p:cNvPr id="7" name="section-label1">
            <a:extLst xmlns:a="http://schemas.openxmlformats.org/drawingml/2006/main">
              <a:ext uri="{FF2B5EF4-FFF2-40B4-BE49-F238E27FC236}">
                <a16:creationId xmlns:a16="http://schemas.microsoft.com/office/drawing/2014/main" id="{461D942C-B025-462B-B10A-6A1D987E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需要克制的判断</a:t>
            </a:r>
          </a:p>
        </p:txBody>
      </p:sp>
      <p:sp>
        <p:nvSpPr>
          <p:cNvPr id="8" name="section-body1">
            <a:extLst xmlns:a="http://schemas.openxmlformats.org/drawingml/2006/main">
              <a:ext uri="{FF2B5EF4-FFF2-40B4-BE49-F238E27FC236}">
                <a16:creationId xmlns:a16="http://schemas.microsoft.com/office/drawing/2014/main" id="{4DAE430C-9E9B-459E-AE20-0984D211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100个只是本段历史较好；分红即时可用是情景；正收益仍可能伴随深回撤。</a:t>
            </a:r>
          </a:p>
        </p:txBody>
      </p:sp>
      <p:sp>
        <p:nvSpPr>
          <p:cNvPr id="9" name="section-label2">
            <a:extLst xmlns:a="http://schemas.openxmlformats.org/drawingml/2006/main">
              <a:ext uri="{FF2B5EF4-FFF2-40B4-BE49-F238E27FC236}">
                <a16:creationId xmlns:a16="http://schemas.microsoft.com/office/drawing/2014/main" id="{DD96FE31-BAE0-465B-8557-57C8FE3A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下一步可以验证的事</a:t>
            </a:r>
          </a:p>
        </p:txBody>
      </p:sp>
      <p:sp>
        <p:nvSpPr>
          <p:cNvPr id="10" name="section-body2">
            <a:extLst xmlns:a="http://schemas.openxmlformats.org/drawingml/2006/main">
              <a:ext uri="{FF2B5EF4-FFF2-40B4-BE49-F238E27FC236}">
                <a16:creationId xmlns:a16="http://schemas.microsoft.com/office/drawing/2014/main" id="{6DA8A5E5-065B-4A8C-A142-87D8F82E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8204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补齐关键时点与身份资料；保存当时生成的评分，等待未来答案并核对实际执行。</a:t>
            </a:r>
          </a:p>
        </p:txBody>
      </p:sp>
      <p:sp>
        <p:nvSpPr>
          <p:cNvPr id="1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D26DDA9-B56B-4E7C-970C-D71FC116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10月8日100只股票的最新评分已留存：明确为Q3冻结模型观察，不冒充Q4新策略。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CB7AF09-0D8F-4FF5-9A0D-9024CC81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B43E1B4-FAA6-43C5-9470-1202B3F2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final_summary.json；oct8_frozen_model_monitoring.csv｜研究评分，未发单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2855AB-B96D-49BF-91E3-A585E2DC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21 / 23</a:t>
            </a:r>
          </a:p>
        </p:txBody>
      </p:sp>
    </p:spTree>
    <p:extLst>
      <p:ext uri="{BB962C8B-B14F-4D97-AF65-F5344CB8AC3E}">
        <p14:creationId xmlns:p14="http://schemas.microsoft.com/office/powerpoint/2010/main" val="14752483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10E3B55-F654-44BA-AC7F-3821C483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F87E76-6BB0-44A8-A8CD-9507BE42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证据索引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ADFA1DE-54E5-4A2A-9178-1875DC84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附录：主要结果均可定位到原始产物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501F786-AEAB-4E43-B4AD-A2154B9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proof-table-header-fill">
            <a:extLst xmlns:a="http://schemas.openxmlformats.org/drawingml/2006/main">
              <a:ext uri="{FF2B5EF4-FFF2-40B4-BE49-F238E27FC236}">
                <a16:creationId xmlns:a16="http://schemas.microsoft.com/office/drawing/2014/main" id="{0C5AF126-F2D6-4155-9BCF-09A042EF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6" name="proof-table-h0">
            <a:extLst xmlns:a="http://schemas.openxmlformats.org/drawingml/2006/main">
              <a:ext uri="{FF2B5EF4-FFF2-40B4-BE49-F238E27FC236}">
                <a16:creationId xmlns:a16="http://schemas.microsoft.com/office/drawing/2014/main" id="{AF269E26-A365-48B0-8281-A543DBE0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22955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7" name="proof-table-h1">
            <a:extLst xmlns:a="http://schemas.openxmlformats.org/drawingml/2006/main">
              <a:ext uri="{FF2B5EF4-FFF2-40B4-BE49-F238E27FC236}">
                <a16:creationId xmlns:a16="http://schemas.microsoft.com/office/drawing/2014/main" id="{81B0DB1C-796F-4B56-8EB2-8551A742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04975"/>
            <a:ext cx="82200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产物路径（相对项目根目录）</a:t>
            </a:r>
          </a:p>
        </p:txBody>
      </p:sp>
      <p:sp>
        <p:nvSpPr>
          <p:cNvPr id="8" name="proof-table-r0c0">
            <a:extLst xmlns:a="http://schemas.openxmlformats.org/drawingml/2006/main">
              <a:ext uri="{FF2B5EF4-FFF2-40B4-BE49-F238E27FC236}">
                <a16:creationId xmlns:a16="http://schemas.microsoft.com/office/drawing/2014/main" id="{A6A8897C-123C-4490-8D60-F42A214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2955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本轮总表</a:t>
            </a:r>
          </a:p>
        </p:txBody>
      </p:sp>
      <p:sp>
        <p:nvSpPr>
          <p:cNvPr id="9" name="proof-table-r0c1">
            <a:extLst xmlns:a="http://schemas.openxmlformats.org/drawingml/2006/main">
              <a:ext uri="{FF2B5EF4-FFF2-40B4-BE49-F238E27FC236}">
                <a16:creationId xmlns:a16="http://schemas.microsoft.com/office/drawing/2014/main" id="{45140A24-CDE7-4EA2-A37C-D2E6BA14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238375"/>
            <a:ext cx="82200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training_runs/teacher9_20261008/final_summary.json</a:t>
            </a:r>
          </a:p>
        </p:txBody>
      </p:sp>
      <p:sp>
        <p:nvSpPr>
          <p:cNvPr id="10" name="proof-table-row0">
            <a:extLst xmlns:a="http://schemas.openxmlformats.org/drawingml/2006/main">
              <a:ext uri="{FF2B5EF4-FFF2-40B4-BE49-F238E27FC236}">
                <a16:creationId xmlns:a16="http://schemas.microsoft.com/office/drawing/2014/main" id="{047180BC-F118-434A-86FF-95507E8B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1" name="proof-table-r1c0">
            <a:extLst xmlns:a="http://schemas.openxmlformats.org/drawingml/2006/main">
              <a:ext uri="{FF2B5EF4-FFF2-40B4-BE49-F238E27FC236}">
                <a16:creationId xmlns:a16="http://schemas.microsoft.com/office/drawing/2014/main" id="{29223EC5-3639-45F0-809A-2963468D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2955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数量 / 参数 / 切分</a:t>
            </a:r>
          </a:p>
        </p:txBody>
      </p:sp>
      <p:sp>
        <p:nvSpPr>
          <p:cNvPr id="12" name="proof-table-r1c1">
            <a:extLst xmlns:a="http://schemas.openxmlformats.org/drawingml/2006/main">
              <a:ext uri="{FF2B5EF4-FFF2-40B4-BE49-F238E27FC236}">
                <a16:creationId xmlns:a16="http://schemas.microsoft.com/office/drawing/2014/main" id="{5C092F22-DA40-4F88-86FA-D666143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867025"/>
            <a:ext cx="82200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同目录 extension_results.csv、validation_models.csv、folds.json</a:t>
            </a:r>
          </a:p>
        </p:txBody>
      </p:sp>
      <p:sp>
        <p:nvSpPr>
          <p:cNvPr id="13" name="proof-table-row1">
            <a:extLst xmlns:a="http://schemas.openxmlformats.org/drawingml/2006/main">
              <a:ext uri="{FF2B5EF4-FFF2-40B4-BE49-F238E27FC236}">
                <a16:creationId xmlns:a16="http://schemas.microsoft.com/office/drawing/2014/main" id="{1735229C-F5F6-4217-90D5-75F5CDFD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4" name="proof-table-r2c0">
            <a:extLst xmlns:a="http://schemas.openxmlformats.org/drawingml/2006/main">
              <a:ext uri="{FF2B5EF4-FFF2-40B4-BE49-F238E27FC236}">
                <a16:creationId xmlns:a16="http://schemas.microsoft.com/office/drawing/2014/main" id="{BFC2DDDB-B981-4C08-ACF5-2BA85DD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22955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分钟账户</a:t>
            </a:r>
          </a:p>
        </p:txBody>
      </p:sp>
      <p:sp>
        <p:nvSpPr>
          <p:cNvPr id="15" name="proof-table-r2c1">
            <a:extLst xmlns:a="http://schemas.openxmlformats.org/drawingml/2006/main">
              <a:ext uri="{FF2B5EF4-FFF2-40B4-BE49-F238E27FC236}">
                <a16:creationId xmlns:a16="http://schemas.microsoft.com/office/drawing/2014/main" id="{883A7703-01AB-4869-AEFC-31DB4E26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495675"/>
            <a:ext cx="82200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同目录 minute_cash_results.json、q3_minute_cash_results.json；各account/fills/orders.csv</a:t>
            </a:r>
          </a:p>
        </p:txBody>
      </p:sp>
      <p:sp>
        <p:nvSpPr>
          <p:cNvPr id="16" name="proof-table-row2">
            <a:extLst xmlns:a="http://schemas.openxmlformats.org/drawingml/2006/main">
              <a:ext uri="{FF2B5EF4-FFF2-40B4-BE49-F238E27FC236}">
                <a16:creationId xmlns:a16="http://schemas.microsoft.com/office/drawing/2014/main" id="{97B92391-9450-47A9-A382-9FB5499B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proof-table-r3c0">
            <a:extLst xmlns:a="http://schemas.openxmlformats.org/drawingml/2006/main">
              <a:ext uri="{FF2B5EF4-FFF2-40B4-BE49-F238E27FC236}">
                <a16:creationId xmlns:a16="http://schemas.microsoft.com/office/drawing/2014/main" id="{593EA7F8-EE14-454C-ADA6-EE1E00AC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22955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新数据与事件</a:t>
            </a:r>
          </a:p>
        </p:txBody>
      </p:sp>
      <p:sp>
        <p:nvSpPr>
          <p:cNvPr id="18" name="proof-table-r3c1">
            <a:extLst xmlns:a="http://schemas.openxmlformats.org/drawingml/2006/main">
              <a:ext uri="{FF2B5EF4-FFF2-40B4-BE49-F238E27FC236}">
                <a16:creationId xmlns:a16="http://schemas.microsoft.com/office/drawing/2014/main" id="{7DC71815-DCCD-4CD2-A3DA-045A2C01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124325"/>
            <a:ext cx="82200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同目录 late_server_check.json、dividend_event_audit.csv、hfq_results.json</a:t>
            </a:r>
          </a:p>
        </p:txBody>
      </p:sp>
      <p:sp>
        <p:nvSpPr>
          <p:cNvPr id="19" name="proof-table-row3">
            <a:extLst xmlns:a="http://schemas.openxmlformats.org/drawingml/2006/main">
              <a:ext uri="{FF2B5EF4-FFF2-40B4-BE49-F238E27FC236}">
                <a16:creationId xmlns:a16="http://schemas.microsoft.com/office/drawing/2014/main" id="{AB4F2DD4-501D-4CE0-A577-0FBD016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0" name="proof-table-r4c0">
            <a:extLst xmlns:a="http://schemas.openxmlformats.org/drawingml/2006/main">
              <a:ext uri="{FF2B5EF4-FFF2-40B4-BE49-F238E27FC236}">
                <a16:creationId xmlns:a16="http://schemas.microsoft.com/office/drawing/2014/main" id="{30D8A39D-CB1A-4EE8-84A5-788DDFE4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22955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核验 / 图表</a:t>
            </a:r>
          </a:p>
        </p:txBody>
      </p:sp>
      <p:sp>
        <p:nvSpPr>
          <p:cNvPr id="21" name="proof-table-r4c1">
            <a:extLst xmlns:a="http://schemas.openxmlformats.org/drawingml/2006/main">
              <a:ext uri="{FF2B5EF4-FFF2-40B4-BE49-F238E27FC236}">
                <a16:creationId xmlns:a16="http://schemas.microsoft.com/office/drawing/2014/main" id="{0CC6AB16-28B1-48F6-9E17-EB0FA313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752975"/>
            <a:ext cx="82200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同目录 verification.json；figures/01—08实验图</a:t>
            </a:r>
          </a:p>
        </p:txBody>
      </p:sp>
      <p:sp>
        <p:nvSpPr>
          <p:cNvPr id="22" name="proof-table-row4">
            <a:extLst xmlns:a="http://schemas.openxmlformats.org/drawingml/2006/main">
              <a:ext uri="{FF2B5EF4-FFF2-40B4-BE49-F238E27FC236}">
                <a16:creationId xmlns:a16="http://schemas.microsoft.com/office/drawing/2014/main" id="{C5CEEDEE-34F3-4661-B954-96839C8C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3" name="proof-table-r5c0">
            <a:extLst xmlns:a="http://schemas.openxmlformats.org/drawingml/2006/main">
              <a:ext uri="{FF2B5EF4-FFF2-40B4-BE49-F238E27FC236}">
                <a16:creationId xmlns:a16="http://schemas.microsoft.com/office/drawing/2014/main" id="{1D7436DB-38AE-47AC-9434-BDA25AE2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22955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24" name="proof-table-r5c1">
            <a:extLst xmlns:a="http://schemas.openxmlformats.org/drawingml/2006/main">
              <a:ext uri="{FF2B5EF4-FFF2-40B4-BE49-F238E27FC236}">
                <a16:creationId xmlns:a16="http://schemas.microsoft.com/office/drawing/2014/main" id="{A26CF470-E5AA-42CA-9D71-E9F5E776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381625"/>
            <a:ext cx="82200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tools/research_20261008/；研究Python为.venv_quant/Scripts/python.exe</a:t>
            </a:r>
          </a:p>
        </p:txBody>
      </p:sp>
      <p:sp>
        <p:nvSpPr>
          <p:cNvPr id="25" name="proof-table-row5">
            <a:extLst xmlns:a="http://schemas.openxmlformats.org/drawingml/2006/main">
              <a:ext uri="{FF2B5EF4-FFF2-40B4-BE49-F238E27FC236}">
                <a16:creationId xmlns:a16="http://schemas.microsoft.com/office/drawing/2014/main" id="{498D5130-3237-4233-A527-23B151DB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4E7C57-29E9-4A6E-A0F6-1F05279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E97ACF9-491C-4572-94A0-C743E033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旧结果：training_runs/teacher9_20260930/；9月20日首轮产物保持冻结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D12A3E-E5E2-4C82-9B69-47C41B91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22 / 23</a:t>
            </a:r>
          </a:p>
        </p:txBody>
      </p:sp>
    </p:spTree>
    <p:extLst>
      <p:ext uri="{BB962C8B-B14F-4D97-AF65-F5344CB8AC3E}">
        <p14:creationId xmlns:p14="http://schemas.microsoft.com/office/powerpoint/2010/main" val="5753979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75E354-CB88-4A84-8A43-0D599217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4"/>
          </a:solidFill>
          <a:ln xmlns:a="http://schemas.openxmlformats.org/drawingml/2006/main" w="0">
            <a:noFill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2313F3-8C66-4FD8-AC18-25D31714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术语口径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94F9F0F-94A4-40B2-AF2E-B8479B5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附录：把容易混淆的词说准确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3EB56F-03FE-4394-B9C2-A54FA21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5" name="proof-table-header-fill">
            <a:extLst xmlns:a="http://schemas.openxmlformats.org/drawingml/2006/main">
              <a:ext uri="{FF2B5EF4-FFF2-40B4-BE49-F238E27FC236}">
                <a16:creationId xmlns:a16="http://schemas.microsoft.com/office/drawing/2014/main" id="{8A6FBF5C-B885-46BD-9C54-FA71F8F7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6" name="proof-table-h0">
            <a:extLst xmlns:a="http://schemas.openxmlformats.org/drawingml/2006/main">
              <a:ext uri="{FF2B5EF4-FFF2-40B4-BE49-F238E27FC236}">
                <a16:creationId xmlns:a16="http://schemas.microsoft.com/office/drawing/2014/main" id="{03F3D63B-D7FF-4DCD-BDBE-8E1A692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20764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术语</a:t>
            </a:r>
          </a:p>
        </p:txBody>
      </p:sp>
      <p:sp>
        <p:nvSpPr>
          <p:cNvPr id="7" name="proof-table-h1">
            <a:extLst xmlns:a="http://schemas.openxmlformats.org/drawingml/2006/main">
              <a:ext uri="{FF2B5EF4-FFF2-40B4-BE49-F238E27FC236}">
                <a16:creationId xmlns:a16="http://schemas.microsoft.com/office/drawing/2014/main" id="{0D422122-6C66-4F7E-B9D1-B4974F2A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04975"/>
            <a:ext cx="48196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简单意思</a:t>
            </a:r>
          </a:p>
        </p:txBody>
      </p:sp>
      <p:sp>
        <p:nvSpPr>
          <p:cNvPr id="8" name="proof-table-h2">
            <a:extLst xmlns:a="http://schemas.openxmlformats.org/drawingml/2006/main">
              <a:ext uri="{FF2B5EF4-FFF2-40B4-BE49-F238E27FC236}">
                <a16:creationId xmlns:a16="http://schemas.microsoft.com/office/drawing/2014/main" id="{00D16933-5426-47E0-A39D-5EE4415B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04975"/>
            <a:ext cx="33909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654"/>
                </a:solidFill>
                <a:latin typeface="Microsoft YaHei"/>
                <a:ea typeface="Microsoft YaHei"/>
                <a:cs typeface="Microsoft YaHei"/>
              </a:rPr>
              <a:t>不能误说成</a:t>
            </a:r>
          </a:p>
        </p:txBody>
      </p:sp>
      <p:sp>
        <p:nvSpPr>
          <p:cNvPr id="9" name="proof-table-r0c0">
            <a:extLst xmlns:a="http://schemas.openxmlformats.org/drawingml/2006/main">
              <a:ext uri="{FF2B5EF4-FFF2-40B4-BE49-F238E27FC236}">
                <a16:creationId xmlns:a16="http://schemas.microsoft.com/office/drawing/2014/main" id="{09207F25-F867-43EB-8CEE-D6304352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076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因子</a:t>
            </a:r>
          </a:p>
        </p:txBody>
      </p:sp>
      <p:sp>
        <p:nvSpPr>
          <p:cNvPr id="10" name="proof-table-r0c1">
            <a:extLst xmlns:a="http://schemas.openxmlformats.org/drawingml/2006/main">
              <a:ext uri="{FF2B5EF4-FFF2-40B4-BE49-F238E27FC236}">
                <a16:creationId xmlns:a16="http://schemas.microsoft.com/office/drawing/2014/main" id="{875862C3-8B08-4869-B8A8-24E3FBA8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38375"/>
            <a:ext cx="4819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给股票排序用的一条线索</a:t>
            </a:r>
          </a:p>
        </p:txBody>
      </p:sp>
      <p:sp>
        <p:nvSpPr>
          <p:cNvPr id="11" name="proof-table-r0c2">
            <a:extLst xmlns:a="http://schemas.openxmlformats.org/drawingml/2006/main">
              <a:ext uri="{FF2B5EF4-FFF2-40B4-BE49-F238E27FC236}">
                <a16:creationId xmlns:a16="http://schemas.microsoft.com/office/drawing/2014/main" id="{A6300CBA-1D42-4F6A-8397-71AB8CA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38375"/>
            <a:ext cx="33909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一条确定赚钱规律</a:t>
            </a:r>
          </a:p>
        </p:txBody>
      </p:sp>
      <p:sp>
        <p:nvSpPr>
          <p:cNvPr id="12" name="proof-table-row0">
            <a:extLst xmlns:a="http://schemas.openxmlformats.org/drawingml/2006/main">
              <a:ext uri="{FF2B5EF4-FFF2-40B4-BE49-F238E27FC236}">
                <a16:creationId xmlns:a16="http://schemas.microsoft.com/office/drawing/2014/main" id="{D26E80E2-A563-4589-B01D-760C26AF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3" name="proof-table-r1c0">
            <a:extLst xmlns:a="http://schemas.openxmlformats.org/drawingml/2006/main">
              <a:ext uri="{FF2B5EF4-FFF2-40B4-BE49-F238E27FC236}">
                <a16:creationId xmlns:a16="http://schemas.microsoft.com/office/drawing/2014/main" id="{35A1A063-970E-45A7-BEB2-53EDB092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076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Rank IC</a:t>
            </a:r>
          </a:p>
        </p:txBody>
      </p:sp>
      <p:sp>
        <p:nvSpPr>
          <p:cNvPr id="14" name="proof-table-r1c1">
            <a:extLst xmlns:a="http://schemas.openxmlformats.org/drawingml/2006/main">
              <a:ext uri="{FF2B5EF4-FFF2-40B4-BE49-F238E27FC236}">
                <a16:creationId xmlns:a16="http://schemas.microsoft.com/office/drawing/2014/main" id="{7E456525-C1EF-496B-B878-17D079EA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4819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预测名次与后续名次的一致程度</a:t>
            </a:r>
          </a:p>
        </p:txBody>
      </p:sp>
      <p:sp>
        <p:nvSpPr>
          <p:cNvPr id="15" name="proof-table-r1c2">
            <a:extLst xmlns:a="http://schemas.openxmlformats.org/drawingml/2006/main">
              <a:ext uri="{FF2B5EF4-FFF2-40B4-BE49-F238E27FC236}">
                <a16:creationId xmlns:a16="http://schemas.microsoft.com/office/drawing/2014/main" id="{F9EA81F9-D983-4351-A4ED-58935963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33909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收益率或准确率</a:t>
            </a:r>
          </a:p>
        </p:txBody>
      </p:sp>
      <p:sp>
        <p:nvSpPr>
          <p:cNvPr id="16" name="proof-table-row1">
            <a:extLst xmlns:a="http://schemas.openxmlformats.org/drawingml/2006/main">
              <a:ext uri="{FF2B5EF4-FFF2-40B4-BE49-F238E27FC236}">
                <a16:creationId xmlns:a16="http://schemas.microsoft.com/office/drawing/2014/main" id="{4B1B5785-3FA9-48A0-9B87-B83E1976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17" name="proof-table-r2c0">
            <a:extLst xmlns:a="http://schemas.openxmlformats.org/drawingml/2006/main">
              <a:ext uri="{FF2B5EF4-FFF2-40B4-BE49-F238E27FC236}">
                <a16:creationId xmlns:a16="http://schemas.microsoft.com/office/drawing/2014/main" id="{8B90B797-2F0B-488D-BB0D-8ACC4A5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076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最大回撤</a:t>
            </a:r>
          </a:p>
        </p:txBody>
      </p:sp>
      <p:sp>
        <p:nvSpPr>
          <p:cNvPr id="18" name="proof-table-r2c1">
            <a:extLst xmlns:a="http://schemas.openxmlformats.org/drawingml/2006/main">
              <a:ext uri="{FF2B5EF4-FFF2-40B4-BE49-F238E27FC236}">
                <a16:creationId xmlns:a16="http://schemas.microsoft.com/office/drawing/2014/main" id="{77FE5F2D-C95B-42A2-9D28-B948DC80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76625"/>
            <a:ext cx="4819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账户从某个历史高点向下的最深跌幅</a:t>
            </a:r>
          </a:p>
        </p:txBody>
      </p:sp>
      <p:sp>
        <p:nvSpPr>
          <p:cNvPr id="19" name="proof-table-r2c2">
            <a:extLst xmlns:a="http://schemas.openxmlformats.org/drawingml/2006/main">
              <a:ext uri="{FF2B5EF4-FFF2-40B4-BE49-F238E27FC236}">
                <a16:creationId xmlns:a16="http://schemas.microsoft.com/office/drawing/2014/main" id="{FC3ADCA0-21BF-4B0A-907D-7630C7A2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3909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只有期末亏损</a:t>
            </a:r>
          </a:p>
        </p:txBody>
      </p:sp>
      <p:sp>
        <p:nvSpPr>
          <p:cNvPr id="20" name="proof-table-row2">
            <a:extLst xmlns:a="http://schemas.openxmlformats.org/drawingml/2006/main">
              <a:ext uri="{FF2B5EF4-FFF2-40B4-BE49-F238E27FC236}">
                <a16:creationId xmlns:a16="http://schemas.microsoft.com/office/drawing/2014/main" id="{8BADCE4C-C017-4D9E-9377-1A2E4D9C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1" name="proof-table-r3c0">
            <a:extLst xmlns:a="http://schemas.openxmlformats.org/drawingml/2006/main">
              <a:ext uri="{FF2B5EF4-FFF2-40B4-BE49-F238E27FC236}">
                <a16:creationId xmlns:a16="http://schemas.microsoft.com/office/drawing/2014/main" id="{7E493F40-FB01-49AA-BBB2-5F6E1063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076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验证期</a:t>
            </a:r>
          </a:p>
        </p:txBody>
      </p:sp>
      <p:sp>
        <p:nvSpPr>
          <p:cNvPr id="22" name="proof-table-r3c1">
            <a:extLst xmlns:a="http://schemas.openxmlformats.org/drawingml/2006/main">
              <a:ext uri="{FF2B5EF4-FFF2-40B4-BE49-F238E27FC236}">
                <a16:creationId xmlns:a16="http://schemas.microsoft.com/office/drawing/2014/main" id="{3F61DB94-0C03-424B-B410-636BD7B1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4819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在考试前挑方法的练习资料</a:t>
            </a:r>
          </a:p>
        </p:txBody>
      </p:sp>
      <p:sp>
        <p:nvSpPr>
          <p:cNvPr id="23" name="proof-table-r3c2">
            <a:extLst xmlns:a="http://schemas.openxmlformats.org/drawingml/2006/main">
              <a:ext uri="{FF2B5EF4-FFF2-40B4-BE49-F238E27FC236}">
                <a16:creationId xmlns:a16="http://schemas.microsoft.com/office/drawing/2014/main" id="{D417029A-0182-4A56-B401-FD56553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33909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随意反复挑测试赢家</a:t>
            </a:r>
          </a:p>
        </p:txBody>
      </p:sp>
      <p:sp>
        <p:nvSpPr>
          <p:cNvPr id="24" name="proof-table-row3">
            <a:extLst xmlns:a="http://schemas.openxmlformats.org/drawingml/2006/main">
              <a:ext uri="{FF2B5EF4-FFF2-40B4-BE49-F238E27FC236}">
                <a16:creationId xmlns:a16="http://schemas.microsoft.com/office/drawing/2014/main" id="{BCC80321-7DD8-4493-AA9A-D38DB84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5" name="proof-table-r4c0">
            <a:extLst xmlns:a="http://schemas.openxmlformats.org/drawingml/2006/main">
              <a:ext uri="{FF2B5EF4-FFF2-40B4-BE49-F238E27FC236}">
                <a16:creationId xmlns:a16="http://schemas.microsoft.com/office/drawing/2014/main" id="{DD969EFF-9B3A-4926-A320-37EF591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2076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参与率</a:t>
            </a:r>
          </a:p>
        </p:txBody>
      </p:sp>
      <p:sp>
        <p:nvSpPr>
          <p:cNvPr id="26" name="proof-table-r4c1">
            <a:extLst xmlns:a="http://schemas.openxmlformats.org/drawingml/2006/main">
              <a:ext uri="{FF2B5EF4-FFF2-40B4-BE49-F238E27FC236}">
                <a16:creationId xmlns:a16="http://schemas.microsoft.com/office/drawing/2014/main" id="{9DBC130C-4DFB-4D95-B7DD-CBF21787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14875"/>
            <a:ext cx="4819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模拟订单占分钟市场成交量的上限</a:t>
            </a:r>
          </a:p>
        </p:txBody>
      </p:sp>
      <p:sp>
        <p:nvSpPr>
          <p:cNvPr id="27" name="proof-table-r4c2">
            <a:extLst xmlns:a="http://schemas.openxmlformats.org/drawingml/2006/main">
              <a:ext uri="{FF2B5EF4-FFF2-40B4-BE49-F238E27FC236}">
                <a16:creationId xmlns:a16="http://schemas.microsoft.com/office/drawing/2014/main" id="{9D46DB1B-5492-4011-A3F9-26F4C89C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14875"/>
            <a:ext cx="33909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收益比例</a:t>
            </a:r>
          </a:p>
        </p:txBody>
      </p:sp>
      <p:sp>
        <p:nvSpPr>
          <p:cNvPr id="28" name="proof-table-row4">
            <a:extLst xmlns:a="http://schemas.openxmlformats.org/drawingml/2006/main">
              <a:ext uri="{FF2B5EF4-FFF2-40B4-BE49-F238E27FC236}">
                <a16:creationId xmlns:a16="http://schemas.microsoft.com/office/drawing/2014/main" id="{B347FC9F-46B2-45D1-B362-865C3D7E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29" name="proof-table-r5c0">
            <a:extLst xmlns:a="http://schemas.openxmlformats.org/drawingml/2006/main">
              <a:ext uri="{FF2B5EF4-FFF2-40B4-BE49-F238E27FC236}">
                <a16:creationId xmlns:a16="http://schemas.microsoft.com/office/drawing/2014/main" id="{5D6D8738-FADA-4170-80B4-A5EB7BEF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076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除权日 / 支付日</a:t>
            </a:r>
          </a:p>
        </p:txBody>
      </p:sp>
      <p:sp>
        <p:nvSpPr>
          <p:cNvPr id="30" name="proof-table-r5c1">
            <a:extLst xmlns:a="http://schemas.openxmlformats.org/drawingml/2006/main">
              <a:ext uri="{FF2B5EF4-FFF2-40B4-BE49-F238E27FC236}">
                <a16:creationId xmlns:a16="http://schemas.microsoft.com/office/drawing/2014/main" id="{4FF1B9B3-DF25-44A4-99ED-9671FA5F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34000"/>
            <a:ext cx="48196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价格参考调整日 / 现金实际到账日</a:t>
            </a:r>
          </a:p>
        </p:txBody>
      </p:sp>
      <p:sp>
        <p:nvSpPr>
          <p:cNvPr id="31" name="proof-table-r5c2">
            <a:extLst xmlns:a="http://schemas.openxmlformats.org/drawingml/2006/main">
              <a:ext uri="{FF2B5EF4-FFF2-40B4-BE49-F238E27FC236}">
                <a16:creationId xmlns:a16="http://schemas.microsoft.com/office/drawing/2014/main" id="{079092D8-2285-4587-BE0C-00AE2D96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34000"/>
            <a:ext cx="33909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440"/>
                </a:solidFill>
                <a:latin typeface="Microsoft YaHei"/>
                <a:ea typeface="Microsoft YaHei"/>
                <a:cs typeface="Microsoft YaHei"/>
              </a:rPr>
              <a:t>二者必然同一天</a:t>
            </a:r>
          </a:p>
        </p:txBody>
      </p:sp>
      <p:sp>
        <p:nvSpPr>
          <p:cNvPr id="32" name="proof-table-row5">
            <a:extLst xmlns:a="http://schemas.openxmlformats.org/drawingml/2006/main">
              <a:ext uri="{FF2B5EF4-FFF2-40B4-BE49-F238E27FC236}">
                <a16:creationId xmlns:a16="http://schemas.microsoft.com/office/drawing/2014/main" id="{155D9395-E86F-4B87-9B6D-EA12128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1A4BA06-8BF7-41CB-8091-AB5FE7D5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3"/>
          </a:solidFill>
          <a:ln xmlns:a="http://schemas.openxmlformats.org/drawingml/2006/main" w="0">
            <a:noFill/>
          </a:ln>
        </p:spPr>
      </p:sp>
      <p:sp>
        <p:nvSpPr>
          <p:cNvPr id="3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D045810-59AA-4708-8DD1-2CA0C8F9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8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详细例子及九项建议解释：从零读懂量化项目（更新讲义）</a:t>
            </a:r>
          </a:p>
        </p:txBody>
      </p:sp>
      <p:sp>
        <p:nvSpPr>
          <p:cNvPr id="3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30EEC4-0FB1-42E4-9DE9-3C021360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80962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23 / 23</a:t>
            </a:r>
          </a:p>
        </p:txBody>
      </p:sp>
    </p:spTree>
    <p:extLst>
      <p:ext uri="{BB962C8B-B14F-4D97-AF65-F5344CB8AC3E}">
        <p14:creationId xmlns:p14="http://schemas.microsoft.com/office/powerpoint/2010/main" val="1569331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2026-10-08T16:21:50.2500000Z</dcterms:created>
  <dcterms:modified xsi:type="dcterms:W3CDTF">2026-10-08T16:21:50.2500000Z</dcterms:modified>
</coreProperties>
</file>